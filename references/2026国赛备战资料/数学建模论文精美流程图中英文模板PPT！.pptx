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67" r:id="rId3"/>
    <p:sldId id="262" r:id="rId4"/>
    <p:sldId id="268" r:id="rId5"/>
    <p:sldId id="263" r:id="rId6"/>
    <p:sldId id="269" r:id="rId8"/>
    <p:sldId id="264" r:id="rId9"/>
    <p:sldId id="270" r:id="rId10"/>
    <p:sldId id="265" r:id="rId11"/>
    <p:sldId id="271" r:id="rId12"/>
    <p:sldId id="266" r:id="rId13"/>
    <p:sldId id="272" r:id="rId14"/>
    <p:sldId id="260" r:id="rId15"/>
    <p:sldId id="273" r:id="rId16"/>
    <p:sldId id="256" r:id="rId17"/>
    <p:sldId id="274" r:id="rId18"/>
    <p:sldId id="257" r:id="rId19"/>
    <p:sldId id="275" r:id="rId20"/>
    <p:sldId id="259" r:id="rId21"/>
    <p:sldId id="276" r:id="rId22"/>
    <p:sldId id="261" r:id="rId23"/>
    <p:sldId id="278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7"/>
    <a:srgbClr val="C00000"/>
    <a:srgbClr val="E6B4B5"/>
    <a:srgbClr val="DD6969"/>
    <a:srgbClr val="FFF4E3"/>
    <a:srgbClr val="FEF5FF"/>
    <a:srgbClr val="F5FFF6"/>
    <a:srgbClr val="B2EBF2"/>
    <a:srgbClr val="FFFFFF"/>
    <a:srgbClr val="FBF4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336" y="254"/>
      </p:cViewPr>
      <p:guideLst>
        <p:guide orient="horz" pos="2136"/>
        <p:guide pos="38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0" Type="http://schemas.openxmlformats.org/officeDocument/2006/relationships/vmlDrawing" Target="../drawings/vmlDrawing1.vml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.wmf"/><Relationship Id="rId7" Type="http://schemas.openxmlformats.org/officeDocument/2006/relationships/oleObject" Target="../embeddings/oleObject8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1.wmf"/><Relationship Id="rId11" Type="http://schemas.openxmlformats.org/officeDocument/2006/relationships/notesSlide" Target="../notesSlides/notesSlide1.xml"/><Relationship Id="rId10" Type="http://schemas.openxmlformats.org/officeDocument/2006/relationships/vmlDrawing" Target="../drawings/vmlDrawing2.vml"/><Relationship Id="rId1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/>
          <p:cNvSpPr/>
          <p:nvPr/>
        </p:nvSpPr>
        <p:spPr>
          <a:xfrm>
            <a:off x="1855042" y="465075"/>
            <a:ext cx="8590073" cy="2824480"/>
          </a:xfrm>
          <a:prstGeom prst="roundRect">
            <a:avLst>
              <a:gd name="adj" fmla="val 8753"/>
            </a:avLst>
          </a:prstGeom>
          <a:noFill/>
          <a:ln w="19050">
            <a:solidFill>
              <a:srgbClr val="B6B3B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7019925" y="4397250"/>
            <a:ext cx="3299063" cy="195255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32B25C">
                  <a:alpha val="31000"/>
                </a:srgbClr>
              </a:gs>
            </a:gsLst>
            <a:lin ang="16200000" scaled="1"/>
            <a:tileRect/>
          </a:gra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468488" y="177237"/>
            <a:ext cx="9175509" cy="6389225"/>
          </a:xfrm>
          <a:prstGeom prst="rect">
            <a:avLst/>
          </a:prstGeom>
          <a:noFill/>
          <a:ln w="38100">
            <a:solidFill>
              <a:srgbClr val="7E7979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/>
        </p:nvSpPr>
        <p:spPr>
          <a:xfrm>
            <a:off x="2367918" y="314707"/>
            <a:ext cx="3749040" cy="505968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92000">
                <a:srgbClr val="32B25C"/>
              </a:gs>
            </a:gsLst>
            <a:lin ang="5400000" scaled="1"/>
          </a:gra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model of the impact of hosting the Olympic Games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7019925" y="465075"/>
            <a:ext cx="0" cy="2749804"/>
          </a:xfrm>
          <a:prstGeom prst="line">
            <a:avLst/>
          </a:prstGeom>
          <a:ln w="19050">
            <a:solidFill>
              <a:srgbClr val="B6B3B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/>
          <p:cNvSpPr/>
          <p:nvPr/>
        </p:nvSpPr>
        <p:spPr>
          <a:xfrm>
            <a:off x="2185049" y="1023875"/>
            <a:ext cx="133729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Economy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2185049" y="1436371"/>
            <a:ext cx="133729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Society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2185048" y="1848867"/>
            <a:ext cx="133729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2185047" y="2261363"/>
            <a:ext cx="133729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Politics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2185047" y="2673859"/>
            <a:ext cx="133729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OFI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右大括号 16"/>
          <p:cNvSpPr/>
          <p:nvPr/>
        </p:nvSpPr>
        <p:spPr>
          <a:xfrm>
            <a:off x="3594736" y="951739"/>
            <a:ext cx="333202" cy="2194560"/>
          </a:xfrm>
          <a:prstGeom prst="rightBrace">
            <a:avLst/>
          </a:prstGeom>
          <a:ln w="28575">
            <a:solidFill>
              <a:srgbClr val="2DBD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/>
          <p:cNvSpPr/>
          <p:nvPr/>
        </p:nvSpPr>
        <p:spPr>
          <a:xfrm>
            <a:off x="4084845" y="1471994"/>
            <a:ext cx="1853178" cy="105460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53C7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Combined</a:t>
            </a:r>
            <a:endParaRPr lang="en-US" altLang="zh-CN" b="1" dirty="0">
              <a:solidFill>
                <a:srgbClr val="53C7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b="1" dirty="0">
                <a:solidFill>
                  <a:srgbClr val="53C7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Weights</a:t>
            </a:r>
            <a:endParaRPr lang="zh-CN" altLang="en-US" b="1" dirty="0">
              <a:solidFill>
                <a:srgbClr val="53C7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314492" y="1080150"/>
            <a:ext cx="15771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AHP-CRITIC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268095" y="2847579"/>
            <a:ext cx="1623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Generalizability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箭头连接符 21"/>
          <p:cNvCxnSpPr>
            <a:stCxn id="18" idx="2"/>
          </p:cNvCxnSpPr>
          <p:nvPr/>
        </p:nvCxnSpPr>
        <p:spPr>
          <a:xfrm>
            <a:off x="5011434" y="2526602"/>
            <a:ext cx="0" cy="320977"/>
          </a:xfrm>
          <a:prstGeom prst="straightConnector1">
            <a:avLst/>
          </a:prstGeom>
          <a:ln w="28575">
            <a:solidFill>
              <a:srgbClr val="7389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圆角 24"/>
          <p:cNvSpPr/>
          <p:nvPr/>
        </p:nvSpPr>
        <p:spPr>
          <a:xfrm>
            <a:off x="7457307" y="567691"/>
            <a:ext cx="266305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Distinguishability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8108058" y="1080150"/>
            <a:ext cx="1361554" cy="562469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53C7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</a:t>
            </a:r>
            <a:endParaRPr lang="zh-CN" altLang="en-US" b="1" dirty="0">
              <a:solidFill>
                <a:srgbClr val="53C7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7902518" y="2147160"/>
            <a:ext cx="1837612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types of areas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>
            <a:off x="8788835" y="1642619"/>
            <a:ext cx="0" cy="504541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8788835" y="2559656"/>
            <a:ext cx="0" cy="388523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8192212" y="1733106"/>
            <a:ext cx="744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Elbow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774598" y="1743329"/>
            <a:ext cx="744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241540" y="2804025"/>
            <a:ext cx="13911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map</a:t>
            </a:r>
            <a:endParaRPr lang="zh-CN" altLang="en-US" sz="1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1596586" y="3380739"/>
            <a:ext cx="4737540" cy="3084070"/>
          </a:xfrm>
          <a:prstGeom prst="roundRect">
            <a:avLst>
              <a:gd name="adj" fmla="val 8753"/>
            </a:avLst>
          </a:prstGeom>
          <a:noFill/>
          <a:ln w="19050">
            <a:solidFill>
              <a:srgbClr val="B6B3B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: 圆角 36"/>
          <p:cNvSpPr/>
          <p:nvPr/>
        </p:nvSpPr>
        <p:spPr>
          <a:xfrm>
            <a:off x="1683013" y="3515493"/>
            <a:ext cx="2887336" cy="39280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Timeline for the next 50 years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689109" y="3929635"/>
            <a:ext cx="4427849" cy="242016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32B25C">
                  <a:alpha val="54000"/>
                </a:srgbClr>
              </a:gs>
            </a:gsLst>
            <a:lin ang="5400000" scaled="1"/>
          </a:gra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1683013" y="3929635"/>
            <a:ext cx="4427849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1 :</a:t>
            </a:r>
            <a:endParaRPr lang="en-US" altLang="zh-CN" sz="1500" b="1" dirty="0">
              <a:solidFill>
                <a:srgbClr val="32B2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permanent venues for highly environmentally demanding competitions</a:t>
            </a:r>
            <a:endParaRPr lang="en-US" altLang="zh-CN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2 :</a:t>
            </a:r>
            <a:endParaRPr lang="en-US" altLang="zh-CN" sz="1500" b="1" dirty="0">
              <a:solidFill>
                <a:srgbClr val="32B2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Decentralization of the host region</a:t>
            </a:r>
            <a:endParaRPr lang="en-US" altLang="zh-CN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3 :</a:t>
            </a:r>
            <a:endParaRPr lang="en-US" altLang="zh-CN" sz="1500" b="1" dirty="0">
              <a:solidFill>
                <a:srgbClr val="32B2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permanent location for the Summer and one for the Winter Olympic</a:t>
            </a:r>
            <a:endParaRPr lang="en-US" altLang="zh-CN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4 :</a:t>
            </a:r>
            <a:endParaRPr lang="en-US" altLang="zh-CN" sz="1500" b="1" dirty="0">
              <a:solidFill>
                <a:srgbClr val="32B2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Holding four small-scale Olympics</a:t>
            </a:r>
            <a:endParaRPr lang="zh-CN" alt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箭头: 右 39"/>
          <p:cNvSpPr/>
          <p:nvPr/>
        </p:nvSpPr>
        <p:spPr>
          <a:xfrm>
            <a:off x="5454339" y="4741343"/>
            <a:ext cx="1485900" cy="388620"/>
          </a:xfrm>
          <a:prstGeom prst="rightArrow">
            <a:avLst/>
          </a:prstGeom>
          <a:solidFill>
            <a:schemeClr val="bg1"/>
          </a:solidFill>
          <a:ln w="19050">
            <a:solidFill>
              <a:srgbClr val="32B2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箭头: 右 40"/>
          <p:cNvSpPr/>
          <p:nvPr/>
        </p:nvSpPr>
        <p:spPr>
          <a:xfrm>
            <a:off x="6094930" y="1806696"/>
            <a:ext cx="1485900" cy="340464"/>
          </a:xfrm>
          <a:prstGeom prst="rightArrow">
            <a:avLst/>
          </a:prstGeom>
          <a:solidFill>
            <a:srgbClr val="32B25C"/>
          </a:solidFill>
          <a:ln w="19050">
            <a:solidFill>
              <a:srgbClr val="32B2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: 圆角 42"/>
          <p:cNvSpPr/>
          <p:nvPr/>
        </p:nvSpPr>
        <p:spPr>
          <a:xfrm>
            <a:off x="6910534" y="3380042"/>
            <a:ext cx="3534581" cy="3084070"/>
          </a:xfrm>
          <a:prstGeom prst="roundRect">
            <a:avLst>
              <a:gd name="adj" fmla="val 8753"/>
            </a:avLst>
          </a:prstGeom>
          <a:noFill/>
          <a:ln w="19050">
            <a:solidFill>
              <a:srgbClr val="B6B3B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: 圆角 44"/>
          <p:cNvSpPr/>
          <p:nvPr/>
        </p:nvSpPr>
        <p:spPr>
          <a:xfrm>
            <a:off x="7323657" y="3495803"/>
            <a:ext cx="2995334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Sore analysis of the strategies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682637" y="4036725"/>
            <a:ext cx="23098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Gray Prediction Model</a:t>
            </a:r>
            <a:endParaRPr lang="zh-CN" altLang="en-US" sz="1600" b="1" dirty="0">
              <a:solidFill>
                <a:srgbClr val="32B2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直接箭头连接符 47"/>
          <p:cNvCxnSpPr/>
          <p:nvPr/>
        </p:nvCxnSpPr>
        <p:spPr>
          <a:xfrm>
            <a:off x="10106194" y="3914395"/>
            <a:ext cx="0" cy="388523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: 圆角 48"/>
          <p:cNvSpPr/>
          <p:nvPr/>
        </p:nvSpPr>
        <p:spPr>
          <a:xfrm>
            <a:off x="7113460" y="4497449"/>
            <a:ext cx="2773597" cy="446941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1:Social,OFI</a:t>
            </a:r>
            <a:endParaRPr lang="zh-CN" alt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: 圆角 49"/>
          <p:cNvSpPr/>
          <p:nvPr/>
        </p:nvSpPr>
        <p:spPr>
          <a:xfrm>
            <a:off x="7100698" y="4944631"/>
            <a:ext cx="2773597" cy="42820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2:All</a:t>
            </a:r>
            <a:endParaRPr lang="zh-CN" alt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: 圆角 50"/>
          <p:cNvSpPr/>
          <p:nvPr/>
        </p:nvSpPr>
        <p:spPr>
          <a:xfrm>
            <a:off x="7097129" y="5373079"/>
            <a:ext cx="2773597" cy="42820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3:Economy,</a:t>
            </a:r>
            <a:endParaRPr lang="en-US" altLang="zh-CN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Environment, OFI</a:t>
            </a:r>
            <a:endParaRPr lang="zh-CN" alt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矩形: 圆角 51"/>
          <p:cNvSpPr/>
          <p:nvPr/>
        </p:nvSpPr>
        <p:spPr>
          <a:xfrm>
            <a:off x="7097129" y="5801527"/>
            <a:ext cx="2773597" cy="42820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4:Society, Politics</a:t>
            </a:r>
            <a:endParaRPr lang="zh-CN" alt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箭头: 右 52"/>
          <p:cNvSpPr/>
          <p:nvPr/>
        </p:nvSpPr>
        <p:spPr>
          <a:xfrm rot="16200000">
            <a:off x="9294831" y="5308812"/>
            <a:ext cx="1699648" cy="76921"/>
          </a:xfrm>
          <a:prstGeom prst="rightArrow">
            <a:avLst/>
          </a:prstGeom>
          <a:solidFill>
            <a:srgbClr val="32B25C"/>
          </a:solidFill>
          <a:ln w="19050">
            <a:solidFill>
              <a:srgbClr val="32B2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对话气泡: 椭圆形 41"/>
          <p:cNvSpPr/>
          <p:nvPr/>
        </p:nvSpPr>
        <p:spPr>
          <a:xfrm>
            <a:off x="5224810" y="3224649"/>
            <a:ext cx="1662864" cy="812076"/>
          </a:xfrm>
          <a:prstGeom prst="wedgeEllipseCallout">
            <a:avLst>
              <a:gd name="adj1" fmla="val -57940"/>
              <a:gd name="adj2" fmla="val 50909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32B25C"/>
              </a:gs>
            </a:gsLst>
            <a:lin ang="16200000" scaled="1"/>
            <a:tileRect/>
          </a:gra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Strategies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/>
          <p:cNvSpPr/>
          <p:nvPr/>
        </p:nvSpPr>
        <p:spPr>
          <a:xfrm>
            <a:off x="1855042" y="465075"/>
            <a:ext cx="8590073" cy="2824480"/>
          </a:xfrm>
          <a:prstGeom prst="roundRect">
            <a:avLst>
              <a:gd name="adj" fmla="val 8753"/>
            </a:avLst>
          </a:prstGeom>
          <a:noFill/>
          <a:ln w="19050">
            <a:solidFill>
              <a:srgbClr val="B6B3B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7019925" y="4397250"/>
            <a:ext cx="3299063" cy="195255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32B25C">
                  <a:alpha val="31000"/>
                </a:srgbClr>
              </a:gs>
            </a:gsLst>
            <a:lin ang="16200000" scaled="1"/>
            <a:tileRect/>
          </a:gra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468488" y="177237"/>
            <a:ext cx="9175509" cy="6389225"/>
          </a:xfrm>
          <a:prstGeom prst="rect">
            <a:avLst/>
          </a:prstGeom>
          <a:noFill/>
          <a:ln w="38100">
            <a:solidFill>
              <a:srgbClr val="7E7979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/>
        </p:nvSpPr>
        <p:spPr>
          <a:xfrm>
            <a:off x="2367918" y="314707"/>
            <a:ext cx="3749040" cy="505968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92000">
                <a:srgbClr val="32B25C"/>
              </a:gs>
            </a:gsLst>
            <a:lin ang="5400000" scaled="1"/>
          </a:gra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举办奥运会影响的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评估模型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7019925" y="465075"/>
            <a:ext cx="0" cy="2749804"/>
          </a:xfrm>
          <a:prstGeom prst="line">
            <a:avLst/>
          </a:prstGeom>
          <a:ln w="19050">
            <a:solidFill>
              <a:srgbClr val="B6B3B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/>
          <p:cNvSpPr/>
          <p:nvPr/>
        </p:nvSpPr>
        <p:spPr>
          <a:xfrm>
            <a:off x="2185049" y="1023875"/>
            <a:ext cx="133729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经济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2185049" y="1436371"/>
            <a:ext cx="133729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社会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2185048" y="1848867"/>
            <a:ext cx="133729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环境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2185047" y="2261363"/>
            <a:ext cx="133729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政治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2185047" y="2673859"/>
            <a:ext cx="133729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非政府组织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右大括号 16"/>
          <p:cNvSpPr/>
          <p:nvPr/>
        </p:nvSpPr>
        <p:spPr>
          <a:xfrm>
            <a:off x="3594736" y="951739"/>
            <a:ext cx="333202" cy="2194560"/>
          </a:xfrm>
          <a:prstGeom prst="rightBrace">
            <a:avLst/>
          </a:prstGeom>
          <a:ln w="28575">
            <a:solidFill>
              <a:srgbClr val="2DBD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/>
          <p:cNvSpPr/>
          <p:nvPr/>
        </p:nvSpPr>
        <p:spPr>
          <a:xfrm>
            <a:off x="4084845" y="1471994"/>
            <a:ext cx="1853178" cy="105460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53C7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综合</a:t>
            </a:r>
            <a:r>
              <a:rPr lang="zh-CN" altLang="en-US" b="1" dirty="0">
                <a:solidFill>
                  <a:srgbClr val="53C7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权重</a:t>
            </a:r>
            <a:endParaRPr lang="zh-CN" altLang="en-US" b="1" dirty="0">
              <a:solidFill>
                <a:srgbClr val="53C7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053205" y="1049655"/>
            <a:ext cx="19278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层次分析法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批评法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197610" y="2852659"/>
            <a:ext cx="1623527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可推广性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箭头连接符 21"/>
          <p:cNvCxnSpPr>
            <a:stCxn id="18" idx="2"/>
          </p:cNvCxnSpPr>
          <p:nvPr/>
        </p:nvCxnSpPr>
        <p:spPr>
          <a:xfrm>
            <a:off x="5011434" y="2526602"/>
            <a:ext cx="0" cy="320977"/>
          </a:xfrm>
          <a:prstGeom prst="straightConnector1">
            <a:avLst/>
          </a:prstGeom>
          <a:ln w="28575">
            <a:solidFill>
              <a:srgbClr val="7389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圆角 24"/>
          <p:cNvSpPr/>
          <p:nvPr/>
        </p:nvSpPr>
        <p:spPr>
          <a:xfrm>
            <a:off x="7457307" y="567691"/>
            <a:ext cx="266305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可区分性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8108058" y="1080150"/>
            <a:ext cx="1361554" cy="562469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53C78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K-means</a:t>
            </a:r>
            <a:endParaRPr lang="zh-CN" altLang="en-US" b="1" dirty="0">
              <a:solidFill>
                <a:srgbClr val="53C7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7902518" y="2147160"/>
            <a:ext cx="1837612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三种区域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类型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>
            <a:off x="8788835" y="1642619"/>
            <a:ext cx="0" cy="504541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8788835" y="2559656"/>
            <a:ext cx="0" cy="388523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8275397" y="1724216"/>
            <a:ext cx="744906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肘部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782218" y="1735709"/>
            <a:ext cx="744906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法则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127875" y="2891020"/>
            <a:ext cx="13911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雷达图</a:t>
            </a:r>
            <a:endParaRPr lang="zh-CN" altLang="en-US" sz="1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1596586" y="3380739"/>
            <a:ext cx="4737540" cy="3084070"/>
          </a:xfrm>
          <a:prstGeom prst="roundRect">
            <a:avLst>
              <a:gd name="adj" fmla="val 8753"/>
            </a:avLst>
          </a:prstGeom>
          <a:noFill/>
          <a:ln w="19050">
            <a:solidFill>
              <a:srgbClr val="B6B3B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: 圆角 36"/>
          <p:cNvSpPr/>
          <p:nvPr/>
        </p:nvSpPr>
        <p:spPr>
          <a:xfrm>
            <a:off x="1683013" y="3492633"/>
            <a:ext cx="2887336" cy="39280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未来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时间线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689109" y="3929635"/>
            <a:ext cx="4427849" cy="242016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32B25C">
                  <a:alpha val="54000"/>
                </a:srgbClr>
              </a:gs>
            </a:gsLst>
            <a:lin ang="5400000" scaled="1"/>
          </a:gra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1721113" y="4085845"/>
            <a:ext cx="4427849" cy="213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策略</a:t>
            </a:r>
            <a:r>
              <a:rPr lang="en-US" altLang="zh-CN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:</a:t>
            </a:r>
            <a:endParaRPr lang="en-US" altLang="zh-CN" sz="1500" b="1" dirty="0">
              <a:solidFill>
                <a:srgbClr val="32B2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为高环境要求的比赛选择永久场馆</a:t>
            </a:r>
            <a:endParaRPr lang="zh-CN" alt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策略</a:t>
            </a:r>
            <a:r>
              <a:rPr lang="en-US" altLang="zh-CN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:</a:t>
            </a:r>
            <a:endParaRPr lang="en-US" altLang="zh-CN" sz="1500" b="1" dirty="0">
              <a:solidFill>
                <a:srgbClr val="32B2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</a:pPr>
            <a:r>
              <a:rPr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主办区域的去中心化</a:t>
            </a:r>
            <a:endParaRPr lang="zh-CN" alt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策略</a:t>
            </a:r>
            <a:r>
              <a:rPr lang="en-US" altLang="zh-CN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 :</a:t>
            </a:r>
            <a:endParaRPr lang="en-US" altLang="zh-CN" sz="1500" b="1" dirty="0">
              <a:solidFill>
                <a:srgbClr val="32B2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</a:pPr>
            <a:r>
              <a:rPr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夏季奥运会和冬季奥运会各设一个永久性场馆</a:t>
            </a:r>
            <a:endParaRPr lang="zh-CN" alt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策略</a:t>
            </a:r>
            <a:r>
              <a:rPr lang="en-US" altLang="zh-CN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 :</a:t>
            </a:r>
            <a:endParaRPr lang="en-US" altLang="zh-CN" sz="1500" b="1" dirty="0">
              <a:solidFill>
                <a:srgbClr val="32B2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</a:pPr>
            <a:r>
              <a:rPr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举办四届小型奥运会</a:t>
            </a:r>
            <a:endParaRPr lang="zh-CN" alt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箭头: 右 39"/>
          <p:cNvSpPr/>
          <p:nvPr/>
        </p:nvSpPr>
        <p:spPr>
          <a:xfrm>
            <a:off x="5393379" y="4741343"/>
            <a:ext cx="1485900" cy="388620"/>
          </a:xfrm>
          <a:prstGeom prst="rightArrow">
            <a:avLst/>
          </a:prstGeom>
          <a:solidFill>
            <a:schemeClr val="bg1"/>
          </a:solidFill>
          <a:ln w="19050">
            <a:solidFill>
              <a:srgbClr val="32B2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箭头: 右 40"/>
          <p:cNvSpPr/>
          <p:nvPr/>
        </p:nvSpPr>
        <p:spPr>
          <a:xfrm>
            <a:off x="6094930" y="1806696"/>
            <a:ext cx="1485900" cy="340464"/>
          </a:xfrm>
          <a:prstGeom prst="rightArrow">
            <a:avLst/>
          </a:prstGeom>
          <a:solidFill>
            <a:srgbClr val="32B25C"/>
          </a:solidFill>
          <a:ln w="19050">
            <a:solidFill>
              <a:srgbClr val="32B2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: 圆角 42"/>
          <p:cNvSpPr/>
          <p:nvPr/>
        </p:nvSpPr>
        <p:spPr>
          <a:xfrm>
            <a:off x="6910534" y="3380042"/>
            <a:ext cx="3534581" cy="3084070"/>
          </a:xfrm>
          <a:prstGeom prst="roundRect">
            <a:avLst>
              <a:gd name="adj" fmla="val 8753"/>
            </a:avLst>
          </a:prstGeom>
          <a:noFill/>
          <a:ln w="19050">
            <a:solidFill>
              <a:srgbClr val="B6B3B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: 圆角 44"/>
          <p:cNvSpPr/>
          <p:nvPr/>
        </p:nvSpPr>
        <p:spPr>
          <a:xfrm>
            <a:off x="7323657" y="3495803"/>
            <a:ext cx="2995334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策略的综合分析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011795" y="3990975"/>
            <a:ext cx="14109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灰色预测模型</a:t>
            </a:r>
            <a:endParaRPr lang="zh-CN" altLang="en-US" sz="1600" b="1" dirty="0">
              <a:solidFill>
                <a:srgbClr val="32B2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直接箭头连接符 47"/>
          <p:cNvCxnSpPr/>
          <p:nvPr/>
        </p:nvCxnSpPr>
        <p:spPr>
          <a:xfrm>
            <a:off x="10129054" y="3960115"/>
            <a:ext cx="0" cy="388523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: 圆角 48"/>
          <p:cNvSpPr/>
          <p:nvPr/>
        </p:nvSpPr>
        <p:spPr>
          <a:xfrm>
            <a:off x="7113460" y="4497449"/>
            <a:ext cx="2773597" cy="446941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策略</a:t>
            </a:r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 </a:t>
            </a:r>
            <a:r>
              <a:rPr lang="zh-CN" alt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社会、</a:t>
            </a:r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OFI</a:t>
            </a:r>
            <a:endParaRPr lang="zh-CN" alt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: 圆角 49"/>
          <p:cNvSpPr/>
          <p:nvPr/>
        </p:nvSpPr>
        <p:spPr>
          <a:xfrm>
            <a:off x="7100698" y="4944631"/>
            <a:ext cx="2773597" cy="42820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策略</a:t>
            </a:r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2: </a:t>
            </a:r>
            <a:r>
              <a:rPr lang="zh-CN" alt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全部</a:t>
            </a:r>
            <a:endParaRPr lang="zh-CN" alt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: 圆角 50"/>
          <p:cNvSpPr/>
          <p:nvPr/>
        </p:nvSpPr>
        <p:spPr>
          <a:xfrm>
            <a:off x="7097129" y="5373079"/>
            <a:ext cx="2773597" cy="42820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策略</a:t>
            </a:r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3: </a:t>
            </a:r>
            <a:r>
              <a:rPr lang="zh-CN" alt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经济、环境、</a:t>
            </a:r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OFI</a:t>
            </a:r>
            <a:endParaRPr lang="zh-CN" alt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矩形: 圆角 51"/>
          <p:cNvSpPr/>
          <p:nvPr/>
        </p:nvSpPr>
        <p:spPr>
          <a:xfrm>
            <a:off x="7097129" y="5801527"/>
            <a:ext cx="2773597" cy="42820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策略</a:t>
            </a:r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4: </a:t>
            </a:r>
            <a:r>
              <a:rPr lang="zh-CN" alt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社会、政治</a:t>
            </a:r>
            <a:endParaRPr lang="zh-CN" alt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箭头: 右 52"/>
          <p:cNvSpPr/>
          <p:nvPr/>
        </p:nvSpPr>
        <p:spPr>
          <a:xfrm rot="16200000">
            <a:off x="9294831" y="5308812"/>
            <a:ext cx="1699648" cy="76921"/>
          </a:xfrm>
          <a:prstGeom prst="rightArrow">
            <a:avLst/>
          </a:prstGeom>
          <a:solidFill>
            <a:srgbClr val="32B25C"/>
          </a:solidFill>
          <a:ln w="19050">
            <a:solidFill>
              <a:srgbClr val="32B2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对话气泡: 椭圆形 41"/>
          <p:cNvSpPr/>
          <p:nvPr/>
        </p:nvSpPr>
        <p:spPr>
          <a:xfrm>
            <a:off x="5224810" y="3224649"/>
            <a:ext cx="1662864" cy="812076"/>
          </a:xfrm>
          <a:prstGeom prst="wedgeEllipseCallout">
            <a:avLst>
              <a:gd name="adj1" fmla="val -57940"/>
              <a:gd name="adj2" fmla="val 50909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32B25C"/>
              </a:gs>
            </a:gsLst>
            <a:lin ang="16200000" scaled="1"/>
            <a:tileRect/>
          </a:gra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策略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8109585" y="3513344"/>
            <a:ext cx="4044200" cy="2440215"/>
          </a:xfrm>
          <a:prstGeom prst="rect">
            <a:avLst/>
          </a:prstGeom>
          <a:solidFill>
            <a:srgbClr val="F0F8ED"/>
          </a:solidFill>
          <a:ln w="28575">
            <a:solidFill>
              <a:srgbClr val="5F8D5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9" name="矩形 108"/>
          <p:cNvSpPr/>
          <p:nvPr/>
        </p:nvSpPr>
        <p:spPr>
          <a:xfrm>
            <a:off x="8110854" y="516631"/>
            <a:ext cx="4051325" cy="2113734"/>
          </a:xfrm>
          <a:prstGeom prst="rect">
            <a:avLst/>
          </a:prstGeom>
          <a:solidFill>
            <a:srgbClr val="F4EEFA"/>
          </a:solidFill>
          <a:ln w="28575">
            <a:solidFill>
              <a:srgbClr val="5F8D5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3310773" y="3504139"/>
            <a:ext cx="4556744" cy="2421247"/>
          </a:xfrm>
          <a:prstGeom prst="rect">
            <a:avLst/>
          </a:prstGeom>
          <a:solidFill>
            <a:srgbClr val="EEF5FB"/>
          </a:solidFill>
          <a:ln w="28575">
            <a:solidFill>
              <a:srgbClr val="5F8D5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3310757" y="523415"/>
            <a:ext cx="4556760" cy="2106950"/>
          </a:xfrm>
          <a:prstGeom prst="rect">
            <a:avLst/>
          </a:prstGeom>
          <a:solidFill>
            <a:srgbClr val="FDEDED"/>
          </a:solidFill>
          <a:ln w="28575">
            <a:solidFill>
              <a:srgbClr val="5F8D5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67862" y="500812"/>
            <a:ext cx="2720385" cy="5431862"/>
          </a:xfrm>
          <a:prstGeom prst="rect">
            <a:avLst/>
          </a:prstGeom>
          <a:solidFill>
            <a:srgbClr val="FFFAE7"/>
          </a:solidFill>
          <a:ln w="28575">
            <a:solidFill>
              <a:srgbClr val="0066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81985" y="162258"/>
            <a:ext cx="2806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Prediction Model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24880" y="222428"/>
            <a:ext cx="5819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of Word Attributes and Scores from Percentage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031628" y="250831"/>
            <a:ext cx="22983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Interesting Features of  Data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88876" y="776210"/>
            <a:ext cx="792480" cy="390144"/>
          </a:xfrm>
          <a:prstGeom prst="rect">
            <a:avLst/>
          </a:prstGeom>
          <a:solidFill>
            <a:srgbClr val="CFB3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1685116" y="1166354"/>
            <a:ext cx="0" cy="4446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935573" y="1610995"/>
            <a:ext cx="1477401" cy="1026160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model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箭头: 左弧形 12"/>
          <p:cNvSpPr/>
          <p:nvPr/>
        </p:nvSpPr>
        <p:spPr>
          <a:xfrm>
            <a:off x="772160" y="1880235"/>
            <a:ext cx="163413" cy="609600"/>
          </a:xfrm>
          <a:prstGeom prst="curv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箭头: 左弧形 13"/>
          <p:cNvSpPr/>
          <p:nvPr/>
        </p:nvSpPr>
        <p:spPr>
          <a:xfrm flipH="1">
            <a:off x="2412974" y="1880235"/>
            <a:ext cx="163413" cy="609600"/>
          </a:xfrm>
          <a:prstGeom prst="curv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14448" y="1723965"/>
            <a:ext cx="614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520156" y="1732915"/>
            <a:ext cx="614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gate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1685116" y="2637155"/>
            <a:ext cx="0" cy="4446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1278033" y="3102302"/>
            <a:ext cx="792480" cy="390144"/>
          </a:xfrm>
          <a:prstGeom prst="rect">
            <a:avLst/>
          </a:prstGeom>
          <a:solidFill>
            <a:srgbClr val="CFB3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1670797" y="3492446"/>
            <a:ext cx="0" cy="76319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1075376" y="4255643"/>
            <a:ext cx="1190841" cy="390144"/>
          </a:xfrm>
          <a:prstGeom prst="rect">
            <a:avLst/>
          </a:prstGeom>
          <a:solidFill>
            <a:srgbClr val="CFB3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1670796" y="4645787"/>
            <a:ext cx="0" cy="749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843881" y="5367081"/>
            <a:ext cx="1676263" cy="418658"/>
          </a:xfrm>
          <a:prstGeom prst="rect">
            <a:avLst/>
          </a:prstGeom>
          <a:solidFill>
            <a:srgbClr val="E18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March 1,2023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4831284" y="530205"/>
          <a:ext cx="1457307" cy="375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" name="AxMath" r:id="rId1" imgW="1143000" imgH="1143000" progId="Equation.AxMath">
                  <p:embed/>
                </p:oleObj>
              </mc:Choice>
              <mc:Fallback>
                <p:oleObj name="AxMath" r:id="rId1" imgW="1143000" imgH="1143000" progId="Equation.AxMath">
                  <p:embed/>
                  <p:pic>
                    <p:nvPicPr>
                      <p:cNvPr id="0" name="图片 1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31284" y="530205"/>
                        <a:ext cx="1457307" cy="3757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直接连接符 27"/>
          <p:cNvCxnSpPr/>
          <p:nvPr/>
        </p:nvCxnSpPr>
        <p:spPr>
          <a:xfrm>
            <a:off x="3310757" y="905927"/>
            <a:ext cx="4556760" cy="0"/>
          </a:xfrm>
          <a:prstGeom prst="line">
            <a:avLst/>
          </a:prstGeom>
          <a:ln w="19050">
            <a:solidFill>
              <a:srgbClr val="F6B8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5589137" y="905927"/>
            <a:ext cx="0" cy="1724438"/>
          </a:xfrm>
          <a:prstGeom prst="line">
            <a:avLst/>
          </a:prstGeom>
          <a:ln w="19050">
            <a:solidFill>
              <a:srgbClr val="F6B8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3723784" y="885475"/>
            <a:ext cx="14523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Analysis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398610" y="1083804"/>
            <a:ext cx="10501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Frequency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389909" y="1083804"/>
            <a:ext cx="1111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Letter Frequency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687467" y="1346779"/>
            <a:ext cx="472425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3687467" y="1356818"/>
          <a:ext cx="476071" cy="32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" name="AxMath" r:id="rId3" imgW="1143000" imgH="1143000" progId="Equation.AxMath">
                  <p:embed/>
                </p:oleObj>
              </mc:Choice>
              <mc:Fallback>
                <p:oleObj name="AxMath" r:id="rId3" imgW="1143000" imgH="1143000" progId="Equation.AxMath">
                  <p:embed/>
                  <p:pic>
                    <p:nvPicPr>
                      <p:cNvPr id="0" name="图片 1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87467" y="1356818"/>
                        <a:ext cx="476071" cy="3218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矩形 36"/>
          <p:cNvSpPr/>
          <p:nvPr/>
        </p:nvSpPr>
        <p:spPr>
          <a:xfrm>
            <a:off x="4700039" y="1338074"/>
            <a:ext cx="472425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4675188" y="1348740"/>
          <a:ext cx="52705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" name="AxMath" r:id="rId5" imgW="1143000" imgH="1143000" progId="Equation.AxMath">
                  <p:embed/>
                </p:oleObj>
              </mc:Choice>
              <mc:Fallback>
                <p:oleObj name="AxMath" r:id="rId5" imgW="1143000" imgH="1143000" progId="Equation.AxMath">
                  <p:embed/>
                  <p:pic>
                    <p:nvPicPr>
                      <p:cNvPr id="0" name="对象 3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75188" y="1348740"/>
                        <a:ext cx="527050" cy="320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9" name="直接箭头连接符 38"/>
          <p:cNvCxnSpPr/>
          <p:nvPr/>
        </p:nvCxnSpPr>
        <p:spPr>
          <a:xfrm>
            <a:off x="3930804" y="1693485"/>
            <a:ext cx="0" cy="3112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>
            <a:off x="6341427" y="1678669"/>
            <a:ext cx="0" cy="118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3694600" y="1998219"/>
            <a:ext cx="1477864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3816490" y="2061924"/>
            <a:ext cx="12198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analysis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直接箭头连接符 43"/>
          <p:cNvCxnSpPr/>
          <p:nvPr/>
        </p:nvCxnSpPr>
        <p:spPr>
          <a:xfrm flipH="1">
            <a:off x="3923679" y="2345229"/>
            <a:ext cx="7125" cy="5332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 flipH="1">
            <a:off x="4929126" y="2348621"/>
            <a:ext cx="7125" cy="5332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6158226" y="886674"/>
            <a:ext cx="14523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Plot Analysis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718343" y="1091853"/>
            <a:ext cx="121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Repetition of Letter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884389" y="1091853"/>
            <a:ext cx="1111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of Speech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6105215" y="1327485"/>
            <a:ext cx="472425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</a:t>
            </a:r>
            <a:endParaRPr lang="zh-CN" alt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7098409" y="1336739"/>
            <a:ext cx="472425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endParaRPr lang="zh-CN" alt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" name="直接箭头连接符 52"/>
          <p:cNvCxnSpPr/>
          <p:nvPr/>
        </p:nvCxnSpPr>
        <p:spPr>
          <a:xfrm>
            <a:off x="7334621" y="1682479"/>
            <a:ext cx="0" cy="118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5701798" y="1998219"/>
            <a:ext cx="689258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</a:t>
            </a:r>
            <a:r>
              <a:rPr lang="zh-CN" altLang="en-US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zh-CN" altLang="en-US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</a:t>
            </a:r>
            <a:endParaRPr lang="zh-CN" altLang="en-US" sz="8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6453230" y="1998219"/>
            <a:ext cx="689258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difference of outlines</a:t>
            </a:r>
            <a:endParaRPr lang="zh-CN" altLang="en-US" sz="8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7171643" y="1998219"/>
            <a:ext cx="621777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Median difference</a:t>
            </a:r>
            <a:endParaRPr lang="zh-CN" altLang="en-US" sz="8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" name="直接连接符 57"/>
          <p:cNvCxnSpPr/>
          <p:nvPr/>
        </p:nvCxnSpPr>
        <p:spPr>
          <a:xfrm flipH="1">
            <a:off x="6209306" y="1732915"/>
            <a:ext cx="92915" cy="265304"/>
          </a:xfrm>
          <a:prstGeom prst="line">
            <a:avLst/>
          </a:prstGeom>
          <a:ln w="19050">
            <a:solidFill>
              <a:srgbClr val="F6B8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>
            <a:endCxn id="55" idx="0"/>
          </p:cNvCxnSpPr>
          <p:nvPr/>
        </p:nvCxnSpPr>
        <p:spPr>
          <a:xfrm>
            <a:off x="6377026" y="1685897"/>
            <a:ext cx="420833" cy="312322"/>
          </a:xfrm>
          <a:prstGeom prst="line">
            <a:avLst/>
          </a:prstGeom>
          <a:ln w="19050">
            <a:solidFill>
              <a:srgbClr val="F6B8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6384011" y="1691565"/>
            <a:ext cx="937162" cy="288091"/>
          </a:xfrm>
          <a:prstGeom prst="line">
            <a:avLst/>
          </a:prstGeom>
          <a:ln w="19050">
            <a:solidFill>
              <a:srgbClr val="F6B8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3750594" y="2816633"/>
            <a:ext cx="1050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5F8D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zh-CN" altLang="en-US" sz="2000" b="1" dirty="0">
              <a:solidFill>
                <a:srgbClr val="5F8D5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4746207" y="2816633"/>
            <a:ext cx="1050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5F8D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zh-CN" altLang="en-US" sz="2000" b="1" dirty="0">
              <a:solidFill>
                <a:srgbClr val="5F8D5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6166375" y="2818607"/>
            <a:ext cx="1050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5F8D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zh-CN" altLang="en-US" sz="2000" b="1" dirty="0">
              <a:solidFill>
                <a:srgbClr val="5F8D5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7156389" y="2800239"/>
            <a:ext cx="2692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直接箭头连接符 70"/>
          <p:cNvCxnSpPr/>
          <p:nvPr/>
        </p:nvCxnSpPr>
        <p:spPr>
          <a:xfrm flipV="1">
            <a:off x="7522536" y="2640113"/>
            <a:ext cx="0" cy="39709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522536" y="3024308"/>
            <a:ext cx="42893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7933690" y="1049655"/>
            <a:ext cx="0" cy="19875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7920355" y="1055032"/>
            <a:ext cx="1892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本框 81"/>
          <p:cNvSpPr txBox="1"/>
          <p:nvPr/>
        </p:nvSpPr>
        <p:spPr>
          <a:xfrm>
            <a:off x="7497600" y="2733031"/>
            <a:ext cx="5015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</a:t>
            </a:r>
            <a:endParaRPr lang="zh-CN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3216473" y="3190800"/>
            <a:ext cx="761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3902580" y="3197190"/>
            <a:ext cx="137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Pridiction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4928658" y="3197190"/>
            <a:ext cx="137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6" name="直接箭头连接符 85"/>
          <p:cNvCxnSpPr/>
          <p:nvPr/>
        </p:nvCxnSpPr>
        <p:spPr>
          <a:xfrm flipH="1">
            <a:off x="3916554" y="3136398"/>
            <a:ext cx="7125" cy="5332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/>
          <p:nvPr/>
        </p:nvCxnSpPr>
        <p:spPr>
          <a:xfrm flipH="1">
            <a:off x="4929126" y="3136398"/>
            <a:ext cx="7125" cy="5332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/>
          <p:nvPr/>
        </p:nvCxnSpPr>
        <p:spPr>
          <a:xfrm flipH="1">
            <a:off x="6338386" y="3130629"/>
            <a:ext cx="7125" cy="5332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矩形 89"/>
          <p:cNvSpPr/>
          <p:nvPr/>
        </p:nvSpPr>
        <p:spPr>
          <a:xfrm>
            <a:off x="3453010" y="3620585"/>
            <a:ext cx="4157542" cy="368804"/>
          </a:xfrm>
          <a:prstGeom prst="rect">
            <a:avLst/>
          </a:prstGeom>
          <a:solidFill>
            <a:srgbClr val="C5DC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2" name="直接箭头连接符 91"/>
          <p:cNvCxnSpPr/>
          <p:nvPr/>
        </p:nvCxnSpPr>
        <p:spPr>
          <a:xfrm flipH="1">
            <a:off x="4664283" y="3991432"/>
            <a:ext cx="1" cy="11289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任意多边形: 形状 94"/>
          <p:cNvSpPr/>
          <p:nvPr/>
        </p:nvSpPr>
        <p:spPr>
          <a:xfrm>
            <a:off x="4541520" y="4574540"/>
            <a:ext cx="121920" cy="89535"/>
          </a:xfrm>
          <a:custGeom>
            <a:avLst/>
            <a:gdLst>
              <a:gd name="connsiteX0" fmla="*/ 0 w 121920"/>
              <a:gd name="connsiteY0" fmla="*/ 0 h 89535"/>
              <a:gd name="connsiteX1" fmla="*/ 121920 w 121920"/>
              <a:gd name="connsiteY1" fmla="*/ 89535 h 89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20" h="89535">
                <a:moveTo>
                  <a:pt x="0" y="0"/>
                </a:moveTo>
                <a:cubicBezTo>
                  <a:pt x="51117" y="27464"/>
                  <a:pt x="102235" y="54928"/>
                  <a:pt x="121920" y="89535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3453010" y="4122186"/>
            <a:ext cx="1088510" cy="872104"/>
          </a:xfrm>
          <a:prstGeom prst="rect">
            <a:avLst/>
          </a:prstGeom>
          <a:solidFill>
            <a:srgbClr val="C5DC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 Search</a:t>
            </a:r>
            <a:endParaRPr lang="en-US" altLang="zh-C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</a:t>
            </a:r>
            <a:r>
              <a:rPr lang="en-US" altLang="zh-CN" sz="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gparams</a:t>
            </a:r>
            <a:endParaRPr lang="zh-CN" alt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4944751" y="4198371"/>
            <a:ext cx="1676263" cy="418658"/>
          </a:xfrm>
          <a:prstGeom prst="rect">
            <a:avLst/>
          </a:prstGeom>
          <a:solidFill>
            <a:srgbClr val="E18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March 1,2023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4943907" y="4616682"/>
            <a:ext cx="1676263" cy="418658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EERIE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6691445" y="4407700"/>
            <a:ext cx="1016047" cy="368801"/>
          </a:xfrm>
          <a:prstGeom prst="rect">
            <a:avLst/>
          </a:prstGeom>
          <a:solidFill>
            <a:srgbClr val="C5DC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6749974" y="5224693"/>
            <a:ext cx="874171" cy="455369"/>
          </a:xfrm>
          <a:prstGeom prst="rect">
            <a:avLst/>
          </a:prstGeom>
          <a:solidFill>
            <a:srgbClr val="C5DC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3447078" y="5200010"/>
            <a:ext cx="1583296" cy="540665"/>
          </a:xfrm>
          <a:prstGeom prst="rect">
            <a:avLst/>
          </a:prstGeom>
          <a:solidFill>
            <a:srgbClr val="2B76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endParaRPr lang="zh-CN" alt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1" name="直接箭头连接符 100"/>
          <p:cNvCxnSpPr>
            <a:endCxn id="99" idx="1"/>
          </p:cNvCxnSpPr>
          <p:nvPr/>
        </p:nvCxnSpPr>
        <p:spPr>
          <a:xfrm flipV="1">
            <a:off x="5025883" y="5452378"/>
            <a:ext cx="1724091" cy="80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>
            <a:stCxn id="99" idx="0"/>
          </p:cNvCxnSpPr>
          <p:nvPr/>
        </p:nvCxnSpPr>
        <p:spPr>
          <a:xfrm flipV="1">
            <a:off x="7187060" y="4801184"/>
            <a:ext cx="12408" cy="4235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/>
          <p:cNvCxnSpPr>
            <a:stCxn id="98" idx="3"/>
          </p:cNvCxnSpPr>
          <p:nvPr/>
        </p:nvCxnSpPr>
        <p:spPr>
          <a:xfrm flipV="1">
            <a:off x="7707492" y="4592100"/>
            <a:ext cx="382551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矩形 109"/>
          <p:cNvSpPr/>
          <p:nvPr/>
        </p:nvSpPr>
        <p:spPr>
          <a:xfrm>
            <a:off x="8367533" y="927283"/>
            <a:ext cx="897668" cy="470382"/>
          </a:xfrm>
          <a:prstGeom prst="rect">
            <a:avLst/>
          </a:prstGeom>
          <a:solidFill>
            <a:srgbClr val="DFC9EF"/>
          </a:solidFill>
          <a:ln>
            <a:solidFill>
              <a:srgbClr val="DFC9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 Attributes</a:t>
            </a:r>
            <a:endParaRPr lang="zh-CN" altLang="en-US" sz="11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1" name="直接箭头连接符 110"/>
          <p:cNvCxnSpPr/>
          <p:nvPr/>
        </p:nvCxnSpPr>
        <p:spPr>
          <a:xfrm>
            <a:off x="9279819" y="1159930"/>
            <a:ext cx="29344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矩形 112"/>
          <p:cNvSpPr/>
          <p:nvPr/>
        </p:nvSpPr>
        <p:spPr>
          <a:xfrm>
            <a:off x="9527731" y="796648"/>
            <a:ext cx="1236332" cy="279032"/>
          </a:xfrm>
          <a:prstGeom prst="rect">
            <a:avLst/>
          </a:prstGeom>
          <a:solidFill>
            <a:srgbClr val="712CA1"/>
          </a:solidFill>
          <a:ln>
            <a:solidFill>
              <a:srgbClr val="712C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linearly related</a:t>
            </a:r>
            <a:endParaRPr lang="zh-CN" altLang="en-US" sz="10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9548088" y="1258149"/>
            <a:ext cx="1236332" cy="279032"/>
          </a:xfrm>
          <a:prstGeom prst="rect">
            <a:avLst/>
          </a:prstGeom>
          <a:solidFill>
            <a:srgbClr val="712CA1"/>
          </a:solidFill>
          <a:ln>
            <a:solidFill>
              <a:srgbClr val="712C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obvious diff</a:t>
            </a:r>
            <a:endParaRPr lang="zh-CN" altLang="en-US" sz="10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5" name="直接箭头连接符 114"/>
          <p:cNvCxnSpPr/>
          <p:nvPr/>
        </p:nvCxnSpPr>
        <p:spPr>
          <a:xfrm flipH="1">
            <a:off x="10689519" y="1166354"/>
            <a:ext cx="29344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矩形 115"/>
          <p:cNvSpPr/>
          <p:nvPr/>
        </p:nvSpPr>
        <p:spPr>
          <a:xfrm>
            <a:off x="10982960" y="886435"/>
            <a:ext cx="897668" cy="511219"/>
          </a:xfrm>
          <a:prstGeom prst="rect">
            <a:avLst/>
          </a:prstGeom>
          <a:solidFill>
            <a:srgbClr val="DFC9EF"/>
          </a:solidFill>
          <a:ln>
            <a:solidFill>
              <a:srgbClr val="DFC9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 Mode </a:t>
            </a:r>
            <a:r>
              <a:rPr lang="en-US" altLang="zh-CN" sz="11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Pecentage</a:t>
            </a:r>
            <a:endParaRPr lang="zh-CN" altLang="en-US" sz="11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8375025" y="1859183"/>
            <a:ext cx="1962393" cy="368494"/>
          </a:xfrm>
          <a:prstGeom prst="rect">
            <a:avLst/>
          </a:prstGeom>
          <a:solidFill>
            <a:srgbClr val="DFC9EF"/>
          </a:solidFill>
          <a:ln>
            <a:solidFill>
              <a:srgbClr val="DFC9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most “</a:t>
            </a:r>
            <a:r>
              <a:rPr lang="en-US" altLang="zh-CN" sz="1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hellsh</a:t>
            </a:r>
            <a:r>
              <a:rPr lang="en-US" altLang="zh-CN" sz="1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altLang="zh-CN" sz="1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level:PAPER</a:t>
            </a:r>
            <a:endParaRPr lang="zh-CN" altLang="en-US" sz="10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8" name="直接箭头连接符 117"/>
          <p:cNvCxnSpPr/>
          <p:nvPr/>
        </p:nvCxnSpPr>
        <p:spPr>
          <a:xfrm>
            <a:off x="10337418" y="2061924"/>
            <a:ext cx="44700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矩形 119"/>
          <p:cNvSpPr/>
          <p:nvPr/>
        </p:nvSpPr>
        <p:spPr>
          <a:xfrm>
            <a:off x="10796318" y="1822928"/>
            <a:ext cx="1084310" cy="430688"/>
          </a:xfrm>
          <a:prstGeom prst="rect">
            <a:avLst/>
          </a:prstGeom>
          <a:solidFill>
            <a:srgbClr val="712CA1"/>
          </a:solidFill>
          <a:ln>
            <a:solidFill>
              <a:srgbClr val="712C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 to guess</a:t>
            </a:r>
            <a:endParaRPr lang="zh-CN" altLang="en-US" sz="10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8006765" y="3175728"/>
            <a:ext cx="40164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Pate Classification Model by K-Means++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3" name="对象 122"/>
          <p:cNvGraphicFramePr>
            <a:graphicFrameLocks noChangeAspect="1"/>
          </p:cNvGraphicFramePr>
          <p:nvPr/>
        </p:nvGraphicFramePr>
        <p:xfrm>
          <a:off x="8331061" y="3592562"/>
          <a:ext cx="1335579" cy="368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" name="AxMath" r:id="rId7" imgW="1143000" imgH="1143000" progId="Equation.AxMath">
                  <p:embed/>
                </p:oleObj>
              </mc:Choice>
              <mc:Fallback>
                <p:oleObj name="AxMath" r:id="rId7" imgW="1143000" imgH="1143000" progId="Equation.AxMath">
                  <p:embed/>
                  <p:pic>
                    <p:nvPicPr>
                      <p:cNvPr id="0" name="图片 108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331061" y="3592562"/>
                        <a:ext cx="1335579" cy="3689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" name="矩形 125"/>
          <p:cNvSpPr/>
          <p:nvPr/>
        </p:nvSpPr>
        <p:spPr>
          <a:xfrm>
            <a:off x="8484870" y="3969771"/>
            <a:ext cx="871284" cy="457200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Difficulty Rate</a:t>
            </a:r>
            <a:endParaRPr lang="zh-CN" alt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8478740" y="5222862"/>
            <a:ext cx="871284" cy="457200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K-Means++</a:t>
            </a:r>
            <a:endParaRPr lang="en-US" altLang="zh-CN" sz="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Clustering Analysis</a:t>
            </a:r>
            <a:endParaRPr lang="zh-CN" altLang="en-US" sz="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8" name="直接箭头连接符 127"/>
          <p:cNvCxnSpPr/>
          <p:nvPr/>
        </p:nvCxnSpPr>
        <p:spPr>
          <a:xfrm>
            <a:off x="8914382" y="4426971"/>
            <a:ext cx="0" cy="7921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/>
          <p:cNvCxnSpPr/>
          <p:nvPr/>
        </p:nvCxnSpPr>
        <p:spPr>
          <a:xfrm>
            <a:off x="9350024" y="5433695"/>
            <a:ext cx="66495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矩形 134"/>
          <p:cNvSpPr/>
          <p:nvPr/>
        </p:nvSpPr>
        <p:spPr>
          <a:xfrm>
            <a:off x="10050146" y="5219166"/>
            <a:ext cx="871284" cy="457200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Difficulty</a:t>
            </a:r>
            <a:endParaRPr lang="en-US" altLang="zh-CN" sz="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lang="zh-CN" altLang="en-US" sz="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6" name="直接箭头连接符 135"/>
          <p:cNvCxnSpPr/>
          <p:nvPr/>
        </p:nvCxnSpPr>
        <p:spPr>
          <a:xfrm flipV="1">
            <a:off x="10433382" y="4714762"/>
            <a:ext cx="0" cy="4852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平行四边形 138"/>
          <p:cNvSpPr/>
          <p:nvPr/>
        </p:nvSpPr>
        <p:spPr>
          <a:xfrm>
            <a:off x="10085562" y="4495326"/>
            <a:ext cx="871284" cy="193548"/>
          </a:xfrm>
          <a:prstGeom prst="parallelogram">
            <a:avLst>
              <a:gd name="adj" fmla="val 105540"/>
            </a:avLst>
          </a:prstGeom>
          <a:solidFill>
            <a:srgbClr val="90BE7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0" name="平行四边形 139"/>
          <p:cNvSpPr/>
          <p:nvPr/>
        </p:nvSpPr>
        <p:spPr>
          <a:xfrm>
            <a:off x="10085562" y="4383633"/>
            <a:ext cx="871284" cy="193548"/>
          </a:xfrm>
          <a:prstGeom prst="parallelogram">
            <a:avLst>
              <a:gd name="adj" fmla="val 105540"/>
            </a:avLst>
          </a:prstGeom>
          <a:solidFill>
            <a:srgbClr val="90BE7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1" name="平行四边形 140"/>
          <p:cNvSpPr/>
          <p:nvPr/>
        </p:nvSpPr>
        <p:spPr>
          <a:xfrm>
            <a:off x="10085562" y="4286859"/>
            <a:ext cx="871284" cy="193548"/>
          </a:xfrm>
          <a:prstGeom prst="parallelogram">
            <a:avLst>
              <a:gd name="adj" fmla="val 105540"/>
            </a:avLst>
          </a:prstGeom>
          <a:solidFill>
            <a:srgbClr val="BDC37A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2" name="平行四边形 141"/>
          <p:cNvSpPr/>
          <p:nvPr/>
        </p:nvSpPr>
        <p:spPr>
          <a:xfrm>
            <a:off x="10105104" y="4168881"/>
            <a:ext cx="871284" cy="193548"/>
          </a:xfrm>
          <a:prstGeom prst="parallelogram">
            <a:avLst>
              <a:gd name="adj" fmla="val 105540"/>
            </a:avLst>
          </a:prstGeom>
          <a:solidFill>
            <a:srgbClr val="90BE7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8" name="平行四边形 137"/>
          <p:cNvSpPr/>
          <p:nvPr/>
        </p:nvSpPr>
        <p:spPr>
          <a:xfrm>
            <a:off x="10111676" y="4057527"/>
            <a:ext cx="871284" cy="193548"/>
          </a:xfrm>
          <a:prstGeom prst="parallelogram">
            <a:avLst>
              <a:gd name="adj" fmla="val 105540"/>
            </a:avLst>
          </a:prstGeom>
          <a:solidFill>
            <a:srgbClr val="90BE7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3" name="文本框 142"/>
          <p:cNvSpPr txBox="1"/>
          <p:nvPr/>
        </p:nvSpPr>
        <p:spPr>
          <a:xfrm>
            <a:off x="9940523" y="4602392"/>
            <a:ext cx="114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1</a:t>
            </a:r>
            <a:endParaRPr lang="zh-CN" altLang="en-US" sz="800" dirty="0"/>
          </a:p>
        </p:txBody>
      </p:sp>
      <p:sp>
        <p:nvSpPr>
          <p:cNvPr id="144" name="文本框 143"/>
          <p:cNvSpPr txBox="1"/>
          <p:nvPr/>
        </p:nvSpPr>
        <p:spPr>
          <a:xfrm>
            <a:off x="9940523" y="4450715"/>
            <a:ext cx="114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2</a:t>
            </a:r>
            <a:endParaRPr lang="zh-CN" altLang="en-US" sz="800" dirty="0"/>
          </a:p>
        </p:txBody>
      </p:sp>
      <p:sp>
        <p:nvSpPr>
          <p:cNvPr id="145" name="文本框 144"/>
          <p:cNvSpPr txBox="1"/>
          <p:nvPr/>
        </p:nvSpPr>
        <p:spPr>
          <a:xfrm>
            <a:off x="9940523" y="4348372"/>
            <a:ext cx="114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3</a:t>
            </a:r>
            <a:endParaRPr lang="zh-CN" altLang="en-US" sz="800" dirty="0"/>
          </a:p>
        </p:txBody>
      </p:sp>
      <p:sp>
        <p:nvSpPr>
          <p:cNvPr id="146" name="文本框 145"/>
          <p:cNvSpPr txBox="1"/>
          <p:nvPr/>
        </p:nvSpPr>
        <p:spPr>
          <a:xfrm>
            <a:off x="9940523" y="4235271"/>
            <a:ext cx="114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4</a:t>
            </a:r>
            <a:endParaRPr lang="zh-CN" altLang="en-US" sz="800" dirty="0"/>
          </a:p>
        </p:txBody>
      </p:sp>
      <p:sp>
        <p:nvSpPr>
          <p:cNvPr id="147" name="文本框 146"/>
          <p:cNvSpPr txBox="1"/>
          <p:nvPr/>
        </p:nvSpPr>
        <p:spPr>
          <a:xfrm>
            <a:off x="9940523" y="4131417"/>
            <a:ext cx="114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5</a:t>
            </a:r>
            <a:endParaRPr lang="zh-CN" altLang="en-US" sz="800" dirty="0"/>
          </a:p>
        </p:txBody>
      </p:sp>
      <p:cxnSp>
        <p:nvCxnSpPr>
          <p:cNvPr id="148" name="直接箭头连接符 147"/>
          <p:cNvCxnSpPr/>
          <p:nvPr/>
        </p:nvCxnSpPr>
        <p:spPr>
          <a:xfrm>
            <a:off x="10976388" y="4383633"/>
            <a:ext cx="1402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矩形 151"/>
          <p:cNvSpPr/>
          <p:nvPr/>
        </p:nvSpPr>
        <p:spPr>
          <a:xfrm>
            <a:off x="11107556" y="4267594"/>
            <a:ext cx="915637" cy="251834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EERIE</a:t>
            </a:r>
            <a:endParaRPr lang="zh-CN" alt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8109585" y="3513344"/>
            <a:ext cx="4044200" cy="2440215"/>
          </a:xfrm>
          <a:prstGeom prst="rect">
            <a:avLst/>
          </a:prstGeom>
          <a:solidFill>
            <a:srgbClr val="F0F8ED"/>
          </a:solidFill>
          <a:ln w="28575">
            <a:solidFill>
              <a:srgbClr val="5F8D5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9" name="矩形 108"/>
          <p:cNvSpPr/>
          <p:nvPr/>
        </p:nvSpPr>
        <p:spPr>
          <a:xfrm>
            <a:off x="8110854" y="516631"/>
            <a:ext cx="4051325" cy="2113734"/>
          </a:xfrm>
          <a:prstGeom prst="rect">
            <a:avLst/>
          </a:prstGeom>
          <a:solidFill>
            <a:srgbClr val="F4EEFA"/>
          </a:solidFill>
          <a:ln w="28575">
            <a:solidFill>
              <a:srgbClr val="5F8D5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3310773" y="3504139"/>
            <a:ext cx="4556744" cy="2421247"/>
          </a:xfrm>
          <a:prstGeom prst="rect">
            <a:avLst/>
          </a:prstGeom>
          <a:solidFill>
            <a:srgbClr val="EEF5FB"/>
          </a:solidFill>
          <a:ln w="28575">
            <a:solidFill>
              <a:srgbClr val="5F8D5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3310757" y="523415"/>
            <a:ext cx="4556760" cy="2106950"/>
          </a:xfrm>
          <a:prstGeom prst="rect">
            <a:avLst/>
          </a:prstGeom>
          <a:solidFill>
            <a:srgbClr val="FDEDED"/>
          </a:solidFill>
          <a:ln w="28575">
            <a:solidFill>
              <a:srgbClr val="5F8D5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67862" y="500812"/>
            <a:ext cx="2720385" cy="5431862"/>
          </a:xfrm>
          <a:prstGeom prst="rect">
            <a:avLst/>
          </a:prstGeom>
          <a:solidFill>
            <a:srgbClr val="FFFAE7"/>
          </a:solidFill>
          <a:ln w="28575">
            <a:solidFill>
              <a:srgbClr val="0066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04845" y="108918"/>
            <a:ext cx="2806262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预测模型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24880" y="169088"/>
            <a:ext cx="5819268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词属性与百分比得分的关系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031628" y="197491"/>
            <a:ext cx="22983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数据的有趣特征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88876" y="776210"/>
            <a:ext cx="792480" cy="390144"/>
          </a:xfrm>
          <a:prstGeom prst="rect">
            <a:avLst/>
          </a:prstGeom>
          <a:solidFill>
            <a:srgbClr val="CFB3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1685116" y="1166354"/>
            <a:ext cx="0" cy="4446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935573" y="1610995"/>
            <a:ext cx="1477401" cy="1026160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模型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箭头: 左弧形 12"/>
          <p:cNvSpPr/>
          <p:nvPr/>
        </p:nvSpPr>
        <p:spPr>
          <a:xfrm>
            <a:off x="772160" y="1880235"/>
            <a:ext cx="163413" cy="609600"/>
          </a:xfrm>
          <a:prstGeom prst="curv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箭头: 左弧形 13"/>
          <p:cNvSpPr/>
          <p:nvPr/>
        </p:nvSpPr>
        <p:spPr>
          <a:xfrm flipH="1">
            <a:off x="2412974" y="1880235"/>
            <a:ext cx="163413" cy="609600"/>
          </a:xfrm>
          <a:prstGeom prst="curv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14448" y="1723965"/>
            <a:ext cx="614677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重置门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520156" y="1732915"/>
            <a:ext cx="614677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更新门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1685116" y="2637155"/>
            <a:ext cx="0" cy="4446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1278033" y="3102302"/>
            <a:ext cx="792480" cy="390144"/>
          </a:xfrm>
          <a:prstGeom prst="rect">
            <a:avLst/>
          </a:prstGeom>
          <a:solidFill>
            <a:srgbClr val="CFB3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1670797" y="3492446"/>
            <a:ext cx="0" cy="76319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1075376" y="4255643"/>
            <a:ext cx="1190841" cy="390144"/>
          </a:xfrm>
          <a:prstGeom prst="rect">
            <a:avLst/>
          </a:prstGeom>
          <a:solidFill>
            <a:srgbClr val="CFB3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预测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1670796" y="4645787"/>
            <a:ext cx="0" cy="749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843881" y="5367081"/>
            <a:ext cx="1676263" cy="418658"/>
          </a:xfrm>
          <a:prstGeom prst="rect">
            <a:avLst/>
          </a:prstGeom>
          <a:solidFill>
            <a:srgbClr val="E18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月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日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4831284" y="530205"/>
          <a:ext cx="1457307" cy="375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" name="AxMath" r:id="rId1" imgW="1143000" imgH="1143000" progId="Equation.AxMath">
                  <p:embed/>
                </p:oleObj>
              </mc:Choice>
              <mc:Fallback>
                <p:oleObj name="AxMath" r:id="rId1" imgW="1143000" imgH="1143000" progId="Equation.AxMath">
                  <p:embed/>
                  <p:pic>
                    <p:nvPicPr>
                      <p:cNvPr id="0" name="图片 1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31284" y="530205"/>
                        <a:ext cx="1457307" cy="3757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直接连接符 27"/>
          <p:cNvCxnSpPr/>
          <p:nvPr/>
        </p:nvCxnSpPr>
        <p:spPr>
          <a:xfrm>
            <a:off x="3310757" y="905927"/>
            <a:ext cx="4556760" cy="0"/>
          </a:xfrm>
          <a:prstGeom prst="line">
            <a:avLst/>
          </a:prstGeom>
          <a:ln w="19050">
            <a:solidFill>
              <a:srgbClr val="F6B8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5589137" y="905927"/>
            <a:ext cx="0" cy="1724438"/>
          </a:xfrm>
          <a:prstGeom prst="line">
            <a:avLst/>
          </a:prstGeom>
          <a:ln w="19050">
            <a:solidFill>
              <a:srgbClr val="F6B8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3746644" y="885475"/>
            <a:ext cx="1452326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回归分析单词频率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691890" y="1083945"/>
            <a:ext cx="4711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词频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594225" y="1083945"/>
            <a:ext cx="7080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字母频率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687467" y="1346779"/>
            <a:ext cx="472425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3687467" y="1356818"/>
          <a:ext cx="476071" cy="32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" name="AxMath" r:id="rId3" imgW="1143000" imgH="1143000" progId="Equation.AxMath">
                  <p:embed/>
                </p:oleObj>
              </mc:Choice>
              <mc:Fallback>
                <p:oleObj name="AxMath" r:id="rId3" imgW="1143000" imgH="1143000" progId="Equation.AxMath">
                  <p:embed/>
                  <p:pic>
                    <p:nvPicPr>
                      <p:cNvPr id="0" name="图片 1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87467" y="1356818"/>
                        <a:ext cx="476071" cy="3218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矩形 36"/>
          <p:cNvSpPr/>
          <p:nvPr/>
        </p:nvSpPr>
        <p:spPr>
          <a:xfrm>
            <a:off x="4700039" y="1338074"/>
            <a:ext cx="472425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4675188" y="1348740"/>
          <a:ext cx="52705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" name="AxMath" r:id="rId5" imgW="1143000" imgH="1143000" progId="Equation.AxMath">
                  <p:embed/>
                </p:oleObj>
              </mc:Choice>
              <mc:Fallback>
                <p:oleObj name="AxMath" r:id="rId5" imgW="1143000" imgH="1143000" progId="Equation.AxMath">
                  <p:embed/>
                  <p:pic>
                    <p:nvPicPr>
                      <p:cNvPr id="0" name="对象 3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75188" y="1348740"/>
                        <a:ext cx="527050" cy="320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9" name="直接箭头连接符 38"/>
          <p:cNvCxnSpPr/>
          <p:nvPr/>
        </p:nvCxnSpPr>
        <p:spPr>
          <a:xfrm>
            <a:off x="3930804" y="1693485"/>
            <a:ext cx="0" cy="3112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>
            <a:off x="6341427" y="1678669"/>
            <a:ext cx="0" cy="118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3694600" y="1998219"/>
            <a:ext cx="1477864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3902710" y="2035175"/>
            <a:ext cx="9283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回归分析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直接箭头连接符 43"/>
          <p:cNvCxnSpPr/>
          <p:nvPr/>
        </p:nvCxnSpPr>
        <p:spPr>
          <a:xfrm flipH="1">
            <a:off x="3923679" y="2345229"/>
            <a:ext cx="7125" cy="5332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 flipH="1">
            <a:off x="4929126" y="2348621"/>
            <a:ext cx="7125" cy="5332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6142986" y="886674"/>
            <a:ext cx="1452326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箱线图分析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6002655" y="1091565"/>
            <a:ext cx="7353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字母重复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7115810" y="1091565"/>
            <a:ext cx="54038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词性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6105215" y="1327485"/>
            <a:ext cx="472425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代表</a:t>
            </a:r>
            <a:endParaRPr lang="zh-CN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7098409" y="1336739"/>
            <a:ext cx="472425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词性</a:t>
            </a:r>
            <a:endParaRPr lang="zh-CN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" name="直接箭头连接符 52"/>
          <p:cNvCxnSpPr/>
          <p:nvPr/>
        </p:nvCxnSpPr>
        <p:spPr>
          <a:xfrm>
            <a:off x="7334621" y="1682479"/>
            <a:ext cx="0" cy="118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5701798" y="1998219"/>
            <a:ext cx="689258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箱长差异</a:t>
            </a:r>
            <a:endParaRPr lang="zh-CN" alt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6453230" y="1998219"/>
            <a:ext cx="689258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轮廓数量差异</a:t>
            </a:r>
            <a:endParaRPr lang="zh-CN" alt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7171643" y="1998219"/>
            <a:ext cx="621777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中位数</a:t>
            </a:r>
            <a:endParaRPr lang="zh-CN" alt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差异</a:t>
            </a:r>
            <a:endParaRPr lang="zh-CN" alt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" name="直接连接符 57"/>
          <p:cNvCxnSpPr/>
          <p:nvPr/>
        </p:nvCxnSpPr>
        <p:spPr>
          <a:xfrm flipH="1">
            <a:off x="6209306" y="1732915"/>
            <a:ext cx="92915" cy="265304"/>
          </a:xfrm>
          <a:prstGeom prst="line">
            <a:avLst/>
          </a:prstGeom>
          <a:ln w="19050">
            <a:solidFill>
              <a:srgbClr val="F6B8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>
            <a:endCxn id="55" idx="0"/>
          </p:cNvCxnSpPr>
          <p:nvPr/>
        </p:nvCxnSpPr>
        <p:spPr>
          <a:xfrm>
            <a:off x="6377026" y="1685897"/>
            <a:ext cx="420833" cy="312322"/>
          </a:xfrm>
          <a:prstGeom prst="line">
            <a:avLst/>
          </a:prstGeom>
          <a:ln w="19050">
            <a:solidFill>
              <a:srgbClr val="F6B8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6384011" y="1691565"/>
            <a:ext cx="937162" cy="288091"/>
          </a:xfrm>
          <a:prstGeom prst="line">
            <a:avLst/>
          </a:prstGeom>
          <a:ln w="19050">
            <a:solidFill>
              <a:srgbClr val="F6B8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3750594" y="2816633"/>
            <a:ext cx="1050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5F8D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zh-CN" altLang="en-US" sz="2000" b="1" dirty="0">
              <a:solidFill>
                <a:srgbClr val="5F8D5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4746207" y="2816633"/>
            <a:ext cx="1050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5F8D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zh-CN" altLang="en-US" sz="2000" b="1" dirty="0">
              <a:solidFill>
                <a:srgbClr val="5F8D5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6166375" y="2818607"/>
            <a:ext cx="1050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5F8D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zh-CN" altLang="en-US" sz="2000" b="1" dirty="0">
              <a:solidFill>
                <a:srgbClr val="5F8D5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7156389" y="2800239"/>
            <a:ext cx="2692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直接箭头连接符 70"/>
          <p:cNvCxnSpPr/>
          <p:nvPr/>
        </p:nvCxnSpPr>
        <p:spPr>
          <a:xfrm flipV="1">
            <a:off x="7522536" y="2640113"/>
            <a:ext cx="0" cy="39709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522536" y="3024308"/>
            <a:ext cx="42893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7933690" y="1049655"/>
            <a:ext cx="0" cy="19875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7920355" y="1055032"/>
            <a:ext cx="1892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本框 81"/>
          <p:cNvSpPr txBox="1"/>
          <p:nvPr/>
        </p:nvSpPr>
        <p:spPr>
          <a:xfrm>
            <a:off x="7497600" y="2733031"/>
            <a:ext cx="50152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相似</a:t>
            </a:r>
            <a:endParaRPr lang="zh-CN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3246953" y="3152700"/>
            <a:ext cx="761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3902580" y="3159090"/>
            <a:ext cx="137733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预测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4928658" y="3151470"/>
            <a:ext cx="137733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模型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6" name="直接箭头连接符 85"/>
          <p:cNvCxnSpPr/>
          <p:nvPr/>
        </p:nvCxnSpPr>
        <p:spPr>
          <a:xfrm>
            <a:off x="3923679" y="3136398"/>
            <a:ext cx="3810" cy="4787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/>
          <p:nvPr/>
        </p:nvCxnSpPr>
        <p:spPr>
          <a:xfrm flipH="1">
            <a:off x="4935616" y="3136398"/>
            <a:ext cx="635" cy="4914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/>
          <p:nvPr/>
        </p:nvCxnSpPr>
        <p:spPr>
          <a:xfrm>
            <a:off x="6345511" y="3130629"/>
            <a:ext cx="3810" cy="4826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矩形 89"/>
          <p:cNvSpPr/>
          <p:nvPr/>
        </p:nvSpPr>
        <p:spPr>
          <a:xfrm>
            <a:off x="3453010" y="3620585"/>
            <a:ext cx="4157542" cy="368804"/>
          </a:xfrm>
          <a:prstGeom prst="rect">
            <a:avLst/>
          </a:prstGeom>
          <a:solidFill>
            <a:srgbClr val="C5DC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2" name="直接箭头连接符 91"/>
          <p:cNvCxnSpPr/>
          <p:nvPr/>
        </p:nvCxnSpPr>
        <p:spPr>
          <a:xfrm flipH="1">
            <a:off x="4664283" y="3991432"/>
            <a:ext cx="1" cy="11289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任意多边形: 形状 94"/>
          <p:cNvSpPr/>
          <p:nvPr/>
        </p:nvSpPr>
        <p:spPr>
          <a:xfrm>
            <a:off x="4541520" y="4574540"/>
            <a:ext cx="121920" cy="89535"/>
          </a:xfrm>
          <a:custGeom>
            <a:avLst/>
            <a:gdLst>
              <a:gd name="connsiteX0" fmla="*/ 0 w 121920"/>
              <a:gd name="connsiteY0" fmla="*/ 0 h 89535"/>
              <a:gd name="connsiteX1" fmla="*/ 121920 w 121920"/>
              <a:gd name="connsiteY1" fmla="*/ 89535 h 89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20" h="89535">
                <a:moveTo>
                  <a:pt x="0" y="0"/>
                </a:moveTo>
                <a:cubicBezTo>
                  <a:pt x="51117" y="27464"/>
                  <a:pt x="102235" y="54928"/>
                  <a:pt x="121920" y="89535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3453010" y="4122186"/>
            <a:ext cx="1088510" cy="872104"/>
          </a:xfrm>
          <a:prstGeom prst="rect">
            <a:avLst/>
          </a:prstGeom>
          <a:solidFill>
            <a:srgbClr val="C5DC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网格搜索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最佳参数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4944751" y="4198371"/>
            <a:ext cx="1676263" cy="418658"/>
          </a:xfrm>
          <a:prstGeom prst="rect">
            <a:avLst/>
          </a:prstGeom>
          <a:solidFill>
            <a:srgbClr val="E18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月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日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4943907" y="4616682"/>
            <a:ext cx="1676263" cy="418658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可怕的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6691445" y="4407700"/>
            <a:ext cx="1016047" cy="368801"/>
          </a:xfrm>
          <a:prstGeom prst="rect">
            <a:avLst/>
          </a:prstGeom>
          <a:solidFill>
            <a:srgbClr val="C5DC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预测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6749974" y="5224693"/>
            <a:ext cx="874171" cy="455369"/>
          </a:xfrm>
          <a:prstGeom prst="rect">
            <a:avLst/>
          </a:prstGeom>
          <a:solidFill>
            <a:srgbClr val="C5DC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3447078" y="5200010"/>
            <a:ext cx="1583296" cy="540665"/>
          </a:xfrm>
          <a:prstGeom prst="rect">
            <a:avLst/>
          </a:prstGeom>
          <a:solidFill>
            <a:srgbClr val="2B76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随机森林</a:t>
            </a:r>
            <a:endParaRPr lang="zh-CN" alt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1" name="直接箭头连接符 100"/>
          <p:cNvCxnSpPr>
            <a:endCxn id="99" idx="1"/>
          </p:cNvCxnSpPr>
          <p:nvPr/>
        </p:nvCxnSpPr>
        <p:spPr>
          <a:xfrm flipV="1">
            <a:off x="5025883" y="5452378"/>
            <a:ext cx="1724091" cy="80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>
            <a:stCxn id="99" idx="0"/>
          </p:cNvCxnSpPr>
          <p:nvPr/>
        </p:nvCxnSpPr>
        <p:spPr>
          <a:xfrm flipV="1">
            <a:off x="7187060" y="4801184"/>
            <a:ext cx="12408" cy="4235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/>
          <p:cNvCxnSpPr>
            <a:stCxn id="98" idx="3"/>
          </p:cNvCxnSpPr>
          <p:nvPr/>
        </p:nvCxnSpPr>
        <p:spPr>
          <a:xfrm flipV="1">
            <a:off x="7707492" y="4592100"/>
            <a:ext cx="382551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矩形 109"/>
          <p:cNvSpPr/>
          <p:nvPr/>
        </p:nvSpPr>
        <p:spPr>
          <a:xfrm>
            <a:off x="8367533" y="927283"/>
            <a:ext cx="897668" cy="470382"/>
          </a:xfrm>
          <a:prstGeom prst="rect">
            <a:avLst/>
          </a:prstGeom>
          <a:solidFill>
            <a:srgbClr val="DFC9EF"/>
          </a:solidFill>
          <a:ln>
            <a:solidFill>
              <a:srgbClr val="DFC9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词属性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1" name="直接箭头连接符 110"/>
          <p:cNvCxnSpPr/>
          <p:nvPr/>
        </p:nvCxnSpPr>
        <p:spPr>
          <a:xfrm>
            <a:off x="9279819" y="1159930"/>
            <a:ext cx="29344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矩形 112"/>
          <p:cNvSpPr/>
          <p:nvPr/>
        </p:nvSpPr>
        <p:spPr>
          <a:xfrm>
            <a:off x="9527731" y="796648"/>
            <a:ext cx="1236332" cy="279032"/>
          </a:xfrm>
          <a:prstGeom prst="rect">
            <a:avLst/>
          </a:prstGeom>
          <a:solidFill>
            <a:srgbClr val="712CA1"/>
          </a:solidFill>
          <a:ln>
            <a:solidFill>
              <a:srgbClr val="712C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非线性相关</a:t>
            </a:r>
            <a:endParaRPr lang="zh-CN" altLang="en-US" sz="1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9548088" y="1258149"/>
            <a:ext cx="1236332" cy="279032"/>
          </a:xfrm>
          <a:prstGeom prst="rect">
            <a:avLst/>
          </a:prstGeom>
          <a:solidFill>
            <a:srgbClr val="712CA1"/>
          </a:solidFill>
          <a:ln>
            <a:solidFill>
              <a:srgbClr val="712C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无明显差异</a:t>
            </a:r>
            <a:endParaRPr lang="zh-CN" altLang="en-US" sz="1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5" name="直接箭头连接符 114"/>
          <p:cNvCxnSpPr/>
          <p:nvPr/>
        </p:nvCxnSpPr>
        <p:spPr>
          <a:xfrm flipH="1">
            <a:off x="10689519" y="1166354"/>
            <a:ext cx="29344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矩形 115"/>
          <p:cNvSpPr/>
          <p:nvPr/>
        </p:nvSpPr>
        <p:spPr>
          <a:xfrm>
            <a:off x="10982960" y="886435"/>
            <a:ext cx="897668" cy="511219"/>
          </a:xfrm>
          <a:prstGeom prst="rect">
            <a:avLst/>
          </a:prstGeom>
          <a:solidFill>
            <a:srgbClr val="DFC9EF"/>
          </a:solidFill>
          <a:ln>
            <a:solidFill>
              <a:srgbClr val="DFC9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困难模式</a:t>
            </a:r>
            <a:endParaRPr lang="zh-CN" alt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百分比</a:t>
            </a:r>
            <a:endParaRPr lang="zh-CN" alt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8375025" y="1859183"/>
            <a:ext cx="1962393" cy="368494"/>
          </a:xfrm>
          <a:prstGeom prst="rect">
            <a:avLst/>
          </a:prstGeom>
          <a:solidFill>
            <a:srgbClr val="DFC9EF"/>
          </a:solidFill>
          <a:ln>
            <a:solidFill>
              <a:srgbClr val="DFC9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地狱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级别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:PAPER</a:t>
            </a:r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8" name="直接箭头连接符 117"/>
          <p:cNvCxnSpPr/>
          <p:nvPr/>
        </p:nvCxnSpPr>
        <p:spPr>
          <a:xfrm>
            <a:off x="10337418" y="2061924"/>
            <a:ext cx="44700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矩形 119"/>
          <p:cNvSpPr/>
          <p:nvPr/>
        </p:nvSpPr>
        <p:spPr>
          <a:xfrm>
            <a:off x="10796318" y="1822928"/>
            <a:ext cx="1084310" cy="430688"/>
          </a:xfrm>
          <a:prstGeom prst="rect">
            <a:avLst/>
          </a:prstGeom>
          <a:solidFill>
            <a:srgbClr val="712CA1"/>
          </a:solidFill>
          <a:ln>
            <a:solidFill>
              <a:srgbClr val="712C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难以猜测</a:t>
            </a:r>
            <a:endParaRPr lang="zh-CN" alt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8006765" y="3168108"/>
            <a:ext cx="4016429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基于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K-Means++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的难度路径分类模型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3" name="对象 122"/>
          <p:cNvGraphicFramePr>
            <a:graphicFrameLocks noChangeAspect="1"/>
          </p:cNvGraphicFramePr>
          <p:nvPr/>
        </p:nvGraphicFramePr>
        <p:xfrm>
          <a:off x="8331061" y="3592562"/>
          <a:ext cx="1335579" cy="368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" name="AxMath" r:id="rId7" imgW="1143000" imgH="1143000" progId="Equation.AxMath">
                  <p:embed/>
                </p:oleObj>
              </mc:Choice>
              <mc:Fallback>
                <p:oleObj name="AxMath" r:id="rId7" imgW="1143000" imgH="1143000" progId="Equation.AxMath">
                  <p:embed/>
                  <p:pic>
                    <p:nvPicPr>
                      <p:cNvPr id="0" name="图片 108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331061" y="3592562"/>
                        <a:ext cx="1335579" cy="3689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" name="矩形 125"/>
          <p:cNvSpPr/>
          <p:nvPr/>
        </p:nvSpPr>
        <p:spPr>
          <a:xfrm>
            <a:off x="8484870" y="3969771"/>
            <a:ext cx="871284" cy="457200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难度率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8478740" y="5222862"/>
            <a:ext cx="871284" cy="457200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K-Means++</a:t>
            </a:r>
            <a:endParaRPr lang="en-US" altLang="zh-C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聚类分析</a:t>
            </a:r>
            <a:endParaRPr lang="zh-CN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8" name="直接箭头连接符 127"/>
          <p:cNvCxnSpPr/>
          <p:nvPr/>
        </p:nvCxnSpPr>
        <p:spPr>
          <a:xfrm>
            <a:off x="8914382" y="4426971"/>
            <a:ext cx="0" cy="7921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/>
          <p:cNvCxnSpPr/>
          <p:nvPr/>
        </p:nvCxnSpPr>
        <p:spPr>
          <a:xfrm>
            <a:off x="9350024" y="5433695"/>
            <a:ext cx="66495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矩形 134"/>
          <p:cNvSpPr/>
          <p:nvPr/>
        </p:nvSpPr>
        <p:spPr>
          <a:xfrm>
            <a:off x="10050146" y="5219166"/>
            <a:ext cx="871284" cy="457200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难度分类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6" name="直接箭头连接符 135"/>
          <p:cNvCxnSpPr/>
          <p:nvPr/>
        </p:nvCxnSpPr>
        <p:spPr>
          <a:xfrm flipV="1">
            <a:off x="10433382" y="4714762"/>
            <a:ext cx="0" cy="4852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平行四边形 138"/>
          <p:cNvSpPr/>
          <p:nvPr/>
        </p:nvSpPr>
        <p:spPr>
          <a:xfrm>
            <a:off x="10085562" y="4495326"/>
            <a:ext cx="871284" cy="193548"/>
          </a:xfrm>
          <a:prstGeom prst="parallelogram">
            <a:avLst>
              <a:gd name="adj" fmla="val 105540"/>
            </a:avLst>
          </a:prstGeom>
          <a:solidFill>
            <a:srgbClr val="90BE7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0" name="平行四边形 139"/>
          <p:cNvSpPr/>
          <p:nvPr/>
        </p:nvSpPr>
        <p:spPr>
          <a:xfrm>
            <a:off x="10085562" y="4383633"/>
            <a:ext cx="871284" cy="193548"/>
          </a:xfrm>
          <a:prstGeom prst="parallelogram">
            <a:avLst>
              <a:gd name="adj" fmla="val 105540"/>
            </a:avLst>
          </a:prstGeom>
          <a:solidFill>
            <a:srgbClr val="90BE7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1" name="平行四边形 140"/>
          <p:cNvSpPr/>
          <p:nvPr/>
        </p:nvSpPr>
        <p:spPr>
          <a:xfrm>
            <a:off x="10085562" y="4286859"/>
            <a:ext cx="871284" cy="193548"/>
          </a:xfrm>
          <a:prstGeom prst="parallelogram">
            <a:avLst>
              <a:gd name="adj" fmla="val 105540"/>
            </a:avLst>
          </a:prstGeom>
          <a:solidFill>
            <a:srgbClr val="BDC37A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2" name="平行四边形 141"/>
          <p:cNvSpPr/>
          <p:nvPr/>
        </p:nvSpPr>
        <p:spPr>
          <a:xfrm>
            <a:off x="10105104" y="4168881"/>
            <a:ext cx="871284" cy="193548"/>
          </a:xfrm>
          <a:prstGeom prst="parallelogram">
            <a:avLst>
              <a:gd name="adj" fmla="val 105540"/>
            </a:avLst>
          </a:prstGeom>
          <a:solidFill>
            <a:srgbClr val="90BE7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8" name="平行四边形 137"/>
          <p:cNvSpPr/>
          <p:nvPr/>
        </p:nvSpPr>
        <p:spPr>
          <a:xfrm>
            <a:off x="10111676" y="4057527"/>
            <a:ext cx="871284" cy="193548"/>
          </a:xfrm>
          <a:prstGeom prst="parallelogram">
            <a:avLst>
              <a:gd name="adj" fmla="val 105540"/>
            </a:avLst>
          </a:prstGeom>
          <a:solidFill>
            <a:srgbClr val="90BE7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3" name="文本框 142"/>
          <p:cNvSpPr txBox="1"/>
          <p:nvPr/>
        </p:nvSpPr>
        <p:spPr>
          <a:xfrm>
            <a:off x="9940523" y="4602392"/>
            <a:ext cx="114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1</a:t>
            </a:r>
            <a:endParaRPr lang="en-US" altLang="zh-CN" sz="800" dirty="0"/>
          </a:p>
        </p:txBody>
      </p:sp>
      <p:sp>
        <p:nvSpPr>
          <p:cNvPr id="144" name="文本框 143"/>
          <p:cNvSpPr txBox="1"/>
          <p:nvPr/>
        </p:nvSpPr>
        <p:spPr>
          <a:xfrm>
            <a:off x="9940523" y="4450715"/>
            <a:ext cx="114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2</a:t>
            </a:r>
            <a:endParaRPr lang="en-US" altLang="zh-CN" sz="800" dirty="0"/>
          </a:p>
        </p:txBody>
      </p:sp>
      <p:sp>
        <p:nvSpPr>
          <p:cNvPr id="145" name="文本框 144"/>
          <p:cNvSpPr txBox="1"/>
          <p:nvPr/>
        </p:nvSpPr>
        <p:spPr>
          <a:xfrm>
            <a:off x="9940523" y="4348372"/>
            <a:ext cx="114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3</a:t>
            </a:r>
            <a:endParaRPr lang="en-US" altLang="zh-CN" sz="800" dirty="0"/>
          </a:p>
        </p:txBody>
      </p:sp>
      <p:sp>
        <p:nvSpPr>
          <p:cNvPr id="146" name="文本框 145"/>
          <p:cNvSpPr txBox="1"/>
          <p:nvPr/>
        </p:nvSpPr>
        <p:spPr>
          <a:xfrm>
            <a:off x="9940523" y="4235271"/>
            <a:ext cx="114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4</a:t>
            </a:r>
            <a:endParaRPr lang="en-US" altLang="zh-CN" sz="800" dirty="0"/>
          </a:p>
        </p:txBody>
      </p:sp>
      <p:sp>
        <p:nvSpPr>
          <p:cNvPr id="147" name="文本框 146"/>
          <p:cNvSpPr txBox="1"/>
          <p:nvPr/>
        </p:nvSpPr>
        <p:spPr>
          <a:xfrm>
            <a:off x="9940523" y="4131417"/>
            <a:ext cx="114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5</a:t>
            </a:r>
            <a:endParaRPr lang="en-US" altLang="zh-CN" sz="800" dirty="0"/>
          </a:p>
        </p:txBody>
      </p:sp>
      <p:cxnSp>
        <p:nvCxnSpPr>
          <p:cNvPr id="148" name="直接箭头连接符 147"/>
          <p:cNvCxnSpPr/>
          <p:nvPr/>
        </p:nvCxnSpPr>
        <p:spPr>
          <a:xfrm>
            <a:off x="10976388" y="4383633"/>
            <a:ext cx="1402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矩形 151"/>
          <p:cNvSpPr/>
          <p:nvPr/>
        </p:nvSpPr>
        <p:spPr>
          <a:xfrm>
            <a:off x="11107556" y="4267594"/>
            <a:ext cx="915637" cy="251834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怪异的</a:t>
            </a:r>
            <a:endParaRPr lang="zh-CN" alt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677342" y="420414"/>
            <a:ext cx="5402317" cy="3111062"/>
          </a:xfrm>
          <a:prstGeom prst="rect">
            <a:avLst/>
          </a:prstGeom>
          <a:noFill/>
          <a:ln w="28575">
            <a:solidFill>
              <a:srgbClr val="7084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1800733" y="774192"/>
            <a:ext cx="2048256" cy="2596896"/>
          </a:xfrm>
          <a:prstGeom prst="roundRect">
            <a:avLst/>
          </a:prstGeom>
          <a:noFill/>
          <a:ln w="190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132965" y="693052"/>
            <a:ext cx="1383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Superior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Indicators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095246" y="1420523"/>
            <a:ext cx="1459230" cy="420624"/>
          </a:xfrm>
          <a:prstGeom prst="rect">
            <a:avLst/>
          </a:prstGeom>
          <a:solidFill>
            <a:srgbClr val="FFECB2"/>
          </a:solidFill>
          <a:ln>
            <a:solidFill>
              <a:srgbClr val="FFEC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Society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095246" y="1897221"/>
            <a:ext cx="1459230" cy="420624"/>
          </a:xfrm>
          <a:prstGeom prst="rect">
            <a:avLst/>
          </a:prstGeom>
          <a:solidFill>
            <a:srgbClr val="FFECB2"/>
          </a:solidFill>
          <a:ln>
            <a:solidFill>
              <a:srgbClr val="FFEC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Ecology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095246" y="2373919"/>
            <a:ext cx="1459230" cy="420624"/>
          </a:xfrm>
          <a:prstGeom prst="rect">
            <a:avLst/>
          </a:prstGeom>
          <a:solidFill>
            <a:srgbClr val="FFECB2"/>
          </a:solidFill>
          <a:ln>
            <a:solidFill>
              <a:srgbClr val="FFEC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Traffic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095246" y="2850618"/>
            <a:ext cx="1459230" cy="420624"/>
          </a:xfrm>
          <a:prstGeom prst="rect">
            <a:avLst/>
          </a:prstGeom>
          <a:solidFill>
            <a:srgbClr val="FFECB2"/>
          </a:solidFill>
          <a:ln>
            <a:solidFill>
              <a:srgbClr val="FFEC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3886708" y="885075"/>
            <a:ext cx="1291209" cy="237513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</a:t>
            </a:r>
            <a:endParaRPr lang="en-US" altLang="zh-C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Indicatores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5702175" y="885075"/>
            <a:ext cx="1291209" cy="237513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Multilayer factor metric of light pollution risk level 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5068545" y="1529080"/>
            <a:ext cx="742999" cy="411127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EWM</a:t>
            </a:r>
            <a:endParaRPr lang="zh-CN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箭头: 右 15"/>
          <p:cNvSpPr/>
          <p:nvPr/>
        </p:nvSpPr>
        <p:spPr>
          <a:xfrm>
            <a:off x="5215205" y="1989748"/>
            <a:ext cx="480570" cy="29600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矩形: 圆角 16"/>
          <p:cNvSpPr/>
          <p:nvPr/>
        </p:nvSpPr>
        <p:spPr>
          <a:xfrm>
            <a:off x="1962785" y="265480"/>
            <a:ext cx="1026160" cy="371094"/>
          </a:xfrm>
          <a:prstGeom prst="roundRect">
            <a:avLst/>
          </a:prstGeom>
          <a:solidFill>
            <a:srgbClr val="355D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334200" y="408986"/>
            <a:ext cx="3592245" cy="3111062"/>
          </a:xfrm>
          <a:prstGeom prst="rect">
            <a:avLst/>
          </a:prstGeom>
          <a:noFill/>
          <a:ln w="28575">
            <a:solidFill>
              <a:srgbClr val="7084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矩形: 圆角 18"/>
          <p:cNvSpPr/>
          <p:nvPr/>
        </p:nvSpPr>
        <p:spPr>
          <a:xfrm>
            <a:off x="7599217" y="234867"/>
            <a:ext cx="1026160" cy="371094"/>
          </a:xfrm>
          <a:prstGeom prst="roundRect">
            <a:avLst/>
          </a:prstGeom>
          <a:solidFill>
            <a:srgbClr val="355D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7374172" y="1584459"/>
            <a:ext cx="990625" cy="411127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</a:t>
            </a:r>
            <a:endParaRPr lang="zh-CN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连接符 21"/>
          <p:cNvCxnSpPr>
            <a:stCxn id="14" idx="3"/>
          </p:cNvCxnSpPr>
          <p:nvPr/>
        </p:nvCxnSpPr>
        <p:spPr>
          <a:xfrm>
            <a:off x="6993384" y="2072640"/>
            <a:ext cx="148450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8477885" y="911860"/>
            <a:ext cx="0" cy="21490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8477885" y="911860"/>
            <a:ext cx="5181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8477885" y="1681480"/>
            <a:ext cx="5181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8477885" y="2258060"/>
            <a:ext cx="5181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8474075" y="3057120"/>
            <a:ext cx="5181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8992237" y="551075"/>
            <a:ext cx="1755133" cy="749299"/>
          </a:xfrm>
          <a:prstGeom prst="rect">
            <a:avLst/>
          </a:prstGeom>
          <a:solidFill>
            <a:srgbClr val="FCEA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in a protected land location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992236" y="1392064"/>
            <a:ext cx="1755133" cy="580214"/>
          </a:xfrm>
          <a:prstGeom prst="rect">
            <a:avLst/>
          </a:prstGeom>
          <a:solidFill>
            <a:srgbClr val="FCEA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in a rural community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992235" y="2027738"/>
            <a:ext cx="1755133" cy="580214"/>
          </a:xfrm>
          <a:prstGeom prst="rect">
            <a:avLst/>
          </a:prstGeom>
          <a:solidFill>
            <a:srgbClr val="FCEA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in a urban community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8992234" y="2678042"/>
            <a:ext cx="1755133" cy="732799"/>
          </a:xfrm>
          <a:prstGeom prst="rect">
            <a:avLst/>
          </a:prstGeom>
          <a:solidFill>
            <a:srgbClr val="FCEA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in a suburban </a:t>
            </a:r>
            <a:r>
              <a:rPr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dommunity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226129" y="3996136"/>
            <a:ext cx="4742986" cy="2557549"/>
          </a:xfrm>
          <a:prstGeom prst="rect">
            <a:avLst/>
          </a:prstGeom>
          <a:noFill/>
          <a:ln w="28575">
            <a:solidFill>
              <a:srgbClr val="7084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7" name="矩形: 圆角 36"/>
          <p:cNvSpPr/>
          <p:nvPr/>
        </p:nvSpPr>
        <p:spPr>
          <a:xfrm>
            <a:off x="6480304" y="3867609"/>
            <a:ext cx="1026160" cy="371094"/>
          </a:xfrm>
          <a:prstGeom prst="roundRect">
            <a:avLst/>
          </a:prstGeom>
          <a:solidFill>
            <a:srgbClr val="355D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箭头: 右 37"/>
          <p:cNvSpPr/>
          <p:nvPr/>
        </p:nvSpPr>
        <p:spPr>
          <a:xfrm rot="5400000">
            <a:off x="9750049" y="3580384"/>
            <a:ext cx="456769" cy="374739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9" name="矩形: 圆角 38"/>
          <p:cNvSpPr/>
          <p:nvPr/>
        </p:nvSpPr>
        <p:spPr>
          <a:xfrm>
            <a:off x="6343934" y="4559802"/>
            <a:ext cx="1140917" cy="1533283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Impacts level prediction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7794338" y="4546096"/>
            <a:ext cx="1140917" cy="1533283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strategies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箭头: 右 40"/>
          <p:cNvSpPr/>
          <p:nvPr/>
        </p:nvSpPr>
        <p:spPr>
          <a:xfrm rot="10800000">
            <a:off x="7388914" y="5164734"/>
            <a:ext cx="480570" cy="29600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箭头: 右 41"/>
          <p:cNvSpPr/>
          <p:nvPr/>
        </p:nvSpPr>
        <p:spPr>
          <a:xfrm rot="10800000">
            <a:off x="5788024" y="5326442"/>
            <a:ext cx="359039" cy="29600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9014321" y="4208176"/>
            <a:ext cx="1755133" cy="843418"/>
          </a:xfrm>
          <a:prstGeom prst="rect">
            <a:avLst/>
          </a:prstGeom>
          <a:solidFill>
            <a:srgbClr val="A3BA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situations in four locations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9014321" y="5603964"/>
            <a:ext cx="1755133" cy="843418"/>
          </a:xfrm>
          <a:prstGeom prst="rect">
            <a:avLst/>
          </a:prstGeom>
          <a:solidFill>
            <a:srgbClr val="A3BA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Ideal visions in four location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9939655" y="5078730"/>
            <a:ext cx="0" cy="4838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flipH="1">
            <a:off x="8935256" y="5312737"/>
            <a:ext cx="10043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1677342" y="4427572"/>
            <a:ext cx="4083136" cy="2126113"/>
          </a:xfrm>
          <a:prstGeom prst="rect">
            <a:avLst/>
          </a:prstGeom>
          <a:noFill/>
          <a:ln w="28575">
            <a:solidFill>
              <a:srgbClr val="7084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矩形: 圆角 51"/>
          <p:cNvSpPr/>
          <p:nvPr/>
        </p:nvSpPr>
        <p:spPr>
          <a:xfrm>
            <a:off x="1855123" y="4242025"/>
            <a:ext cx="1026160" cy="371094"/>
          </a:xfrm>
          <a:prstGeom prst="roundRect">
            <a:avLst/>
          </a:prstGeom>
          <a:solidFill>
            <a:srgbClr val="355D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矩形: 圆角 52"/>
          <p:cNvSpPr/>
          <p:nvPr/>
        </p:nvSpPr>
        <p:spPr>
          <a:xfrm>
            <a:off x="1905406" y="4807556"/>
            <a:ext cx="1140917" cy="1533283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</a:t>
            </a:r>
            <a:endParaRPr lang="en-US" altLang="zh-C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矩形: 剪去顶角 53"/>
          <p:cNvSpPr/>
          <p:nvPr/>
        </p:nvSpPr>
        <p:spPr>
          <a:xfrm>
            <a:off x="4299810" y="4740380"/>
            <a:ext cx="1318739" cy="676700"/>
          </a:xfrm>
          <a:prstGeom prst="snip2SameRect">
            <a:avLst/>
          </a:prstGeom>
          <a:solidFill>
            <a:srgbClr val="CEE1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suburban Community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矩形: 剪去顶角 54"/>
          <p:cNvSpPr/>
          <p:nvPr/>
        </p:nvSpPr>
        <p:spPr>
          <a:xfrm>
            <a:off x="4299810" y="5663669"/>
            <a:ext cx="1318739" cy="676700"/>
          </a:xfrm>
          <a:prstGeom prst="snip2SameRect">
            <a:avLst/>
          </a:prstGeom>
          <a:solidFill>
            <a:srgbClr val="CEE1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urban Community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3125389" y="4851072"/>
            <a:ext cx="1141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strayegy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185421" y="5663669"/>
            <a:ext cx="9596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planning strategy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" name="直接连接符 57"/>
          <p:cNvCxnSpPr>
            <a:stCxn id="56" idx="3"/>
          </p:cNvCxnSpPr>
          <p:nvPr/>
        </p:nvCxnSpPr>
        <p:spPr>
          <a:xfrm flipH="1">
            <a:off x="3959225" y="5081905"/>
            <a:ext cx="30748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H="1">
            <a:off x="3994785" y="5986834"/>
            <a:ext cx="271928" cy="151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flipH="1">
            <a:off x="3094990" y="5094249"/>
            <a:ext cx="30708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 flipH="1">
            <a:off x="3079669" y="5986834"/>
            <a:ext cx="30708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425247" y="420414"/>
            <a:ext cx="5402317" cy="3111062"/>
          </a:xfrm>
          <a:prstGeom prst="rect">
            <a:avLst/>
          </a:prstGeom>
          <a:noFill/>
          <a:ln w="28575">
            <a:solidFill>
              <a:srgbClr val="7084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1548638" y="774192"/>
            <a:ext cx="2048256" cy="2596896"/>
          </a:xfrm>
          <a:prstGeom prst="roundRect">
            <a:avLst/>
          </a:prstGeom>
          <a:noFill/>
          <a:ln w="190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880870" y="912127"/>
            <a:ext cx="138379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高级指标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843151" y="1420523"/>
            <a:ext cx="1459230" cy="420624"/>
          </a:xfrm>
          <a:prstGeom prst="rect">
            <a:avLst/>
          </a:prstGeom>
          <a:solidFill>
            <a:srgbClr val="FFECB2"/>
          </a:solidFill>
          <a:ln>
            <a:solidFill>
              <a:srgbClr val="FFEC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社会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843151" y="1897221"/>
            <a:ext cx="1459230" cy="420624"/>
          </a:xfrm>
          <a:prstGeom prst="rect">
            <a:avLst/>
          </a:prstGeom>
          <a:solidFill>
            <a:srgbClr val="FFECB2"/>
          </a:solidFill>
          <a:ln>
            <a:solidFill>
              <a:srgbClr val="FFEC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生态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843151" y="2373919"/>
            <a:ext cx="1459230" cy="420624"/>
          </a:xfrm>
          <a:prstGeom prst="rect">
            <a:avLst/>
          </a:prstGeom>
          <a:solidFill>
            <a:srgbClr val="FFECB2"/>
          </a:solidFill>
          <a:ln>
            <a:solidFill>
              <a:srgbClr val="FFEC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交通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843151" y="2850618"/>
            <a:ext cx="1459230" cy="420624"/>
          </a:xfrm>
          <a:prstGeom prst="rect">
            <a:avLst/>
          </a:prstGeom>
          <a:solidFill>
            <a:srgbClr val="FFECB2"/>
          </a:solidFill>
          <a:ln>
            <a:solidFill>
              <a:srgbClr val="FFEC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能源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3634613" y="885075"/>
            <a:ext cx="1291209" cy="237513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指标识别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5450080" y="885075"/>
            <a:ext cx="1291209" cy="237513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光污染风险等级的多层因子指标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4816450" y="1529080"/>
            <a:ext cx="742999" cy="411127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EWM</a:t>
            </a:r>
            <a:endParaRPr lang="zh-CN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箭头: 右 15"/>
          <p:cNvSpPr/>
          <p:nvPr/>
        </p:nvSpPr>
        <p:spPr>
          <a:xfrm>
            <a:off x="4963110" y="1989748"/>
            <a:ext cx="480570" cy="29600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矩形: 圆角 16"/>
          <p:cNvSpPr/>
          <p:nvPr/>
        </p:nvSpPr>
        <p:spPr>
          <a:xfrm>
            <a:off x="1710690" y="265480"/>
            <a:ext cx="1026160" cy="371094"/>
          </a:xfrm>
          <a:prstGeom prst="roundRect">
            <a:avLst/>
          </a:prstGeom>
          <a:solidFill>
            <a:srgbClr val="355D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任务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082105" y="408986"/>
            <a:ext cx="3592245" cy="3111062"/>
          </a:xfrm>
          <a:prstGeom prst="rect">
            <a:avLst/>
          </a:prstGeom>
          <a:noFill/>
          <a:ln w="28575">
            <a:solidFill>
              <a:srgbClr val="7084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矩形: 圆角 18"/>
          <p:cNvSpPr/>
          <p:nvPr/>
        </p:nvSpPr>
        <p:spPr>
          <a:xfrm>
            <a:off x="7347122" y="234867"/>
            <a:ext cx="1026160" cy="371094"/>
          </a:xfrm>
          <a:prstGeom prst="roundRect">
            <a:avLst/>
          </a:prstGeom>
          <a:solidFill>
            <a:srgbClr val="355D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任务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7082155" y="1584325"/>
            <a:ext cx="1140460" cy="410845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lang="en-US" altLang="zh-CN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Means</a:t>
            </a:r>
            <a:endParaRPr lang="en-US" altLang="zh-CN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连接符 21"/>
          <p:cNvCxnSpPr>
            <a:stCxn id="14" idx="3"/>
          </p:cNvCxnSpPr>
          <p:nvPr/>
        </p:nvCxnSpPr>
        <p:spPr>
          <a:xfrm>
            <a:off x="6741289" y="2072640"/>
            <a:ext cx="148450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8225790" y="911860"/>
            <a:ext cx="0" cy="21490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8225790" y="911860"/>
            <a:ext cx="5181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8225790" y="1681480"/>
            <a:ext cx="5181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8225790" y="2258060"/>
            <a:ext cx="5181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8221980" y="3057120"/>
            <a:ext cx="5181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8740142" y="551075"/>
            <a:ext cx="1755133" cy="749299"/>
          </a:xfrm>
          <a:prstGeom prst="rect">
            <a:avLst/>
          </a:prstGeom>
          <a:solidFill>
            <a:srgbClr val="FCEA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在保护区位置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的应用</a:t>
            </a:r>
            <a:endParaRPr lang="en-US" altLang="zh-C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740141" y="1392064"/>
            <a:ext cx="1755133" cy="580214"/>
          </a:xfrm>
          <a:prstGeom prst="rect">
            <a:avLst/>
          </a:prstGeom>
          <a:solidFill>
            <a:srgbClr val="FCEA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在农村社区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的应用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740140" y="2027738"/>
            <a:ext cx="1755133" cy="580214"/>
          </a:xfrm>
          <a:prstGeom prst="rect">
            <a:avLst/>
          </a:prstGeom>
          <a:solidFill>
            <a:srgbClr val="FCEA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在城市社区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的应用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8740139" y="2678042"/>
            <a:ext cx="1755133" cy="732799"/>
          </a:xfrm>
          <a:prstGeom prst="rect">
            <a:avLst/>
          </a:prstGeom>
          <a:solidFill>
            <a:srgbClr val="FCEA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在郊区社区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的应用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974034" y="3996136"/>
            <a:ext cx="4742986" cy="2557549"/>
          </a:xfrm>
          <a:prstGeom prst="rect">
            <a:avLst/>
          </a:prstGeom>
          <a:noFill/>
          <a:ln w="28575">
            <a:solidFill>
              <a:srgbClr val="7084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7" name="矩形: 圆角 36"/>
          <p:cNvSpPr/>
          <p:nvPr/>
        </p:nvSpPr>
        <p:spPr>
          <a:xfrm>
            <a:off x="6228209" y="3867609"/>
            <a:ext cx="1026160" cy="371094"/>
          </a:xfrm>
          <a:prstGeom prst="roundRect">
            <a:avLst/>
          </a:prstGeom>
          <a:solidFill>
            <a:srgbClr val="355D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任务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箭头: 右 37"/>
          <p:cNvSpPr/>
          <p:nvPr/>
        </p:nvSpPr>
        <p:spPr>
          <a:xfrm rot="5400000">
            <a:off x="9494520" y="3590925"/>
            <a:ext cx="411480" cy="33718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9" name="矩形: 圆角 38"/>
          <p:cNvSpPr/>
          <p:nvPr/>
        </p:nvSpPr>
        <p:spPr>
          <a:xfrm>
            <a:off x="6091839" y="4559802"/>
            <a:ext cx="1140917" cy="1533283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影响水平预测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7542243" y="4546096"/>
            <a:ext cx="1140917" cy="1533283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三种策略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箭头: 右 40"/>
          <p:cNvSpPr/>
          <p:nvPr/>
        </p:nvSpPr>
        <p:spPr>
          <a:xfrm rot="10800000">
            <a:off x="7136819" y="5164734"/>
            <a:ext cx="480570" cy="29600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箭头: 右 41"/>
          <p:cNvSpPr/>
          <p:nvPr/>
        </p:nvSpPr>
        <p:spPr>
          <a:xfrm rot="10800000">
            <a:off x="5535929" y="5326442"/>
            <a:ext cx="359039" cy="29600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8762226" y="4208176"/>
            <a:ext cx="1755133" cy="843418"/>
          </a:xfrm>
          <a:prstGeom prst="rect">
            <a:avLst/>
          </a:prstGeom>
          <a:solidFill>
            <a:srgbClr val="A3BA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四个地点的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平均情况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8762226" y="5603964"/>
            <a:ext cx="1755133" cy="843418"/>
          </a:xfrm>
          <a:prstGeom prst="rect">
            <a:avLst/>
          </a:prstGeom>
          <a:solidFill>
            <a:srgbClr val="A3BA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四个位置的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理想愿景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9687560" y="5078730"/>
            <a:ext cx="0" cy="4838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flipH="1">
            <a:off x="8683161" y="5312737"/>
            <a:ext cx="10043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1425247" y="4427572"/>
            <a:ext cx="4083136" cy="2126113"/>
          </a:xfrm>
          <a:prstGeom prst="rect">
            <a:avLst/>
          </a:prstGeom>
          <a:noFill/>
          <a:ln w="28575">
            <a:solidFill>
              <a:srgbClr val="7084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矩形: 圆角 51"/>
          <p:cNvSpPr/>
          <p:nvPr/>
        </p:nvSpPr>
        <p:spPr>
          <a:xfrm>
            <a:off x="1603028" y="4242025"/>
            <a:ext cx="1026160" cy="371094"/>
          </a:xfrm>
          <a:prstGeom prst="roundRect">
            <a:avLst/>
          </a:prstGeom>
          <a:solidFill>
            <a:srgbClr val="355D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任务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矩形: 圆角 52"/>
          <p:cNvSpPr/>
          <p:nvPr/>
        </p:nvSpPr>
        <p:spPr>
          <a:xfrm>
            <a:off x="1653311" y="4807556"/>
            <a:ext cx="1140917" cy="1533283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效果分析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矩形: 剪去顶角 53"/>
          <p:cNvSpPr/>
          <p:nvPr/>
        </p:nvSpPr>
        <p:spPr>
          <a:xfrm>
            <a:off x="4047715" y="4740380"/>
            <a:ext cx="1318739" cy="676700"/>
          </a:xfrm>
          <a:prstGeom prst="snip2SameRect">
            <a:avLst/>
          </a:prstGeom>
          <a:solidFill>
            <a:srgbClr val="CEE1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郊区社区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矩形: 剪去顶角 54"/>
          <p:cNvSpPr/>
          <p:nvPr/>
        </p:nvSpPr>
        <p:spPr>
          <a:xfrm>
            <a:off x="4047715" y="5663669"/>
            <a:ext cx="1318739" cy="676700"/>
          </a:xfrm>
          <a:prstGeom prst="snip2SameRect">
            <a:avLst/>
          </a:prstGeom>
          <a:solidFill>
            <a:srgbClr val="CEE1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城市社区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2873294" y="4851072"/>
            <a:ext cx="114132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能源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策咯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2933326" y="5663669"/>
            <a:ext cx="95964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城市规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划策略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" name="直接连接符 57"/>
          <p:cNvCxnSpPr>
            <a:stCxn id="56" idx="3"/>
          </p:cNvCxnSpPr>
          <p:nvPr/>
        </p:nvCxnSpPr>
        <p:spPr>
          <a:xfrm flipH="1">
            <a:off x="3707130" y="5081270"/>
            <a:ext cx="30748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>
            <a:stCxn id="55" idx="2"/>
          </p:cNvCxnSpPr>
          <p:nvPr/>
        </p:nvCxnSpPr>
        <p:spPr>
          <a:xfrm flipH="1">
            <a:off x="3742838" y="6002074"/>
            <a:ext cx="304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flipH="1">
            <a:off x="2842895" y="5094249"/>
            <a:ext cx="30708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 flipH="1">
            <a:off x="2827574" y="5986834"/>
            <a:ext cx="30708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/>
          <p:cNvSpPr/>
          <p:nvPr/>
        </p:nvSpPr>
        <p:spPr>
          <a:xfrm>
            <a:off x="1387518" y="547742"/>
            <a:ext cx="9122979" cy="5654566"/>
          </a:xfrm>
          <a:prstGeom prst="roundRect">
            <a:avLst/>
          </a:prstGeom>
          <a:solidFill>
            <a:srgbClr val="FEF6F0"/>
          </a:solidFill>
          <a:ln w="19050">
            <a:solidFill>
              <a:srgbClr val="75767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5" name="矩形: 圆角 54"/>
          <p:cNvSpPr/>
          <p:nvPr/>
        </p:nvSpPr>
        <p:spPr>
          <a:xfrm>
            <a:off x="1936381" y="3494110"/>
            <a:ext cx="8149140" cy="2058358"/>
          </a:xfrm>
          <a:prstGeom prst="roundRect">
            <a:avLst/>
          </a:prstGeom>
          <a:solidFill>
            <a:srgbClr val="FFFEF3"/>
          </a:solidFill>
          <a:ln w="19050">
            <a:solidFill>
              <a:srgbClr val="3E79D8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0" name="矩形: 圆角 29"/>
          <p:cNvSpPr/>
          <p:nvPr/>
        </p:nvSpPr>
        <p:spPr>
          <a:xfrm>
            <a:off x="5812995" y="1300365"/>
            <a:ext cx="4272526" cy="2058358"/>
          </a:xfrm>
          <a:prstGeom prst="roundRect">
            <a:avLst/>
          </a:prstGeom>
          <a:solidFill>
            <a:srgbClr val="FFF9FE"/>
          </a:solidFill>
          <a:ln w="19050">
            <a:solidFill>
              <a:srgbClr val="3E79D8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/>
        </p:nvSpPr>
        <p:spPr>
          <a:xfrm>
            <a:off x="1978988" y="1300365"/>
            <a:ext cx="3642360" cy="2058358"/>
          </a:xfrm>
          <a:prstGeom prst="roundRect">
            <a:avLst/>
          </a:prstGeom>
          <a:solidFill>
            <a:srgbClr val="F9F9F9"/>
          </a:solidFill>
          <a:ln w="19050">
            <a:solidFill>
              <a:srgbClr val="3E79D8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763088" y="960729"/>
            <a:ext cx="8514080" cy="4846320"/>
          </a:xfrm>
          <a:prstGeom prst="rect">
            <a:avLst/>
          </a:prstGeom>
          <a:noFill/>
          <a:ln w="19050">
            <a:solidFill>
              <a:srgbClr val="75767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237808" y="754990"/>
            <a:ext cx="1697990" cy="469899"/>
          </a:xfrm>
          <a:prstGeom prst="rect">
            <a:avLst/>
          </a:prstGeom>
          <a:solidFill>
            <a:srgbClr val="FE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347028" y="754990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SustainaDility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059246" y="5593124"/>
            <a:ext cx="2322322" cy="469899"/>
          </a:xfrm>
          <a:prstGeom prst="rect">
            <a:avLst/>
          </a:prstGeom>
          <a:solidFill>
            <a:srgbClr val="FE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148527" y="5635346"/>
            <a:ext cx="2143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Climate mitigation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080334" y="1349156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903997" y="1354561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4</a:t>
            </a:r>
            <a:endParaRPr lang="en-US" altLang="zh-CN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020136" y="3564462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2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487998" y="3578102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3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2061284" y="2236015"/>
            <a:ext cx="778002" cy="369332"/>
          </a:xfrm>
          <a:prstGeom prst="roundRect">
            <a:avLst/>
          </a:prstGeom>
          <a:gradFill flip="none" rotWithShape="1">
            <a:gsLst>
              <a:gs pos="0">
                <a:srgbClr val="F7E8D1"/>
              </a:gs>
              <a:gs pos="100000">
                <a:srgbClr val="E9C16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GGDP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2282174" y="2366399"/>
            <a:ext cx="936297" cy="2820890"/>
            <a:chOff x="2533216" y="-219228"/>
            <a:chExt cx="936297" cy="3191028"/>
          </a:xfrm>
        </p:grpSpPr>
        <p:cxnSp>
          <p:nvCxnSpPr>
            <p:cNvPr id="20" name="直接箭头连接符 19"/>
            <p:cNvCxnSpPr>
              <a:stCxn id="16" idx="3"/>
            </p:cNvCxnSpPr>
            <p:nvPr/>
          </p:nvCxnSpPr>
          <p:spPr>
            <a:xfrm>
              <a:off x="2533216" y="-219228"/>
              <a:ext cx="45542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>
              <a:off x="3213989" y="1644854"/>
              <a:ext cx="25552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/>
          </p:nvCxnSpPr>
          <p:spPr>
            <a:xfrm flipV="1">
              <a:off x="3213989" y="2970734"/>
              <a:ext cx="227711" cy="106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3213989" y="1644854"/>
              <a:ext cx="0" cy="132694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矩形: 圆角 26"/>
          <p:cNvSpPr/>
          <p:nvPr/>
        </p:nvSpPr>
        <p:spPr>
          <a:xfrm>
            <a:off x="3336236" y="1409916"/>
            <a:ext cx="1545963" cy="641528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Carbon dioxide </a:t>
            </a:r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emmissions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3285300" y="2173197"/>
            <a:ext cx="2157729" cy="548129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Consumption of              natural resource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3319422" y="2868597"/>
            <a:ext cx="2123608" cy="377933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 utilization cost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: 圆角 30"/>
          <p:cNvSpPr/>
          <p:nvPr/>
        </p:nvSpPr>
        <p:spPr>
          <a:xfrm>
            <a:off x="6096994" y="1785341"/>
            <a:ext cx="1111854" cy="519330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Industrial structure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9001024" y="2952291"/>
            <a:ext cx="869743" cy="344081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998409" y="2582959"/>
            <a:ext cx="1045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5</a:t>
            </a:r>
            <a:endParaRPr lang="en-US" altLang="zh-CN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: 圆角 33"/>
          <p:cNvSpPr/>
          <p:nvPr/>
        </p:nvSpPr>
        <p:spPr>
          <a:xfrm>
            <a:off x="8998409" y="1546013"/>
            <a:ext cx="795212" cy="411665"/>
          </a:xfrm>
          <a:prstGeom prst="roundRect">
            <a:avLst/>
          </a:prstGeom>
          <a:gradFill flip="none" rotWithShape="1">
            <a:gsLst>
              <a:gs pos="0">
                <a:srgbClr val="F7E8D1"/>
              </a:gs>
              <a:gs pos="100000">
                <a:srgbClr val="E9C16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Policy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6021017" y="2631527"/>
            <a:ext cx="1187831" cy="615003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 treatment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7550608" y="2192529"/>
            <a:ext cx="1045080" cy="548129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Australia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7391728" y="2031777"/>
            <a:ext cx="0" cy="9205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7391728" y="2474213"/>
            <a:ext cx="1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8595688" y="2474213"/>
            <a:ext cx="2012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8802063" y="1751845"/>
            <a:ext cx="0" cy="13724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flipH="1">
            <a:off x="7225358" y="2031777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flipH="1">
            <a:off x="7228533" y="2940861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>
            <a:off x="8796983" y="3124331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8794443" y="1751845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: 圆角 55"/>
          <p:cNvSpPr/>
          <p:nvPr/>
        </p:nvSpPr>
        <p:spPr>
          <a:xfrm>
            <a:off x="2061284" y="4373799"/>
            <a:ext cx="905764" cy="369332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Climate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矩形: 圆角 57"/>
          <p:cNvSpPr/>
          <p:nvPr/>
        </p:nvSpPr>
        <p:spPr>
          <a:xfrm>
            <a:off x="3441102" y="3796409"/>
            <a:ext cx="1707420" cy="415474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 temperature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: 圆角 58"/>
          <p:cNvSpPr/>
          <p:nvPr/>
        </p:nvSpPr>
        <p:spPr>
          <a:xfrm>
            <a:off x="3428894" y="4275460"/>
            <a:ext cx="1734242" cy="612107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pollution degree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3473309" y="4962292"/>
            <a:ext cx="1689827" cy="525204"/>
          </a:xfrm>
          <a:prstGeom prst="roundRect">
            <a:avLst/>
          </a:prstGeom>
          <a:gradFill flip="none" rotWithShape="1">
            <a:gsLst>
              <a:gs pos="0">
                <a:srgbClr val="F7E8D1"/>
              </a:gs>
              <a:gs pos="100000">
                <a:srgbClr val="E9C16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stability of ecosystems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矩形: 圆角 60"/>
          <p:cNvSpPr/>
          <p:nvPr/>
        </p:nvSpPr>
        <p:spPr>
          <a:xfrm>
            <a:off x="5621348" y="4319828"/>
            <a:ext cx="1196340" cy="606773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Trend prediction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: 圆角 61"/>
          <p:cNvSpPr/>
          <p:nvPr/>
        </p:nvSpPr>
        <p:spPr>
          <a:xfrm>
            <a:off x="7229167" y="4217117"/>
            <a:ext cx="1366521" cy="812193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 and weaknesses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矩形: 圆角 63"/>
          <p:cNvSpPr/>
          <p:nvPr/>
        </p:nvSpPr>
        <p:spPr>
          <a:xfrm>
            <a:off x="9144669" y="4311598"/>
            <a:ext cx="898819" cy="615003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 </a:t>
            </a:r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thory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8517647" y="4068371"/>
            <a:ext cx="822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Space</a:t>
            </a:r>
            <a:endParaRPr lang="zh-CN" altLang="en-US" sz="1600" b="1" dirty="0"/>
          </a:p>
        </p:txBody>
      </p:sp>
      <p:sp>
        <p:nvSpPr>
          <p:cNvPr id="66" name="文本框 65"/>
          <p:cNvSpPr txBox="1"/>
          <p:nvPr/>
        </p:nvSpPr>
        <p:spPr>
          <a:xfrm>
            <a:off x="6671545" y="4037063"/>
            <a:ext cx="731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Time</a:t>
            </a:r>
            <a:endParaRPr lang="zh-CN" altLang="en-US" sz="1600" b="1" dirty="0"/>
          </a:p>
        </p:txBody>
      </p:sp>
      <p:cxnSp>
        <p:nvCxnSpPr>
          <p:cNvPr id="67" name="直接箭头连接符 66"/>
          <p:cNvCxnSpPr/>
          <p:nvPr/>
        </p:nvCxnSpPr>
        <p:spPr>
          <a:xfrm flipH="1">
            <a:off x="6831023" y="4613519"/>
            <a:ext cx="40207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/>
        </p:nvCxnSpPr>
        <p:spPr>
          <a:xfrm flipV="1">
            <a:off x="8601024" y="4613519"/>
            <a:ext cx="543645" cy="96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/>
          <p:cNvSpPr/>
          <p:nvPr/>
        </p:nvSpPr>
        <p:spPr>
          <a:xfrm>
            <a:off x="1304968" y="462017"/>
            <a:ext cx="9122979" cy="5654566"/>
          </a:xfrm>
          <a:prstGeom prst="roundRect">
            <a:avLst/>
          </a:prstGeom>
          <a:solidFill>
            <a:srgbClr val="FEF6F0"/>
          </a:solidFill>
          <a:ln w="19050">
            <a:solidFill>
              <a:srgbClr val="75767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5" name="矩形: 圆角 54"/>
          <p:cNvSpPr/>
          <p:nvPr/>
        </p:nvSpPr>
        <p:spPr>
          <a:xfrm>
            <a:off x="1808111" y="3370285"/>
            <a:ext cx="8149140" cy="2058358"/>
          </a:xfrm>
          <a:prstGeom prst="roundRect">
            <a:avLst/>
          </a:prstGeom>
          <a:solidFill>
            <a:srgbClr val="FFFEF3"/>
          </a:solidFill>
          <a:ln w="19050">
            <a:solidFill>
              <a:srgbClr val="3E79D8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0" name="矩形: 圆角 29"/>
          <p:cNvSpPr/>
          <p:nvPr/>
        </p:nvSpPr>
        <p:spPr>
          <a:xfrm>
            <a:off x="5684725" y="1176540"/>
            <a:ext cx="4272526" cy="2058358"/>
          </a:xfrm>
          <a:prstGeom prst="roundRect">
            <a:avLst/>
          </a:prstGeom>
          <a:solidFill>
            <a:srgbClr val="FFF9FE"/>
          </a:solidFill>
          <a:ln w="19050">
            <a:solidFill>
              <a:srgbClr val="3E79D8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/>
        </p:nvSpPr>
        <p:spPr>
          <a:xfrm>
            <a:off x="1850718" y="1176540"/>
            <a:ext cx="3642360" cy="2058358"/>
          </a:xfrm>
          <a:prstGeom prst="roundRect">
            <a:avLst/>
          </a:prstGeom>
          <a:solidFill>
            <a:srgbClr val="F9F9F9"/>
          </a:solidFill>
          <a:ln w="19050">
            <a:solidFill>
              <a:srgbClr val="3E79D8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634818" y="836904"/>
            <a:ext cx="8514080" cy="4846320"/>
          </a:xfrm>
          <a:prstGeom prst="rect">
            <a:avLst/>
          </a:prstGeom>
          <a:noFill/>
          <a:ln w="19050">
            <a:solidFill>
              <a:srgbClr val="75767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155258" y="669265"/>
            <a:ext cx="1697990" cy="469899"/>
          </a:xfrm>
          <a:prstGeom prst="rect">
            <a:avLst/>
          </a:prstGeom>
          <a:solidFill>
            <a:srgbClr val="FE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327650" y="624205"/>
            <a:ext cx="13239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err="1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可持续性</a:t>
            </a:r>
            <a:endParaRPr lang="zh-CN" altLang="en-US" sz="2000" b="1" dirty="0" err="1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976696" y="5507399"/>
            <a:ext cx="2322322" cy="469899"/>
          </a:xfrm>
          <a:prstGeom prst="rect">
            <a:avLst/>
          </a:prstGeom>
          <a:solidFill>
            <a:srgbClr val="FE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448300" y="5511165"/>
            <a:ext cx="12274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气候缓解</a:t>
            </a:r>
            <a:endParaRPr lang="zh-CN" altLang="en-US" sz="2000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952064" y="1225331"/>
            <a:ext cx="1638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任务</a:t>
            </a:r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775727" y="1230736"/>
            <a:ext cx="1638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任务</a:t>
            </a:r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  <a:endParaRPr lang="en-US" altLang="zh-CN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891866" y="3440637"/>
            <a:ext cx="1638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任务</a:t>
            </a:r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359728" y="3454277"/>
            <a:ext cx="1638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任务</a:t>
            </a:r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1933014" y="2112190"/>
            <a:ext cx="778002" cy="369332"/>
          </a:xfrm>
          <a:prstGeom prst="roundRect">
            <a:avLst/>
          </a:prstGeom>
          <a:gradFill flip="none" rotWithShape="1">
            <a:gsLst>
              <a:gs pos="0">
                <a:srgbClr val="F7E8D1"/>
              </a:gs>
              <a:gs pos="100000">
                <a:srgbClr val="E9C16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GGDP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2834677" y="3890435"/>
            <a:ext cx="459814" cy="1173029"/>
            <a:chOff x="3213989" y="1644854"/>
            <a:chExt cx="459814" cy="1326946"/>
          </a:xfrm>
        </p:grpSpPr>
        <p:cxnSp>
          <p:nvCxnSpPr>
            <p:cNvPr id="20" name="直接箭头连接符 19"/>
            <p:cNvCxnSpPr/>
            <p:nvPr/>
          </p:nvCxnSpPr>
          <p:spPr>
            <a:xfrm>
              <a:off x="3218381" y="2292030"/>
              <a:ext cx="45542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>
              <a:off x="3213989" y="1644854"/>
              <a:ext cx="25552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/>
          </p:nvCxnSpPr>
          <p:spPr>
            <a:xfrm flipV="1">
              <a:off x="3213989" y="2970734"/>
              <a:ext cx="227711" cy="106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3213989" y="1644854"/>
              <a:ext cx="0" cy="132694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矩形: 圆角 26"/>
          <p:cNvSpPr/>
          <p:nvPr/>
        </p:nvSpPr>
        <p:spPr>
          <a:xfrm>
            <a:off x="3207966" y="1286091"/>
            <a:ext cx="1545963" cy="641528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l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二氧化碳排放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3157030" y="2049372"/>
            <a:ext cx="2157729" cy="548129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l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自然资源消耗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3191152" y="2744772"/>
            <a:ext cx="2123608" cy="377933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l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废物利用成本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: 圆角 30"/>
          <p:cNvSpPr/>
          <p:nvPr/>
        </p:nvSpPr>
        <p:spPr>
          <a:xfrm>
            <a:off x="5968724" y="1661516"/>
            <a:ext cx="1111854" cy="519330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产业结构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8872754" y="2828466"/>
            <a:ext cx="869743" cy="344081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报告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870139" y="2459134"/>
            <a:ext cx="104507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任务</a:t>
            </a:r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</a:t>
            </a:r>
            <a:endParaRPr lang="en-US" altLang="zh-CN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: 圆角 33"/>
          <p:cNvSpPr/>
          <p:nvPr/>
        </p:nvSpPr>
        <p:spPr>
          <a:xfrm>
            <a:off x="8870139" y="1422188"/>
            <a:ext cx="795212" cy="411665"/>
          </a:xfrm>
          <a:prstGeom prst="roundRect">
            <a:avLst/>
          </a:prstGeom>
          <a:gradFill flip="none" rotWithShape="1">
            <a:gsLst>
              <a:gs pos="0">
                <a:srgbClr val="F7E8D1"/>
              </a:gs>
              <a:gs pos="100000">
                <a:srgbClr val="E9C16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政策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5969000" y="2548890"/>
            <a:ext cx="1111885" cy="525145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废物处理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7422338" y="2068704"/>
            <a:ext cx="1045080" cy="548129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澳大利亚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7263458" y="1907952"/>
            <a:ext cx="0" cy="9205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7263458" y="2350388"/>
            <a:ext cx="1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8467418" y="2350388"/>
            <a:ext cx="2012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8673793" y="1628020"/>
            <a:ext cx="0" cy="13724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flipH="1">
            <a:off x="7097088" y="1907952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flipH="1">
            <a:off x="7100263" y="2817036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>
            <a:off x="8668713" y="3000506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8666173" y="1628020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: 圆角 55"/>
          <p:cNvSpPr/>
          <p:nvPr/>
        </p:nvSpPr>
        <p:spPr>
          <a:xfrm>
            <a:off x="1888564" y="4249974"/>
            <a:ext cx="905764" cy="369332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气候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矩形: 圆角 57"/>
          <p:cNvSpPr/>
          <p:nvPr/>
        </p:nvSpPr>
        <p:spPr>
          <a:xfrm>
            <a:off x="3312832" y="3672584"/>
            <a:ext cx="1707420" cy="415474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气温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: 圆角 58"/>
          <p:cNvSpPr/>
          <p:nvPr/>
        </p:nvSpPr>
        <p:spPr>
          <a:xfrm>
            <a:off x="3300730" y="4168140"/>
            <a:ext cx="1734185" cy="607060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环境污染程度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3345039" y="4838467"/>
            <a:ext cx="1689827" cy="525204"/>
          </a:xfrm>
          <a:prstGeom prst="roundRect">
            <a:avLst/>
          </a:prstGeom>
          <a:gradFill flip="none" rotWithShape="1">
            <a:gsLst>
              <a:gs pos="0">
                <a:srgbClr val="F7E8D1"/>
              </a:gs>
              <a:gs pos="100000">
                <a:srgbClr val="E9C16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生态系统稳定性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矩形: 圆角 60"/>
          <p:cNvSpPr/>
          <p:nvPr/>
        </p:nvSpPr>
        <p:spPr>
          <a:xfrm>
            <a:off x="5493078" y="4196003"/>
            <a:ext cx="1196340" cy="606773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趋势预测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: 圆角 61"/>
          <p:cNvSpPr/>
          <p:nvPr/>
        </p:nvSpPr>
        <p:spPr>
          <a:xfrm>
            <a:off x="7101205" y="4188460"/>
            <a:ext cx="1366520" cy="614045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优势与劣势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矩形: 圆角 63"/>
          <p:cNvSpPr/>
          <p:nvPr/>
        </p:nvSpPr>
        <p:spPr>
          <a:xfrm>
            <a:off x="9016365" y="4195445"/>
            <a:ext cx="898525" cy="607060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博弈论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8459470" y="4161155"/>
            <a:ext cx="6318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空间</a:t>
            </a:r>
            <a:endParaRPr lang="zh-CN" altLang="en-US" sz="1400" b="1" dirty="0"/>
          </a:p>
        </p:txBody>
      </p:sp>
      <p:sp>
        <p:nvSpPr>
          <p:cNvPr id="66" name="文本框 65"/>
          <p:cNvSpPr txBox="1"/>
          <p:nvPr/>
        </p:nvSpPr>
        <p:spPr>
          <a:xfrm>
            <a:off x="6619875" y="4150995"/>
            <a:ext cx="5613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时间</a:t>
            </a:r>
            <a:endParaRPr lang="zh-CN" altLang="en-US" sz="1400" b="1" dirty="0"/>
          </a:p>
        </p:txBody>
      </p:sp>
      <p:cxnSp>
        <p:nvCxnSpPr>
          <p:cNvPr id="67" name="直接箭头连接符 66"/>
          <p:cNvCxnSpPr/>
          <p:nvPr/>
        </p:nvCxnSpPr>
        <p:spPr>
          <a:xfrm flipH="1">
            <a:off x="6702753" y="4489694"/>
            <a:ext cx="40207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/>
        </p:nvCxnSpPr>
        <p:spPr>
          <a:xfrm flipV="1">
            <a:off x="8472754" y="4489694"/>
            <a:ext cx="543645" cy="96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85420" y="684530"/>
            <a:ext cx="7874000" cy="2438400"/>
          </a:xfrm>
          <a:prstGeom prst="rect">
            <a:avLst/>
          </a:prstGeom>
          <a:solidFill>
            <a:srgbClr val="F5FFF5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85420" y="3454412"/>
            <a:ext cx="2479040" cy="2564118"/>
          </a:xfrm>
          <a:prstGeom prst="rect">
            <a:avLst/>
          </a:prstGeom>
          <a:solidFill>
            <a:srgbClr val="E5FC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2882900" y="3454412"/>
            <a:ext cx="2479040" cy="2564118"/>
          </a:xfrm>
          <a:prstGeom prst="rect">
            <a:avLst/>
          </a:prstGeom>
          <a:solidFill>
            <a:srgbClr val="EDF7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5580380" y="3454412"/>
            <a:ext cx="2479040" cy="2564118"/>
          </a:xfrm>
          <a:prstGeom prst="rect">
            <a:avLst/>
          </a:prstGeom>
          <a:solidFill>
            <a:srgbClr val="FCF1E0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8298180" y="682630"/>
            <a:ext cx="3662680" cy="5335899"/>
          </a:xfrm>
          <a:prstGeom prst="rect">
            <a:avLst/>
          </a:prstGeom>
          <a:solidFill>
            <a:srgbClr val="EDF7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266700" y="682630"/>
            <a:ext cx="184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Step1:Assessment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66700" y="934767"/>
            <a:ext cx="3947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(DAS Maturity Assessment Model)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389620" y="692790"/>
            <a:ext cx="184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Step2:Optimiza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389620" y="944927"/>
            <a:ext cx="3947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(VOM Model)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600700" y="3495052"/>
            <a:ext cx="184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Step3:Protocols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837180" y="3505478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Step4:Model Extension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26060" y="3505478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Step5:One-page Letter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41070" y="1363474"/>
            <a:ext cx="1219200" cy="499110"/>
          </a:xfrm>
          <a:prstGeom prst="rect">
            <a:avLst/>
          </a:prstGeom>
          <a:solidFill>
            <a:srgbClr val="FCE5E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IR,WE,WQ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941070" y="1948570"/>
            <a:ext cx="1219200" cy="499110"/>
          </a:xfrm>
          <a:prstGeom prst="rect">
            <a:avLst/>
          </a:prstGeom>
          <a:solidFill>
            <a:srgbClr val="FCE5E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SA,CA,Rob,DPC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41070" y="2529607"/>
            <a:ext cx="1219200" cy="499110"/>
          </a:xfrm>
          <a:prstGeom prst="rect">
            <a:avLst/>
          </a:prstGeom>
          <a:solidFill>
            <a:srgbClr val="FCE5E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MC,DS,DQ,DPE,DACSR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直接箭头连接符 20"/>
          <p:cNvCxnSpPr>
            <a:stCxn id="17" idx="3"/>
          </p:cNvCxnSpPr>
          <p:nvPr/>
        </p:nvCxnSpPr>
        <p:spPr>
          <a:xfrm>
            <a:off x="2160270" y="1613029"/>
            <a:ext cx="381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2164080" y="2207144"/>
            <a:ext cx="381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2160270" y="2779162"/>
            <a:ext cx="381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/>
          <p:cNvSpPr/>
          <p:nvPr/>
        </p:nvSpPr>
        <p:spPr>
          <a:xfrm>
            <a:off x="2541270" y="1363478"/>
            <a:ext cx="975360" cy="499106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2548890" y="1957591"/>
            <a:ext cx="975360" cy="499106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2548890" y="2523650"/>
            <a:ext cx="975360" cy="499106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接箭头连接符 27"/>
          <p:cNvCxnSpPr>
            <a:stCxn id="24" idx="3"/>
          </p:cNvCxnSpPr>
          <p:nvPr/>
        </p:nvCxnSpPr>
        <p:spPr>
          <a:xfrm>
            <a:off x="3516630" y="1613031"/>
            <a:ext cx="381000" cy="5791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7" idx="3"/>
          </p:cNvCxnSpPr>
          <p:nvPr/>
        </p:nvCxnSpPr>
        <p:spPr>
          <a:xfrm flipV="1">
            <a:off x="3524250" y="2192168"/>
            <a:ext cx="373380" cy="5810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25" idx="3"/>
          </p:cNvCxnSpPr>
          <p:nvPr/>
        </p:nvCxnSpPr>
        <p:spPr>
          <a:xfrm flipV="1">
            <a:off x="3524250" y="2192168"/>
            <a:ext cx="2056130" cy="1497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4020185" y="1646849"/>
            <a:ext cx="1186815" cy="499106"/>
          </a:xfrm>
          <a:prstGeom prst="rect">
            <a:avLst/>
          </a:prstGeom>
          <a:solidFill>
            <a:srgbClr val="FBF4F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FESM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020185" y="2253357"/>
            <a:ext cx="1186815" cy="499106"/>
          </a:xfrm>
          <a:prstGeom prst="rect">
            <a:avLst/>
          </a:prstGeom>
          <a:solidFill>
            <a:srgbClr val="FBF4F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EWM-AHP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588000" y="1999696"/>
            <a:ext cx="1715008" cy="414896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 of Maturity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8716622" y="1362321"/>
            <a:ext cx="2771797" cy="366914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x:The Performance of People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8716622" y="1830775"/>
            <a:ext cx="2771797" cy="366914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y:The Performance of Tech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8716622" y="2299228"/>
            <a:ext cx="2771797" cy="366914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z:The Performance of Process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直接箭头连接符 42"/>
          <p:cNvCxnSpPr/>
          <p:nvPr/>
        </p:nvCxnSpPr>
        <p:spPr>
          <a:xfrm>
            <a:off x="8008620" y="2059435"/>
            <a:ext cx="381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8663940" y="2773203"/>
            <a:ext cx="2824479" cy="18978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cxnSp>
        <p:nvCxnSpPr>
          <p:cNvPr id="45" name="直接箭头连接符 44"/>
          <p:cNvCxnSpPr/>
          <p:nvPr/>
        </p:nvCxnSpPr>
        <p:spPr>
          <a:xfrm>
            <a:off x="9857740" y="3777745"/>
            <a:ext cx="124079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10944225" y="3404603"/>
            <a:ext cx="295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y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cxnSp>
        <p:nvCxnSpPr>
          <p:cNvPr id="48" name="直接箭头连接符 47"/>
          <p:cNvCxnSpPr/>
          <p:nvPr/>
        </p:nvCxnSpPr>
        <p:spPr>
          <a:xfrm flipV="1">
            <a:off x="9857740" y="2914650"/>
            <a:ext cx="0" cy="859285"/>
          </a:xfrm>
          <a:prstGeom prst="straightConnector1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9540875" y="2838090"/>
            <a:ext cx="295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4">
                    <a:lumMod val="75000"/>
                  </a:schemeClr>
                </a:solidFill>
              </a:rPr>
              <a:t>z</a:t>
            </a:r>
            <a:endParaRPr lang="zh-CN" alt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52" name="直接箭头连接符 51"/>
          <p:cNvCxnSpPr/>
          <p:nvPr/>
        </p:nvCxnSpPr>
        <p:spPr>
          <a:xfrm flipH="1">
            <a:off x="9418955" y="3773935"/>
            <a:ext cx="438785" cy="716531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9061196" y="4234074"/>
            <a:ext cx="295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</a:rPr>
              <a:t>x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56" name="箭头: 下 55"/>
          <p:cNvSpPr/>
          <p:nvPr/>
        </p:nvSpPr>
        <p:spPr>
          <a:xfrm>
            <a:off x="9947751" y="4648949"/>
            <a:ext cx="363538" cy="262411"/>
          </a:xfrm>
          <a:prstGeom prst="downArrow">
            <a:avLst/>
          </a:prstGeom>
          <a:solidFill>
            <a:srgbClr val="B2EBF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9061196" y="4963043"/>
            <a:ext cx="2037334" cy="708749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Optimizing Proposal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5903468" y="3989522"/>
            <a:ext cx="1715008" cy="746949"/>
          </a:xfrm>
          <a:prstGeom prst="rect">
            <a:avLst/>
          </a:prstGeom>
          <a:solidFill>
            <a:srgbClr val="F5FFF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</a:t>
            </a:r>
            <a:r>
              <a:rPr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Insteuctions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model using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5903468" y="4963043"/>
            <a:ext cx="1715008" cy="746949"/>
          </a:xfrm>
          <a:prstGeom prst="rect">
            <a:avLst/>
          </a:prstGeom>
          <a:solidFill>
            <a:srgbClr val="F5FFF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by Flowcharts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箭头: 下 59"/>
          <p:cNvSpPr/>
          <p:nvPr/>
        </p:nvSpPr>
        <p:spPr>
          <a:xfrm>
            <a:off x="6579203" y="4733560"/>
            <a:ext cx="363538" cy="229483"/>
          </a:xfrm>
          <a:prstGeom prst="down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cxnSp>
        <p:nvCxnSpPr>
          <p:cNvPr id="61" name="直接箭头连接符 60"/>
          <p:cNvCxnSpPr/>
          <p:nvPr/>
        </p:nvCxnSpPr>
        <p:spPr>
          <a:xfrm flipH="1">
            <a:off x="7971178" y="4733560"/>
            <a:ext cx="41844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flipH="1">
            <a:off x="5248298" y="4733560"/>
            <a:ext cx="41844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3054984" y="3997541"/>
            <a:ext cx="2134871" cy="746949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Scale-Demand Method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3067224" y="4963043"/>
            <a:ext cx="1019398" cy="746949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Different Scales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4183125" y="4959472"/>
            <a:ext cx="1019398" cy="746949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Different Industries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7" name="直接箭头连接符 66"/>
          <p:cNvCxnSpPr/>
          <p:nvPr/>
        </p:nvCxnSpPr>
        <p:spPr>
          <a:xfrm flipH="1">
            <a:off x="3608994" y="4744490"/>
            <a:ext cx="513426" cy="2149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>
            <a:endCxn id="66" idx="0"/>
          </p:cNvCxnSpPr>
          <p:nvPr/>
        </p:nvCxnSpPr>
        <p:spPr>
          <a:xfrm>
            <a:off x="4147328" y="4748061"/>
            <a:ext cx="545496" cy="2114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/>
        </p:nvCxnSpPr>
        <p:spPr>
          <a:xfrm flipH="1">
            <a:off x="2583180" y="4718733"/>
            <a:ext cx="36700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/>
          <p:cNvSpPr/>
          <p:nvPr/>
        </p:nvSpPr>
        <p:spPr>
          <a:xfrm>
            <a:off x="254939" y="4418740"/>
            <a:ext cx="1074391" cy="746949"/>
          </a:xfrm>
          <a:prstGeom prst="rect">
            <a:avLst/>
          </a:prstGeom>
          <a:solidFill>
            <a:srgbClr val="FFF4E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Letter to Post Users 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1444596" y="4096654"/>
            <a:ext cx="1074391" cy="746949"/>
          </a:xfrm>
          <a:prstGeom prst="rect">
            <a:avLst/>
          </a:prstGeom>
          <a:solidFill>
            <a:srgbClr val="FFF4E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Assessment model instruction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1453979" y="5013495"/>
            <a:ext cx="1074391" cy="746949"/>
          </a:xfrm>
          <a:prstGeom prst="rect">
            <a:avLst/>
          </a:prstGeom>
          <a:solidFill>
            <a:srgbClr val="FFF4E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Instilling confidence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8" name="直接箭头连接符 77"/>
          <p:cNvCxnSpPr/>
          <p:nvPr/>
        </p:nvCxnSpPr>
        <p:spPr>
          <a:xfrm flipH="1">
            <a:off x="1345905" y="4294192"/>
            <a:ext cx="77428" cy="4859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>
            <a:endCxn id="75" idx="3"/>
          </p:cNvCxnSpPr>
          <p:nvPr/>
        </p:nvCxnSpPr>
        <p:spPr>
          <a:xfrm flipH="1" flipV="1">
            <a:off x="1329330" y="4792215"/>
            <a:ext cx="113018" cy="6903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08915" y="738505"/>
            <a:ext cx="7874000" cy="2438400"/>
          </a:xfrm>
          <a:prstGeom prst="rect">
            <a:avLst/>
          </a:prstGeom>
          <a:solidFill>
            <a:srgbClr val="F5FFF5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208915" y="3508387"/>
            <a:ext cx="2479040" cy="2564118"/>
          </a:xfrm>
          <a:prstGeom prst="rect">
            <a:avLst/>
          </a:prstGeom>
          <a:solidFill>
            <a:srgbClr val="E5FC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2906395" y="3508387"/>
            <a:ext cx="2479040" cy="2564118"/>
          </a:xfrm>
          <a:prstGeom prst="rect">
            <a:avLst/>
          </a:prstGeom>
          <a:solidFill>
            <a:srgbClr val="EDF7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5603875" y="3508387"/>
            <a:ext cx="2479040" cy="2564118"/>
          </a:xfrm>
          <a:prstGeom prst="rect">
            <a:avLst/>
          </a:prstGeom>
          <a:solidFill>
            <a:srgbClr val="FCF1E0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8321675" y="736605"/>
            <a:ext cx="3662680" cy="5335899"/>
          </a:xfrm>
          <a:prstGeom prst="rect">
            <a:avLst/>
          </a:prstGeom>
          <a:solidFill>
            <a:srgbClr val="EDF7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290195" y="736600"/>
            <a:ext cx="2397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步骤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评估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90195" y="1016682"/>
            <a:ext cx="39471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(DAS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成熟度评估模型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413115" y="746765"/>
            <a:ext cx="1849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步骤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优化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413115" y="1019857"/>
            <a:ext cx="39471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(VOM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模型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624195" y="3549027"/>
            <a:ext cx="1849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步骤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协议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860675" y="3559453"/>
            <a:ext cx="2590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步骤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模型扩展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49555" y="3559453"/>
            <a:ext cx="2590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步骤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一页信函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64565" y="1417449"/>
            <a:ext cx="1219200" cy="499110"/>
          </a:xfrm>
          <a:prstGeom prst="rect">
            <a:avLst/>
          </a:prstGeom>
          <a:solidFill>
            <a:srgbClr val="FCE5E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IR,WE,WQ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964565" y="2002545"/>
            <a:ext cx="1219200" cy="499110"/>
          </a:xfrm>
          <a:prstGeom prst="rect">
            <a:avLst/>
          </a:prstGeom>
          <a:solidFill>
            <a:srgbClr val="FCE5E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SA,CA,Rob,DPC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565" y="2583582"/>
            <a:ext cx="1219200" cy="499110"/>
          </a:xfrm>
          <a:prstGeom prst="rect">
            <a:avLst/>
          </a:prstGeom>
          <a:solidFill>
            <a:srgbClr val="FCE5E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MC,DS,DQ,DPE,DACSR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直接箭头连接符 20"/>
          <p:cNvCxnSpPr>
            <a:stCxn id="17" idx="3"/>
          </p:cNvCxnSpPr>
          <p:nvPr/>
        </p:nvCxnSpPr>
        <p:spPr>
          <a:xfrm>
            <a:off x="2183765" y="1667004"/>
            <a:ext cx="381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2187575" y="2261119"/>
            <a:ext cx="381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2183765" y="2833137"/>
            <a:ext cx="381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/>
          <p:cNvSpPr/>
          <p:nvPr/>
        </p:nvSpPr>
        <p:spPr>
          <a:xfrm>
            <a:off x="2564765" y="1417453"/>
            <a:ext cx="975360" cy="499106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人员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2572385" y="2011566"/>
            <a:ext cx="975360" cy="499106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技术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2572385" y="2577625"/>
            <a:ext cx="975360" cy="499106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过程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接箭头连接符 27"/>
          <p:cNvCxnSpPr>
            <a:stCxn id="24" idx="3"/>
          </p:cNvCxnSpPr>
          <p:nvPr/>
        </p:nvCxnSpPr>
        <p:spPr>
          <a:xfrm>
            <a:off x="3540125" y="1667006"/>
            <a:ext cx="381000" cy="5791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7" idx="3"/>
          </p:cNvCxnSpPr>
          <p:nvPr/>
        </p:nvCxnSpPr>
        <p:spPr>
          <a:xfrm flipV="1">
            <a:off x="3547745" y="2246143"/>
            <a:ext cx="373380" cy="5810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25" idx="3"/>
          </p:cNvCxnSpPr>
          <p:nvPr/>
        </p:nvCxnSpPr>
        <p:spPr>
          <a:xfrm flipV="1">
            <a:off x="3547745" y="2246143"/>
            <a:ext cx="2056130" cy="1497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4043680" y="1700824"/>
            <a:ext cx="1186815" cy="499106"/>
          </a:xfrm>
          <a:prstGeom prst="rect">
            <a:avLst/>
          </a:prstGeom>
          <a:solidFill>
            <a:srgbClr val="FBF4F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FESM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043680" y="2307332"/>
            <a:ext cx="1186815" cy="499106"/>
          </a:xfrm>
          <a:prstGeom prst="rect">
            <a:avLst/>
          </a:prstGeom>
          <a:solidFill>
            <a:srgbClr val="FBF4F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EWM-AHP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611495" y="2053671"/>
            <a:ext cx="1715008" cy="414896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成熟度水平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8740117" y="1416296"/>
            <a:ext cx="2771797" cy="366914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x: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人员表现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8740117" y="1884750"/>
            <a:ext cx="2771797" cy="366914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y: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技术性能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8740117" y="2353203"/>
            <a:ext cx="2771797" cy="366914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z: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过程性能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直接箭头连接符 42"/>
          <p:cNvCxnSpPr/>
          <p:nvPr/>
        </p:nvCxnSpPr>
        <p:spPr>
          <a:xfrm>
            <a:off x="8032115" y="2113410"/>
            <a:ext cx="381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8687435" y="2827178"/>
            <a:ext cx="2824479" cy="18978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cxnSp>
        <p:nvCxnSpPr>
          <p:cNvPr id="45" name="直接箭头连接符 44"/>
          <p:cNvCxnSpPr/>
          <p:nvPr/>
        </p:nvCxnSpPr>
        <p:spPr>
          <a:xfrm>
            <a:off x="9881235" y="3831720"/>
            <a:ext cx="124079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10967720" y="3458578"/>
            <a:ext cx="295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y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cxnSp>
        <p:nvCxnSpPr>
          <p:cNvPr id="48" name="直接箭头连接符 47"/>
          <p:cNvCxnSpPr/>
          <p:nvPr/>
        </p:nvCxnSpPr>
        <p:spPr>
          <a:xfrm flipV="1">
            <a:off x="9881235" y="2968625"/>
            <a:ext cx="0" cy="859285"/>
          </a:xfrm>
          <a:prstGeom prst="straightConnector1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9564370" y="2892065"/>
            <a:ext cx="295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4">
                    <a:lumMod val="75000"/>
                  </a:schemeClr>
                </a:solidFill>
              </a:rPr>
              <a:t>z</a:t>
            </a:r>
            <a:endParaRPr lang="zh-CN" alt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52" name="直接箭头连接符 51"/>
          <p:cNvCxnSpPr/>
          <p:nvPr/>
        </p:nvCxnSpPr>
        <p:spPr>
          <a:xfrm flipH="1">
            <a:off x="9442450" y="3827910"/>
            <a:ext cx="438785" cy="716531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9084691" y="4288049"/>
            <a:ext cx="295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</a:rPr>
              <a:t>x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56" name="箭头: 下 55"/>
          <p:cNvSpPr/>
          <p:nvPr/>
        </p:nvSpPr>
        <p:spPr>
          <a:xfrm>
            <a:off x="9971246" y="4702924"/>
            <a:ext cx="363538" cy="262411"/>
          </a:xfrm>
          <a:prstGeom prst="downArrow">
            <a:avLst/>
          </a:prstGeom>
          <a:solidFill>
            <a:srgbClr val="B2EBF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9084691" y="5017018"/>
            <a:ext cx="2037334" cy="708749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优化提案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5926963" y="4043497"/>
            <a:ext cx="1715008" cy="746949"/>
          </a:xfrm>
          <a:prstGeom prst="rect">
            <a:avLst/>
          </a:prstGeom>
          <a:solidFill>
            <a:srgbClr val="F5FFF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模型使用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文本指令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5926963" y="5017018"/>
            <a:ext cx="1715008" cy="746949"/>
          </a:xfrm>
          <a:prstGeom prst="rect">
            <a:avLst/>
          </a:prstGeom>
          <a:solidFill>
            <a:srgbClr val="F5FFF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通过流程图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进行可视化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箭头: 下 59"/>
          <p:cNvSpPr/>
          <p:nvPr/>
        </p:nvSpPr>
        <p:spPr>
          <a:xfrm>
            <a:off x="6602698" y="4787535"/>
            <a:ext cx="363538" cy="229483"/>
          </a:xfrm>
          <a:prstGeom prst="down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cxnSp>
        <p:nvCxnSpPr>
          <p:cNvPr id="61" name="直接箭头连接符 60"/>
          <p:cNvCxnSpPr/>
          <p:nvPr/>
        </p:nvCxnSpPr>
        <p:spPr>
          <a:xfrm flipH="1">
            <a:off x="7994673" y="4787535"/>
            <a:ext cx="41844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flipH="1">
            <a:off x="5271793" y="4787535"/>
            <a:ext cx="41844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3078479" y="4051516"/>
            <a:ext cx="2134871" cy="746949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规模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需求方法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3090719" y="5017018"/>
            <a:ext cx="1019398" cy="746949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不同规模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4206620" y="5013447"/>
            <a:ext cx="1019398" cy="746949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不同行业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7" name="直接箭头连接符 66"/>
          <p:cNvCxnSpPr/>
          <p:nvPr/>
        </p:nvCxnSpPr>
        <p:spPr>
          <a:xfrm flipH="1">
            <a:off x="3632489" y="4798465"/>
            <a:ext cx="513426" cy="2149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>
            <a:endCxn id="66" idx="0"/>
          </p:cNvCxnSpPr>
          <p:nvPr/>
        </p:nvCxnSpPr>
        <p:spPr>
          <a:xfrm>
            <a:off x="4170823" y="4802036"/>
            <a:ext cx="545496" cy="2114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/>
        </p:nvCxnSpPr>
        <p:spPr>
          <a:xfrm flipH="1">
            <a:off x="2606675" y="4772708"/>
            <a:ext cx="36700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/>
          <p:cNvSpPr/>
          <p:nvPr/>
        </p:nvSpPr>
        <p:spPr>
          <a:xfrm>
            <a:off x="278434" y="4472715"/>
            <a:ext cx="1074391" cy="746949"/>
          </a:xfrm>
          <a:prstGeom prst="rect">
            <a:avLst/>
          </a:prstGeom>
          <a:solidFill>
            <a:srgbClr val="FFF4E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致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</a:t>
            </a:r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用户的一封信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1468091" y="4150629"/>
            <a:ext cx="1074391" cy="746949"/>
          </a:xfrm>
          <a:prstGeom prst="rect">
            <a:avLst/>
          </a:prstGeom>
          <a:solidFill>
            <a:srgbClr val="FFF4E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评估模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型指令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1477474" y="5067470"/>
            <a:ext cx="1074391" cy="746949"/>
          </a:xfrm>
          <a:prstGeom prst="rect">
            <a:avLst/>
          </a:prstGeom>
          <a:solidFill>
            <a:srgbClr val="FFF4E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建立信心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8" name="直接箭头连接符 77"/>
          <p:cNvCxnSpPr/>
          <p:nvPr/>
        </p:nvCxnSpPr>
        <p:spPr>
          <a:xfrm flipH="1">
            <a:off x="1369400" y="4348167"/>
            <a:ext cx="77428" cy="4859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>
            <a:endCxn id="75" idx="3"/>
          </p:cNvCxnSpPr>
          <p:nvPr/>
        </p:nvCxnSpPr>
        <p:spPr>
          <a:xfrm flipH="1" flipV="1">
            <a:off x="1352825" y="4846190"/>
            <a:ext cx="113018" cy="6903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201481" y="1356846"/>
            <a:ext cx="1039092" cy="56110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201481" y="2947341"/>
            <a:ext cx="1039092" cy="56110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54843" y="2906081"/>
            <a:ext cx="934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Calibri" panose="020F0502020204030204" charset="0"/>
                <a:cs typeface="Calibri" panose="020F0502020204030204" charset="0"/>
              </a:rPr>
              <a:t>Huskie team</a:t>
            </a:r>
            <a:endParaRPr lang="zh-CN" altLang="en-US" b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41963" y="1314234"/>
            <a:ext cx="758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Calibri" panose="020F0502020204030204" charset="0"/>
                <a:cs typeface="Calibri" panose="020F0502020204030204" charset="0"/>
              </a:rPr>
              <a:t>Given</a:t>
            </a:r>
            <a:endParaRPr lang="en-US" altLang="zh-CN" b="1" dirty="0">
              <a:latin typeface="Calibri" panose="020F0502020204030204" charset="0"/>
              <a:cs typeface="Calibri" panose="020F0502020204030204" charset="0"/>
            </a:endParaRPr>
          </a:p>
          <a:p>
            <a:pPr algn="ctr"/>
            <a:r>
              <a:rPr lang="en-US" altLang="zh-CN" b="1" dirty="0">
                <a:latin typeface="Calibri" panose="020F0502020204030204" charset="0"/>
                <a:cs typeface="Calibri" panose="020F0502020204030204" charset="0"/>
              </a:rPr>
              <a:t>Data</a:t>
            </a:r>
            <a:endParaRPr lang="zh-CN" altLang="en-US" b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438409" y="1408801"/>
            <a:ext cx="9645703" cy="3794776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/>
          <p:cNvSpPr/>
          <p:nvPr/>
        </p:nvSpPr>
        <p:spPr>
          <a:xfrm>
            <a:off x="11300199" y="1377019"/>
            <a:ext cx="739992" cy="165042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11182995" y="1649594"/>
            <a:ext cx="97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Calibri" panose="020F0502020204030204" charset="0"/>
                <a:cs typeface="Calibri" panose="020F0502020204030204" charset="0"/>
              </a:rPr>
              <a:t>Target</a:t>
            </a:r>
            <a:endParaRPr lang="en-US" altLang="zh-CN" b="1" dirty="0">
              <a:latin typeface="Calibri" panose="020F0502020204030204" charset="0"/>
              <a:cs typeface="Calibri" panose="020F0502020204030204" charset="0"/>
            </a:endParaRPr>
          </a:p>
          <a:p>
            <a:pPr algn="ctr"/>
            <a:r>
              <a:rPr lang="en-US" altLang="zh-CN" b="1" dirty="0">
                <a:latin typeface="Calibri" panose="020F0502020204030204" charset="0"/>
                <a:cs typeface="Calibri" panose="020F0502020204030204" charset="0"/>
              </a:rPr>
              <a:t>and</a:t>
            </a:r>
            <a:endParaRPr lang="en-US" altLang="zh-CN" b="1" dirty="0">
              <a:latin typeface="Calibri" panose="020F0502020204030204" charset="0"/>
              <a:cs typeface="Calibri" panose="020F0502020204030204" charset="0"/>
            </a:endParaRPr>
          </a:p>
          <a:p>
            <a:pPr algn="ctr"/>
            <a:r>
              <a:rPr lang="en-US" altLang="zh-CN" b="1" dirty="0">
                <a:latin typeface="Calibri" panose="020F0502020204030204" charset="0"/>
                <a:cs typeface="Calibri" panose="020F0502020204030204" charset="0"/>
              </a:rPr>
              <a:t>Action</a:t>
            </a:r>
            <a:endParaRPr lang="zh-CN" altLang="en-US" b="1" dirty="0">
              <a:latin typeface="Calibri" panose="020F0502020204030204" charset="0"/>
              <a:cs typeface="Calibri" panose="020F0502020204030204" charset="0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721027" y="1960565"/>
            <a:ext cx="0" cy="98677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1645817" y="1616616"/>
            <a:ext cx="2401665" cy="2971518"/>
          </a:xfrm>
          <a:prstGeom prst="rect">
            <a:avLst/>
          </a:prstGeom>
          <a:noFill/>
          <a:ln w="28575">
            <a:solidFill>
              <a:srgbClr val="ACACA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529445" y="1616616"/>
            <a:ext cx="3167949" cy="3488994"/>
          </a:xfrm>
          <a:prstGeom prst="rect">
            <a:avLst/>
          </a:prstGeom>
          <a:noFill/>
          <a:ln w="28575">
            <a:solidFill>
              <a:srgbClr val="ACACA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175925" y="1616616"/>
            <a:ext cx="2751521" cy="1866210"/>
          </a:xfrm>
          <a:prstGeom prst="rect">
            <a:avLst/>
          </a:prstGeom>
          <a:noFill/>
          <a:ln w="28575">
            <a:solidFill>
              <a:srgbClr val="ACACA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箭头连接符 21"/>
          <p:cNvCxnSpPr/>
          <p:nvPr/>
        </p:nvCxnSpPr>
        <p:spPr>
          <a:xfrm>
            <a:off x="1240573" y="3257698"/>
            <a:ext cx="40524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10927446" y="2111259"/>
            <a:ext cx="40524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4124200" y="1894200"/>
            <a:ext cx="405245" cy="0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7746488" y="1894200"/>
            <a:ext cx="405245" cy="0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1587238" y="1668643"/>
            <a:ext cx="253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TASK 1 </a:t>
            </a:r>
            <a:r>
              <a:rPr lang="en-US" altLang="zh-CN" b="1" i="1" dirty="0">
                <a:latin typeface="Calibri" panose="020F0502020204030204" charset="0"/>
                <a:cs typeface="Calibri" panose="020F0502020204030204" charset="0"/>
              </a:rPr>
              <a:t>Network analysis</a:t>
            </a:r>
            <a:endParaRPr lang="zh-CN" altLang="en-US" b="1" i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529445" y="1615963"/>
            <a:ext cx="3440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TASK 2 </a:t>
            </a:r>
            <a:r>
              <a:rPr lang="en-US" altLang="zh-CN" b="1" i="1" dirty="0">
                <a:latin typeface="Calibri" panose="020F0502020204030204" charset="0"/>
                <a:cs typeface="Calibri" panose="020F0502020204030204" charset="0"/>
              </a:rPr>
              <a:t>Determine performance cooperation indicators</a:t>
            </a:r>
            <a:endParaRPr lang="zh-CN" altLang="en-US" b="1" i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149711" y="1668643"/>
            <a:ext cx="2873762" cy="640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TASK 3 </a:t>
            </a:r>
            <a:r>
              <a:rPr lang="en-US" altLang="zh-CN" b="1" i="1" dirty="0">
                <a:latin typeface="Calibri" panose="020F0502020204030204" charset="0"/>
                <a:cs typeface="Calibri" panose="020F0502020204030204" charset="0"/>
              </a:rPr>
              <a:t>Team formation &amp; Training methods</a:t>
            </a:r>
            <a:endParaRPr lang="zh-CN" altLang="en-US" b="1" i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768963" y="2035440"/>
            <a:ext cx="218314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1951844" y="2063221"/>
            <a:ext cx="267079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b="1" dirty="0">
                <a:latin typeface="Calibri" panose="020F0502020204030204" charset="0"/>
                <a:cs typeface="Calibri" panose="020F0502020204030204" charset="0"/>
              </a:rPr>
              <a:t>Pass quality network</a:t>
            </a:r>
            <a:endParaRPr lang="zh-CN" altLang="en-US" sz="1500" b="1" dirty="0">
              <a:latin typeface="Calibri" panose="020F0502020204030204" charset="0"/>
              <a:cs typeface="Calibri" panose="020F0502020204030204" charset="0"/>
            </a:endParaRPr>
          </a:p>
        </p:txBody>
      </p:sp>
      <p:cxnSp>
        <p:nvCxnSpPr>
          <p:cNvPr id="35" name="直接箭头连接符 34"/>
          <p:cNvCxnSpPr/>
          <p:nvPr/>
        </p:nvCxnSpPr>
        <p:spPr>
          <a:xfrm>
            <a:off x="2409981" y="2416413"/>
            <a:ext cx="0" cy="213764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1796613" y="2736406"/>
            <a:ext cx="1144125" cy="40424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1783386" y="2677722"/>
            <a:ext cx="118613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00" b="1" dirty="0">
                <a:latin typeface="Calibri" panose="020F0502020204030204" charset="0"/>
                <a:cs typeface="Calibri" panose="020F0502020204030204" charset="0"/>
              </a:rPr>
              <a:t>Dyadic Configurations</a:t>
            </a:r>
            <a:endParaRPr lang="zh-CN" altLang="en-US" sz="1300" b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376738" y="4730168"/>
            <a:ext cx="1363142" cy="338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Calibri" panose="020F0502020204030204" charset="0"/>
                <a:cs typeface="Calibri" panose="020F0502020204030204" charset="0"/>
              </a:rPr>
              <a:t>fullevents.csv</a:t>
            </a:r>
            <a:endParaRPr lang="zh-CN" altLang="en-US" sz="1600" b="1" dirty="0">
              <a:latin typeface="Calibri" panose="020F0502020204030204" charset="0"/>
              <a:cs typeface="Calibri" panose="020F0502020204030204" charset="0"/>
            </a:endParaRPr>
          </a:p>
        </p:txBody>
      </p:sp>
      <p:cxnSp>
        <p:nvCxnSpPr>
          <p:cNvPr id="63" name="直接箭头连接符 62"/>
          <p:cNvCxnSpPr/>
          <p:nvPr/>
        </p:nvCxnSpPr>
        <p:spPr>
          <a:xfrm>
            <a:off x="3729689" y="4894163"/>
            <a:ext cx="81381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7" name="组合 66"/>
          <p:cNvGrpSpPr/>
          <p:nvPr/>
        </p:nvGrpSpPr>
        <p:grpSpPr>
          <a:xfrm>
            <a:off x="4941448" y="2260577"/>
            <a:ext cx="2995211" cy="369332"/>
            <a:chOff x="4823449" y="2793917"/>
            <a:chExt cx="2109204" cy="369332"/>
          </a:xfrm>
        </p:grpSpPr>
        <p:sp>
          <p:nvSpPr>
            <p:cNvPr id="44" name="矩形 43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4959316" y="2799587"/>
              <a:ext cx="19733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Indicators determine</a:t>
              </a:r>
              <a:endParaRPr lang="zh-CN" altLang="en-US" sz="1400" b="1" dirty="0"/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4825814" y="2846337"/>
            <a:ext cx="2581647" cy="535897"/>
            <a:chOff x="4675181" y="2793917"/>
            <a:chExt cx="2056430" cy="369332"/>
          </a:xfrm>
        </p:grpSpPr>
        <p:sp>
          <p:nvSpPr>
            <p:cNvPr id="72" name="矩形 71"/>
            <p:cNvSpPr/>
            <p:nvPr/>
          </p:nvSpPr>
          <p:spPr>
            <a:xfrm>
              <a:off x="4823449" y="2793917"/>
              <a:ext cx="1803634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4675181" y="2799176"/>
              <a:ext cx="2056430" cy="3605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/>
                <a:t>Quantification of performance indicators</a:t>
              </a:r>
              <a:endParaRPr lang="zh-CN" altLang="en-US" sz="1400" b="1" dirty="0"/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4981538" y="3709887"/>
            <a:ext cx="1301015" cy="392160"/>
            <a:chOff x="7064372" y="336937"/>
            <a:chExt cx="1368410" cy="702504"/>
          </a:xfrm>
        </p:grpSpPr>
        <p:sp>
          <p:nvSpPr>
            <p:cNvPr id="80" name="矩形: 圆角 79"/>
            <p:cNvSpPr/>
            <p:nvPr/>
          </p:nvSpPr>
          <p:spPr>
            <a:xfrm>
              <a:off x="7251402" y="336937"/>
              <a:ext cx="1021742" cy="69213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7064372" y="377830"/>
              <a:ext cx="1368410" cy="6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charset="0"/>
                  <a:cs typeface="Calibri" panose="020F0502020204030204" charset="0"/>
                </a:rPr>
                <a:t>Topsis</a:t>
              </a:r>
              <a:endParaRPr lang="zh-CN" altLang="en-US" b="1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6288832" y="3709887"/>
            <a:ext cx="894530" cy="409031"/>
            <a:chOff x="7150717" y="323715"/>
            <a:chExt cx="1368410" cy="752561"/>
          </a:xfrm>
        </p:grpSpPr>
        <p:sp>
          <p:nvSpPr>
            <p:cNvPr id="83" name="矩形: 圆角 82"/>
            <p:cNvSpPr/>
            <p:nvPr/>
          </p:nvSpPr>
          <p:spPr>
            <a:xfrm>
              <a:off x="7299745" y="323715"/>
              <a:ext cx="1021742" cy="69213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7150717" y="396756"/>
              <a:ext cx="1368410" cy="6795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charset="0"/>
                  <a:cs typeface="Calibri" panose="020F0502020204030204" charset="0"/>
                </a:rPr>
                <a:t>AHP</a:t>
              </a:r>
              <a:endParaRPr lang="en-US" altLang="zh-CN" b="1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86" name="加号 85"/>
          <p:cNvSpPr/>
          <p:nvPr/>
        </p:nvSpPr>
        <p:spPr>
          <a:xfrm>
            <a:off x="6133400" y="3759796"/>
            <a:ext cx="197529" cy="215348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9" name="直接箭头连接符 88"/>
          <p:cNvCxnSpPr/>
          <p:nvPr/>
        </p:nvCxnSpPr>
        <p:spPr>
          <a:xfrm flipV="1">
            <a:off x="5634204" y="3402450"/>
            <a:ext cx="0" cy="194582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直接箭头连接符 95"/>
          <p:cNvCxnSpPr/>
          <p:nvPr/>
        </p:nvCxnSpPr>
        <p:spPr>
          <a:xfrm flipV="1">
            <a:off x="6685602" y="3402449"/>
            <a:ext cx="0" cy="194582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5" name="组合 114"/>
          <p:cNvGrpSpPr/>
          <p:nvPr/>
        </p:nvGrpSpPr>
        <p:grpSpPr>
          <a:xfrm>
            <a:off x="8236753" y="2283058"/>
            <a:ext cx="1040825" cy="476786"/>
            <a:chOff x="4786831" y="2759490"/>
            <a:chExt cx="1730381" cy="403759"/>
          </a:xfrm>
        </p:grpSpPr>
        <p:sp>
          <p:nvSpPr>
            <p:cNvPr id="116" name="矩形 115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7" name="文本框 116"/>
            <p:cNvSpPr txBox="1"/>
            <p:nvPr/>
          </p:nvSpPr>
          <p:spPr>
            <a:xfrm>
              <a:off x="4786831" y="2759490"/>
              <a:ext cx="1730381" cy="2606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alibri" panose="020F0502020204030204" charset="0"/>
                  <a:cs typeface="Calibri" panose="020F0502020204030204" charset="0"/>
                </a:rPr>
                <a:t>Formation utilization</a:t>
              </a:r>
              <a:endParaRPr lang="zh-CN" altLang="en-US" sz="14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120" name="矩形 119"/>
          <p:cNvSpPr/>
          <p:nvPr/>
        </p:nvSpPr>
        <p:spPr>
          <a:xfrm>
            <a:off x="8179356" y="3749586"/>
            <a:ext cx="2748089" cy="1356024"/>
          </a:xfrm>
          <a:prstGeom prst="rect">
            <a:avLst/>
          </a:prstGeom>
          <a:noFill/>
          <a:ln w="28575">
            <a:solidFill>
              <a:srgbClr val="ACACA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文本框 122"/>
          <p:cNvSpPr txBox="1"/>
          <p:nvPr/>
        </p:nvSpPr>
        <p:spPr>
          <a:xfrm>
            <a:off x="8293319" y="3762437"/>
            <a:ext cx="2956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i="1" dirty="0"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TASK 4 </a:t>
            </a:r>
            <a:r>
              <a:rPr lang="en-US" altLang="zh-CN" sz="1600" b="1" i="1" dirty="0">
                <a:latin typeface="Calibri" panose="020F0502020204030204" charset="0"/>
                <a:cs typeface="Calibri" panose="020F0502020204030204" charset="0"/>
              </a:rPr>
              <a:t>Indicators of a good social team</a:t>
            </a:r>
            <a:endParaRPr lang="zh-CN" altLang="en-US" sz="1600" b="1" i="1" dirty="0"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124" name="组合 123"/>
          <p:cNvGrpSpPr/>
          <p:nvPr/>
        </p:nvGrpSpPr>
        <p:grpSpPr>
          <a:xfrm>
            <a:off x="8336485" y="4333366"/>
            <a:ext cx="1112198" cy="817775"/>
            <a:chOff x="4823449" y="2793917"/>
            <a:chExt cx="1669203" cy="533548"/>
          </a:xfrm>
        </p:grpSpPr>
        <p:sp>
          <p:nvSpPr>
            <p:cNvPr id="125" name="矩形 124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6" name="文本框 125"/>
            <p:cNvSpPr txBox="1"/>
            <p:nvPr/>
          </p:nvSpPr>
          <p:spPr>
            <a:xfrm>
              <a:off x="4888925" y="2824694"/>
              <a:ext cx="1568116" cy="50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alibri" panose="020F0502020204030204" charset="0"/>
                  <a:cs typeface="Calibri" panose="020F0502020204030204" charset="0"/>
                </a:rPr>
                <a:t>Obtained indicators</a:t>
              </a:r>
              <a:endParaRPr lang="zh-CN" altLang="en-US" sz="14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128" name="组合 127"/>
          <p:cNvGrpSpPr/>
          <p:nvPr/>
        </p:nvGrpSpPr>
        <p:grpSpPr>
          <a:xfrm>
            <a:off x="9655445" y="4328161"/>
            <a:ext cx="1272000" cy="561512"/>
            <a:chOff x="4823449" y="2793917"/>
            <a:chExt cx="1743160" cy="369332"/>
          </a:xfrm>
        </p:grpSpPr>
        <p:sp>
          <p:nvSpPr>
            <p:cNvPr id="129" name="矩形 128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0" name="文本框 129"/>
            <p:cNvSpPr txBox="1"/>
            <p:nvPr/>
          </p:nvSpPr>
          <p:spPr>
            <a:xfrm>
              <a:off x="4836228" y="2816342"/>
              <a:ext cx="1730381" cy="344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alibri" panose="020F0502020204030204" charset="0"/>
                  <a:cs typeface="Calibri" panose="020F0502020204030204" charset="0"/>
                </a:rPr>
                <a:t>Additional indicators</a:t>
              </a:r>
              <a:endParaRPr lang="zh-CN" altLang="en-US" sz="14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cxnSp>
        <p:nvCxnSpPr>
          <p:cNvPr id="131" name="直接箭头连接符 130"/>
          <p:cNvCxnSpPr/>
          <p:nvPr/>
        </p:nvCxnSpPr>
        <p:spPr>
          <a:xfrm>
            <a:off x="9456723" y="4546768"/>
            <a:ext cx="209614" cy="0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直接箭头连接符 134"/>
          <p:cNvCxnSpPr/>
          <p:nvPr/>
        </p:nvCxnSpPr>
        <p:spPr>
          <a:xfrm flipH="1">
            <a:off x="9456723" y="4720802"/>
            <a:ext cx="193533" cy="0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直接箭头连接符 136"/>
          <p:cNvCxnSpPr/>
          <p:nvPr/>
        </p:nvCxnSpPr>
        <p:spPr>
          <a:xfrm>
            <a:off x="9589801" y="3476371"/>
            <a:ext cx="0" cy="259842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矩形 126"/>
          <p:cNvSpPr/>
          <p:nvPr/>
        </p:nvSpPr>
        <p:spPr>
          <a:xfrm>
            <a:off x="1795445" y="3358194"/>
            <a:ext cx="1145294" cy="40424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文本框 131"/>
          <p:cNvSpPr txBox="1"/>
          <p:nvPr/>
        </p:nvSpPr>
        <p:spPr>
          <a:xfrm>
            <a:off x="1782216" y="3299510"/>
            <a:ext cx="118613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00" b="1" dirty="0">
                <a:latin typeface="Calibri" panose="020F0502020204030204" charset="0"/>
                <a:cs typeface="Calibri" panose="020F0502020204030204" charset="0"/>
              </a:rPr>
              <a:t>Triadic Configurations</a:t>
            </a:r>
            <a:endParaRPr lang="zh-CN" altLang="en-US" sz="1300" b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3080544" y="3249693"/>
            <a:ext cx="868842" cy="40424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文本框 137"/>
          <p:cNvSpPr txBox="1"/>
          <p:nvPr/>
        </p:nvSpPr>
        <p:spPr>
          <a:xfrm>
            <a:off x="3084650" y="3209904"/>
            <a:ext cx="8780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00" b="1" dirty="0">
                <a:latin typeface="Calibri" panose="020F0502020204030204" charset="0"/>
                <a:cs typeface="Calibri" panose="020F0502020204030204" charset="0"/>
              </a:rPr>
              <a:t>Team formation</a:t>
            </a:r>
            <a:endParaRPr lang="zh-CN" altLang="en-US" sz="1300" b="1" dirty="0">
              <a:latin typeface="Calibri" panose="020F0502020204030204" charset="0"/>
              <a:cs typeface="Calibri" panose="020F0502020204030204" charset="0"/>
            </a:endParaRPr>
          </a:p>
        </p:txBody>
      </p:sp>
      <p:cxnSp>
        <p:nvCxnSpPr>
          <p:cNvPr id="139" name="直接箭头连接符 138"/>
          <p:cNvCxnSpPr/>
          <p:nvPr/>
        </p:nvCxnSpPr>
        <p:spPr>
          <a:xfrm>
            <a:off x="3511427" y="2409436"/>
            <a:ext cx="0" cy="830888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矩形 139"/>
          <p:cNvSpPr/>
          <p:nvPr/>
        </p:nvSpPr>
        <p:spPr>
          <a:xfrm>
            <a:off x="1746017" y="2651307"/>
            <a:ext cx="1244759" cy="1201673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加号 140"/>
          <p:cNvSpPr/>
          <p:nvPr/>
        </p:nvSpPr>
        <p:spPr>
          <a:xfrm>
            <a:off x="2291062" y="3152101"/>
            <a:ext cx="197529" cy="215348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2" name="组合 141"/>
          <p:cNvGrpSpPr/>
          <p:nvPr/>
        </p:nvGrpSpPr>
        <p:grpSpPr>
          <a:xfrm>
            <a:off x="1994611" y="4161483"/>
            <a:ext cx="1797314" cy="369332"/>
            <a:chOff x="4823449" y="2793917"/>
            <a:chExt cx="1742238" cy="369332"/>
          </a:xfrm>
        </p:grpSpPr>
        <p:sp>
          <p:nvSpPr>
            <p:cNvPr id="143" name="矩形 142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4" name="文本框 143"/>
            <p:cNvSpPr txBox="1"/>
            <p:nvPr/>
          </p:nvSpPr>
          <p:spPr>
            <a:xfrm>
              <a:off x="4835306" y="2811306"/>
              <a:ext cx="17303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alibri" panose="020F0502020204030204" charset="0"/>
                  <a:cs typeface="Calibri" panose="020F0502020204030204" charset="0"/>
                </a:rPr>
                <a:t>Time and Space</a:t>
              </a:r>
              <a:endParaRPr lang="zh-CN" altLang="en-US" sz="14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cxnSp>
        <p:nvCxnSpPr>
          <p:cNvPr id="146" name="直接箭头连接符 145"/>
          <p:cNvCxnSpPr/>
          <p:nvPr/>
        </p:nvCxnSpPr>
        <p:spPr>
          <a:xfrm>
            <a:off x="2418684" y="3839668"/>
            <a:ext cx="0" cy="320511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直接箭头连接符 146"/>
          <p:cNvCxnSpPr/>
          <p:nvPr/>
        </p:nvCxnSpPr>
        <p:spPr>
          <a:xfrm>
            <a:off x="3523673" y="3653936"/>
            <a:ext cx="0" cy="506243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直接箭头连接符 147"/>
          <p:cNvCxnSpPr/>
          <p:nvPr/>
        </p:nvCxnSpPr>
        <p:spPr>
          <a:xfrm>
            <a:off x="6116637" y="2630598"/>
            <a:ext cx="0" cy="213764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9" name="组合 148"/>
          <p:cNvGrpSpPr/>
          <p:nvPr/>
        </p:nvGrpSpPr>
        <p:grpSpPr>
          <a:xfrm>
            <a:off x="4716946" y="4385728"/>
            <a:ext cx="2888149" cy="820859"/>
            <a:chOff x="4806381" y="2793917"/>
            <a:chExt cx="1730381" cy="535243"/>
          </a:xfrm>
        </p:grpSpPr>
        <p:sp>
          <p:nvSpPr>
            <p:cNvPr id="150" name="矩形 149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1" name="文本框 150"/>
            <p:cNvSpPr txBox="1"/>
            <p:nvPr/>
          </p:nvSpPr>
          <p:spPr>
            <a:xfrm>
              <a:off x="4806381" y="2805940"/>
              <a:ext cx="17303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alibri" panose="020F0502020204030204" charset="0"/>
                  <a:cs typeface="Calibri" panose="020F0502020204030204" charset="0"/>
                </a:rPr>
                <a:t>Three dimensional dynamic model of team cooperation</a:t>
              </a:r>
              <a:endParaRPr lang="zh-CN" altLang="en-US" sz="14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cxnSp>
        <p:nvCxnSpPr>
          <p:cNvPr id="152" name="直接箭头连接符 151"/>
          <p:cNvCxnSpPr/>
          <p:nvPr/>
        </p:nvCxnSpPr>
        <p:spPr>
          <a:xfrm>
            <a:off x="6185692" y="4160179"/>
            <a:ext cx="0" cy="225549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3" name="矩形 152"/>
          <p:cNvSpPr/>
          <p:nvPr/>
        </p:nvSpPr>
        <p:spPr>
          <a:xfrm>
            <a:off x="5004803" y="3606292"/>
            <a:ext cx="2271433" cy="550877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4" name="组合 153"/>
          <p:cNvGrpSpPr/>
          <p:nvPr/>
        </p:nvGrpSpPr>
        <p:grpSpPr>
          <a:xfrm>
            <a:off x="9367123" y="2283062"/>
            <a:ext cx="1560323" cy="738664"/>
            <a:chOff x="4786831" y="2759491"/>
            <a:chExt cx="1730381" cy="625526"/>
          </a:xfrm>
        </p:grpSpPr>
        <p:sp>
          <p:nvSpPr>
            <p:cNvPr id="155" name="矩形 154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6" name="文本框 155"/>
            <p:cNvSpPr txBox="1"/>
            <p:nvPr/>
          </p:nvSpPr>
          <p:spPr>
            <a:xfrm>
              <a:off x="4786831" y="2759491"/>
              <a:ext cx="1730381" cy="6255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alibri" panose="020F0502020204030204" charset="0"/>
                  <a:cs typeface="Calibri" panose="020F0502020204030204" charset="0"/>
                </a:rPr>
                <a:t>Look for effective formations</a:t>
              </a:r>
              <a:endParaRPr lang="zh-CN" altLang="en-US" sz="14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cxnSp>
        <p:nvCxnSpPr>
          <p:cNvPr id="160" name="直接箭头连接符 159"/>
          <p:cNvCxnSpPr/>
          <p:nvPr/>
        </p:nvCxnSpPr>
        <p:spPr>
          <a:xfrm>
            <a:off x="9250442" y="2565225"/>
            <a:ext cx="169328" cy="0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1" name="组合 160"/>
          <p:cNvGrpSpPr/>
          <p:nvPr/>
        </p:nvGrpSpPr>
        <p:grpSpPr>
          <a:xfrm>
            <a:off x="8216083" y="3040147"/>
            <a:ext cx="2711363" cy="369332"/>
            <a:chOff x="4774022" y="2793917"/>
            <a:chExt cx="1730381" cy="369332"/>
          </a:xfrm>
        </p:grpSpPr>
        <p:sp>
          <p:nvSpPr>
            <p:cNvPr id="162" name="矩形 161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3" name="文本框 162"/>
            <p:cNvSpPr txBox="1"/>
            <p:nvPr/>
          </p:nvSpPr>
          <p:spPr>
            <a:xfrm>
              <a:off x="4774022" y="2802086"/>
              <a:ext cx="17303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latin typeface="Calibri" panose="020F0502020204030204" charset="0"/>
                  <a:cs typeface="Calibri" panose="020F0502020204030204" charset="0"/>
                </a:rPr>
                <a:t>Five success measures</a:t>
              </a:r>
              <a:endParaRPr lang="zh-CN" altLang="en-US" sz="16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cxnSp>
        <p:nvCxnSpPr>
          <p:cNvPr id="164" name="直接箭头连接符 163"/>
          <p:cNvCxnSpPr/>
          <p:nvPr/>
        </p:nvCxnSpPr>
        <p:spPr>
          <a:xfrm>
            <a:off x="8802801" y="2759844"/>
            <a:ext cx="0" cy="288472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直接箭头连接符 164"/>
          <p:cNvCxnSpPr/>
          <p:nvPr/>
        </p:nvCxnSpPr>
        <p:spPr>
          <a:xfrm>
            <a:off x="10210466" y="2751675"/>
            <a:ext cx="0" cy="288472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201481" y="1379706"/>
            <a:ext cx="1039092" cy="56110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201481" y="2970201"/>
            <a:ext cx="1039092" cy="56110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54843" y="2959421"/>
            <a:ext cx="93477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Calibri" panose="020F0502020204030204" charset="0"/>
                <a:cs typeface="Calibri" panose="020F0502020204030204" charset="0"/>
              </a:rPr>
              <a:t>哈士奇团队</a:t>
            </a:r>
            <a:endParaRPr lang="zh-CN" altLang="en-US" sz="1600" b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41963" y="1375194"/>
            <a:ext cx="75812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Calibri" panose="020F0502020204030204" charset="0"/>
                <a:cs typeface="Calibri" panose="020F0502020204030204" charset="0"/>
              </a:rPr>
              <a:t>给定数据</a:t>
            </a:r>
            <a:endParaRPr lang="zh-CN" altLang="en-US" sz="1600" b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438409" y="1431661"/>
            <a:ext cx="9645703" cy="3794776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/>
          <p:cNvSpPr/>
          <p:nvPr/>
        </p:nvSpPr>
        <p:spPr>
          <a:xfrm>
            <a:off x="11300199" y="1399879"/>
            <a:ext cx="739992" cy="165042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11182995" y="1752464"/>
            <a:ext cx="9744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Calibri" panose="020F0502020204030204" charset="0"/>
                <a:cs typeface="Calibri" panose="020F0502020204030204" charset="0"/>
              </a:rPr>
              <a:t>目标</a:t>
            </a:r>
            <a:endParaRPr lang="zh-CN" altLang="en-US" b="1" dirty="0">
              <a:latin typeface="Calibri" panose="020F0502020204030204" charset="0"/>
              <a:cs typeface="Calibri" panose="020F0502020204030204" charset="0"/>
            </a:endParaRPr>
          </a:p>
          <a:p>
            <a:pPr algn="ctr"/>
            <a:r>
              <a:rPr lang="zh-CN" altLang="en-US" b="1" dirty="0">
                <a:latin typeface="Calibri" panose="020F0502020204030204" charset="0"/>
                <a:cs typeface="Calibri" panose="020F0502020204030204" charset="0"/>
              </a:rPr>
              <a:t>与</a:t>
            </a:r>
            <a:endParaRPr lang="zh-CN" altLang="en-US" b="1" dirty="0">
              <a:latin typeface="Calibri" panose="020F0502020204030204" charset="0"/>
              <a:cs typeface="Calibri" panose="020F0502020204030204" charset="0"/>
            </a:endParaRPr>
          </a:p>
          <a:p>
            <a:pPr algn="ctr"/>
            <a:r>
              <a:rPr lang="zh-CN" altLang="en-US" b="1" dirty="0">
                <a:latin typeface="Calibri" panose="020F0502020204030204" charset="0"/>
                <a:cs typeface="Calibri" panose="020F0502020204030204" charset="0"/>
              </a:rPr>
              <a:t>行动</a:t>
            </a:r>
            <a:endParaRPr lang="zh-CN" altLang="en-US" b="1" dirty="0">
              <a:latin typeface="Calibri" panose="020F0502020204030204" charset="0"/>
              <a:cs typeface="Calibri" panose="020F0502020204030204" charset="0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721027" y="1983425"/>
            <a:ext cx="0" cy="98677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1645817" y="1639476"/>
            <a:ext cx="2401665" cy="2971518"/>
          </a:xfrm>
          <a:prstGeom prst="rect">
            <a:avLst/>
          </a:prstGeom>
          <a:noFill/>
          <a:ln w="28575">
            <a:solidFill>
              <a:srgbClr val="ACACA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529445" y="1639476"/>
            <a:ext cx="3167949" cy="3488994"/>
          </a:xfrm>
          <a:prstGeom prst="rect">
            <a:avLst/>
          </a:prstGeom>
          <a:noFill/>
          <a:ln w="28575">
            <a:solidFill>
              <a:srgbClr val="ACACA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175925" y="1639476"/>
            <a:ext cx="2751521" cy="1866210"/>
          </a:xfrm>
          <a:prstGeom prst="rect">
            <a:avLst/>
          </a:prstGeom>
          <a:noFill/>
          <a:ln w="28575">
            <a:solidFill>
              <a:srgbClr val="ACACA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箭头连接符 21"/>
          <p:cNvCxnSpPr/>
          <p:nvPr/>
        </p:nvCxnSpPr>
        <p:spPr>
          <a:xfrm>
            <a:off x="1240573" y="3280558"/>
            <a:ext cx="40524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10927446" y="2134119"/>
            <a:ext cx="40524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4093720" y="1917060"/>
            <a:ext cx="405245" cy="0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7746488" y="1917060"/>
            <a:ext cx="405245" cy="0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1587238" y="1691503"/>
            <a:ext cx="253696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任务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1 </a:t>
            </a:r>
            <a:r>
              <a:rPr lang="zh-CN" altLang="en-US" b="1" dirty="0">
                <a:latin typeface="Calibri" panose="020F0502020204030204" charset="0"/>
                <a:cs typeface="Calibri" panose="020F0502020204030204" charset="0"/>
              </a:rPr>
              <a:t>网络分析</a:t>
            </a:r>
            <a:endParaRPr lang="zh-CN" altLang="en-US" b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529445" y="1638823"/>
            <a:ext cx="344036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任务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2 </a:t>
            </a:r>
            <a:r>
              <a:rPr lang="zh-CN" altLang="en-US" b="1" dirty="0">
                <a:latin typeface="Calibri" panose="020F0502020204030204" charset="0"/>
                <a:cs typeface="Calibri" panose="020F0502020204030204" charset="0"/>
              </a:rPr>
              <a:t>确定绩效合作指标</a:t>
            </a:r>
            <a:endParaRPr lang="zh-CN" altLang="en-US" b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149711" y="1691503"/>
            <a:ext cx="287376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任务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3 </a:t>
            </a:r>
            <a:r>
              <a:rPr lang="en-US" altLang="zh-CN" sz="1600" b="1" dirty="0">
                <a:latin typeface="Calibri" panose="020F0502020204030204" charset="0"/>
                <a:cs typeface="Calibri" panose="020F0502020204030204" charset="0"/>
              </a:rPr>
              <a:t>T</a:t>
            </a:r>
            <a:r>
              <a:rPr lang="zh-CN" altLang="en-US" sz="1600" b="1" dirty="0">
                <a:latin typeface="Calibri" panose="020F0502020204030204" charset="0"/>
                <a:cs typeface="Calibri" panose="020F0502020204030204" charset="0"/>
              </a:rPr>
              <a:t>团队组建与培训方法</a:t>
            </a:r>
            <a:endParaRPr lang="zh-CN" altLang="en-US" sz="1600" b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768963" y="2058300"/>
            <a:ext cx="218314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2147570" y="2085975"/>
            <a:ext cx="157162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b="1" dirty="0">
                <a:latin typeface="Calibri" panose="020F0502020204030204" charset="0"/>
                <a:cs typeface="Calibri" panose="020F0502020204030204" charset="0"/>
              </a:rPr>
              <a:t>通过质量网络</a:t>
            </a:r>
            <a:endParaRPr lang="zh-CN" altLang="en-US" sz="1500" b="1" dirty="0">
              <a:latin typeface="Calibri" panose="020F0502020204030204" charset="0"/>
              <a:cs typeface="Calibri" panose="020F0502020204030204" charset="0"/>
            </a:endParaRPr>
          </a:p>
        </p:txBody>
      </p:sp>
      <p:cxnSp>
        <p:nvCxnSpPr>
          <p:cNvPr id="35" name="直接箭头连接符 34"/>
          <p:cNvCxnSpPr/>
          <p:nvPr/>
        </p:nvCxnSpPr>
        <p:spPr>
          <a:xfrm>
            <a:off x="2409981" y="2439273"/>
            <a:ext cx="0" cy="213764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1796613" y="2759266"/>
            <a:ext cx="1144125" cy="40424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1783386" y="2816152"/>
            <a:ext cx="118613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Calibri" panose="020F0502020204030204" charset="0"/>
                <a:cs typeface="Calibri" panose="020F0502020204030204" charset="0"/>
              </a:rPr>
              <a:t>二元配置</a:t>
            </a:r>
            <a:endParaRPr lang="zh-CN" altLang="en-US" sz="1400" b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376738" y="4753028"/>
            <a:ext cx="1363142" cy="338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Calibri" panose="020F0502020204030204" charset="0"/>
                <a:cs typeface="Calibri" panose="020F0502020204030204" charset="0"/>
              </a:rPr>
              <a:t>fullevents.csv</a:t>
            </a:r>
            <a:endParaRPr lang="en-US" altLang="zh-CN" sz="1600" b="1" dirty="0">
              <a:latin typeface="Calibri" panose="020F0502020204030204" charset="0"/>
              <a:cs typeface="Calibri" panose="020F0502020204030204" charset="0"/>
            </a:endParaRPr>
          </a:p>
        </p:txBody>
      </p:sp>
      <p:cxnSp>
        <p:nvCxnSpPr>
          <p:cNvPr id="63" name="直接箭头连接符 62"/>
          <p:cNvCxnSpPr/>
          <p:nvPr/>
        </p:nvCxnSpPr>
        <p:spPr>
          <a:xfrm>
            <a:off x="3729689" y="4917023"/>
            <a:ext cx="81381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7" name="组合 66"/>
          <p:cNvGrpSpPr/>
          <p:nvPr/>
        </p:nvGrpSpPr>
        <p:grpSpPr>
          <a:xfrm>
            <a:off x="4941448" y="2283437"/>
            <a:ext cx="2370380" cy="369332"/>
            <a:chOff x="4823449" y="2793917"/>
            <a:chExt cx="1669203" cy="369332"/>
          </a:xfrm>
        </p:grpSpPr>
        <p:sp>
          <p:nvSpPr>
            <p:cNvPr id="44" name="矩形 43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5309946" y="2799632"/>
              <a:ext cx="702939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/>
                <a:t>指标确定</a:t>
              </a:r>
              <a:endParaRPr lang="zh-CN" altLang="en-US" sz="1600" b="1" dirty="0"/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4825814" y="2869197"/>
            <a:ext cx="2581647" cy="535897"/>
            <a:chOff x="4675181" y="2793917"/>
            <a:chExt cx="2056430" cy="369332"/>
          </a:xfrm>
        </p:grpSpPr>
        <p:sp>
          <p:nvSpPr>
            <p:cNvPr id="72" name="矩形 71"/>
            <p:cNvSpPr/>
            <p:nvPr/>
          </p:nvSpPr>
          <p:spPr>
            <a:xfrm>
              <a:off x="4823449" y="2793917"/>
              <a:ext cx="1803634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4675181" y="2854319"/>
              <a:ext cx="2056430" cy="2323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/>
                <a:t>绩效指标量化</a:t>
              </a:r>
              <a:endParaRPr lang="zh-CN" altLang="en-US" sz="1600" b="1" dirty="0"/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4981538" y="3732747"/>
            <a:ext cx="1301015" cy="386371"/>
            <a:chOff x="7064372" y="336937"/>
            <a:chExt cx="1368410" cy="692134"/>
          </a:xfrm>
        </p:grpSpPr>
        <p:sp>
          <p:nvSpPr>
            <p:cNvPr id="80" name="矩形: 圆角 79"/>
            <p:cNvSpPr/>
            <p:nvPr/>
          </p:nvSpPr>
          <p:spPr>
            <a:xfrm>
              <a:off x="7251402" y="336937"/>
              <a:ext cx="1021742" cy="69213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7064372" y="377830"/>
              <a:ext cx="1368410" cy="4936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charset="0"/>
                  <a:cs typeface="Calibri" panose="020F0502020204030204" charset="0"/>
                </a:rPr>
                <a:t>双基点法</a:t>
              </a:r>
              <a:endParaRPr lang="zh-CN" altLang="en-US" sz="1200" b="1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6288832" y="3732747"/>
            <a:ext cx="894530" cy="376188"/>
            <a:chOff x="7150717" y="323715"/>
            <a:chExt cx="1368410" cy="692134"/>
          </a:xfrm>
        </p:grpSpPr>
        <p:sp>
          <p:nvSpPr>
            <p:cNvPr id="83" name="矩形: 圆角 82"/>
            <p:cNvSpPr/>
            <p:nvPr/>
          </p:nvSpPr>
          <p:spPr>
            <a:xfrm>
              <a:off x="7299745" y="323715"/>
              <a:ext cx="1021742" cy="69213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7150717" y="396756"/>
              <a:ext cx="1368410" cy="4509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charset="0"/>
                  <a:cs typeface="Calibri" panose="020F0502020204030204" charset="0"/>
                </a:rPr>
                <a:t>层次分析法</a:t>
              </a:r>
              <a:endParaRPr lang="zh-CN" altLang="en-US" sz="1000" b="1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86" name="加号 85"/>
          <p:cNvSpPr/>
          <p:nvPr/>
        </p:nvSpPr>
        <p:spPr>
          <a:xfrm>
            <a:off x="6133400" y="3782656"/>
            <a:ext cx="197529" cy="215348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9" name="直接箭头连接符 88"/>
          <p:cNvCxnSpPr/>
          <p:nvPr/>
        </p:nvCxnSpPr>
        <p:spPr>
          <a:xfrm flipV="1">
            <a:off x="5634204" y="3425310"/>
            <a:ext cx="0" cy="194582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直接箭头连接符 95"/>
          <p:cNvCxnSpPr/>
          <p:nvPr/>
        </p:nvCxnSpPr>
        <p:spPr>
          <a:xfrm flipV="1">
            <a:off x="6685602" y="3425309"/>
            <a:ext cx="0" cy="194582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5" name="组合 114"/>
          <p:cNvGrpSpPr/>
          <p:nvPr/>
        </p:nvGrpSpPr>
        <p:grpSpPr>
          <a:xfrm>
            <a:off x="8236753" y="2305918"/>
            <a:ext cx="1040825" cy="521970"/>
            <a:chOff x="4786831" y="2759490"/>
            <a:chExt cx="1730381" cy="442022"/>
          </a:xfrm>
        </p:grpSpPr>
        <p:sp>
          <p:nvSpPr>
            <p:cNvPr id="116" name="矩形 115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7" name="文本框 116"/>
            <p:cNvSpPr txBox="1"/>
            <p:nvPr/>
          </p:nvSpPr>
          <p:spPr>
            <a:xfrm>
              <a:off x="4786831" y="2759490"/>
              <a:ext cx="1730381" cy="442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Calibri" panose="020F0502020204030204" charset="0"/>
                  <a:cs typeface="Calibri" panose="020F0502020204030204" charset="0"/>
                </a:rPr>
                <a:t>团队形成利用度</a:t>
              </a:r>
              <a:endParaRPr lang="zh-CN" altLang="en-US" sz="14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120" name="矩形 119"/>
          <p:cNvSpPr/>
          <p:nvPr/>
        </p:nvSpPr>
        <p:spPr>
          <a:xfrm>
            <a:off x="8179356" y="3772446"/>
            <a:ext cx="2748089" cy="1356024"/>
          </a:xfrm>
          <a:prstGeom prst="rect">
            <a:avLst/>
          </a:prstGeom>
          <a:noFill/>
          <a:ln w="28575">
            <a:solidFill>
              <a:srgbClr val="ACACA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文本框 122"/>
          <p:cNvSpPr txBox="1"/>
          <p:nvPr/>
        </p:nvSpPr>
        <p:spPr>
          <a:xfrm>
            <a:off x="8293319" y="3785297"/>
            <a:ext cx="2956244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任务</a:t>
            </a: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4 </a:t>
            </a:r>
            <a:r>
              <a:rPr lang="zh-CN" altLang="en-US" sz="1600" b="1" dirty="0">
                <a:latin typeface="Calibri" panose="020F0502020204030204" charset="0"/>
                <a:cs typeface="Calibri" panose="020F0502020204030204" charset="0"/>
              </a:rPr>
              <a:t>良好社会团队的指标</a:t>
            </a:r>
            <a:endParaRPr lang="zh-CN" altLang="en-US" sz="1600" b="1" dirty="0"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124" name="组合 123"/>
          <p:cNvGrpSpPr/>
          <p:nvPr/>
        </p:nvGrpSpPr>
        <p:grpSpPr>
          <a:xfrm>
            <a:off x="8236790" y="4356226"/>
            <a:ext cx="1352550" cy="566079"/>
            <a:chOff x="4673825" y="2793917"/>
            <a:chExt cx="2029927" cy="369332"/>
          </a:xfrm>
        </p:grpSpPr>
        <p:sp>
          <p:nvSpPr>
            <p:cNvPr id="125" name="矩形 124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6" name="文本框 125"/>
            <p:cNvSpPr txBox="1"/>
            <p:nvPr/>
          </p:nvSpPr>
          <p:spPr>
            <a:xfrm>
              <a:off x="4673825" y="2888377"/>
              <a:ext cx="2029927" cy="200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Calibri" panose="020F0502020204030204" charset="0"/>
                  <a:cs typeface="Calibri" panose="020F0502020204030204" charset="0"/>
                </a:rPr>
                <a:t>获得的指标</a:t>
              </a:r>
              <a:endParaRPr lang="zh-CN" altLang="en-US" sz="14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128" name="组合 127"/>
          <p:cNvGrpSpPr/>
          <p:nvPr/>
        </p:nvGrpSpPr>
        <p:grpSpPr>
          <a:xfrm>
            <a:off x="9655445" y="4351021"/>
            <a:ext cx="1265015" cy="561512"/>
            <a:chOff x="4823449" y="2793917"/>
            <a:chExt cx="1733588" cy="369332"/>
          </a:xfrm>
        </p:grpSpPr>
        <p:sp>
          <p:nvSpPr>
            <p:cNvPr id="129" name="矩形 128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0" name="文本框 129"/>
            <p:cNvSpPr txBox="1"/>
            <p:nvPr/>
          </p:nvSpPr>
          <p:spPr>
            <a:xfrm>
              <a:off x="4826656" y="2880664"/>
              <a:ext cx="1730381" cy="2017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Calibri" panose="020F0502020204030204" charset="0"/>
                  <a:cs typeface="Calibri" panose="020F0502020204030204" charset="0"/>
                </a:rPr>
                <a:t>附加指标</a:t>
              </a:r>
              <a:endParaRPr lang="zh-CN" altLang="en-US" sz="14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cxnSp>
        <p:nvCxnSpPr>
          <p:cNvPr id="131" name="直接箭头连接符 130"/>
          <p:cNvCxnSpPr/>
          <p:nvPr/>
        </p:nvCxnSpPr>
        <p:spPr>
          <a:xfrm>
            <a:off x="9456723" y="4569628"/>
            <a:ext cx="209614" cy="0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直接箭头连接符 134"/>
          <p:cNvCxnSpPr/>
          <p:nvPr/>
        </p:nvCxnSpPr>
        <p:spPr>
          <a:xfrm flipH="1">
            <a:off x="9456723" y="4743662"/>
            <a:ext cx="193533" cy="0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直接箭头连接符 136"/>
          <p:cNvCxnSpPr/>
          <p:nvPr/>
        </p:nvCxnSpPr>
        <p:spPr>
          <a:xfrm>
            <a:off x="9589801" y="3499231"/>
            <a:ext cx="0" cy="259842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矩形 126"/>
          <p:cNvSpPr/>
          <p:nvPr/>
        </p:nvSpPr>
        <p:spPr>
          <a:xfrm>
            <a:off x="1795445" y="3381054"/>
            <a:ext cx="1145294" cy="40424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文本框 131"/>
          <p:cNvSpPr txBox="1"/>
          <p:nvPr/>
        </p:nvSpPr>
        <p:spPr>
          <a:xfrm>
            <a:off x="1746021" y="3463975"/>
            <a:ext cx="11861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Calibri" panose="020F0502020204030204" charset="0"/>
                <a:cs typeface="Calibri" panose="020F0502020204030204" charset="0"/>
              </a:rPr>
              <a:t>三元配置</a:t>
            </a:r>
            <a:endParaRPr lang="zh-CN" altLang="en-US" sz="1400" b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3080544" y="3272553"/>
            <a:ext cx="868842" cy="40424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文本框 137"/>
          <p:cNvSpPr txBox="1"/>
          <p:nvPr/>
        </p:nvSpPr>
        <p:spPr>
          <a:xfrm>
            <a:off x="3084650" y="3321664"/>
            <a:ext cx="878046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00" b="1" dirty="0">
                <a:latin typeface="Calibri" panose="020F0502020204030204" charset="0"/>
                <a:cs typeface="Calibri" panose="020F0502020204030204" charset="0"/>
              </a:rPr>
              <a:t>团队组建</a:t>
            </a:r>
            <a:endParaRPr lang="zh-CN" altLang="en-US" sz="1300" b="1" dirty="0">
              <a:latin typeface="Calibri" panose="020F0502020204030204" charset="0"/>
              <a:cs typeface="Calibri" panose="020F0502020204030204" charset="0"/>
            </a:endParaRPr>
          </a:p>
        </p:txBody>
      </p:sp>
      <p:cxnSp>
        <p:nvCxnSpPr>
          <p:cNvPr id="139" name="直接箭头连接符 138"/>
          <p:cNvCxnSpPr/>
          <p:nvPr/>
        </p:nvCxnSpPr>
        <p:spPr>
          <a:xfrm>
            <a:off x="3511427" y="2432296"/>
            <a:ext cx="0" cy="830888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矩形 139"/>
          <p:cNvSpPr/>
          <p:nvPr/>
        </p:nvSpPr>
        <p:spPr>
          <a:xfrm>
            <a:off x="1746017" y="2674167"/>
            <a:ext cx="1244759" cy="1201673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加号 140"/>
          <p:cNvSpPr/>
          <p:nvPr/>
        </p:nvSpPr>
        <p:spPr>
          <a:xfrm>
            <a:off x="2291062" y="3174961"/>
            <a:ext cx="197529" cy="215348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2" name="组合 141"/>
          <p:cNvGrpSpPr/>
          <p:nvPr/>
        </p:nvGrpSpPr>
        <p:grpSpPr>
          <a:xfrm>
            <a:off x="1994611" y="4184343"/>
            <a:ext cx="1797314" cy="369332"/>
            <a:chOff x="4823449" y="2793917"/>
            <a:chExt cx="1742238" cy="369332"/>
          </a:xfrm>
        </p:grpSpPr>
        <p:sp>
          <p:nvSpPr>
            <p:cNvPr id="143" name="矩形 142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4" name="文本框 143"/>
            <p:cNvSpPr txBox="1"/>
            <p:nvPr/>
          </p:nvSpPr>
          <p:spPr>
            <a:xfrm>
              <a:off x="4835306" y="2811306"/>
              <a:ext cx="1730381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Calibri" panose="020F0502020204030204" charset="0"/>
                  <a:cs typeface="Calibri" panose="020F0502020204030204" charset="0"/>
                </a:rPr>
                <a:t>时间和空间</a:t>
              </a:r>
              <a:endParaRPr lang="zh-CN" altLang="en-US" sz="14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cxnSp>
        <p:nvCxnSpPr>
          <p:cNvPr id="146" name="直接箭头连接符 145"/>
          <p:cNvCxnSpPr/>
          <p:nvPr/>
        </p:nvCxnSpPr>
        <p:spPr>
          <a:xfrm>
            <a:off x="2418684" y="3862528"/>
            <a:ext cx="0" cy="320511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直接箭头连接符 146"/>
          <p:cNvCxnSpPr/>
          <p:nvPr/>
        </p:nvCxnSpPr>
        <p:spPr>
          <a:xfrm>
            <a:off x="3523673" y="3676796"/>
            <a:ext cx="0" cy="506243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直接箭头连接符 147"/>
          <p:cNvCxnSpPr/>
          <p:nvPr/>
        </p:nvCxnSpPr>
        <p:spPr>
          <a:xfrm>
            <a:off x="6116637" y="2653458"/>
            <a:ext cx="0" cy="213764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9" name="组合 148"/>
          <p:cNvGrpSpPr/>
          <p:nvPr/>
        </p:nvGrpSpPr>
        <p:grpSpPr>
          <a:xfrm>
            <a:off x="4699167" y="4408588"/>
            <a:ext cx="2888149" cy="566415"/>
            <a:chOff x="4795729" y="2793917"/>
            <a:chExt cx="1730381" cy="369332"/>
          </a:xfrm>
        </p:grpSpPr>
        <p:sp>
          <p:nvSpPr>
            <p:cNvPr id="150" name="矩形 149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1" name="文本框 150"/>
            <p:cNvSpPr txBox="1"/>
            <p:nvPr/>
          </p:nvSpPr>
          <p:spPr>
            <a:xfrm>
              <a:off x="4795729" y="2881301"/>
              <a:ext cx="1730381" cy="2198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Calibri" panose="020F0502020204030204" charset="0"/>
                  <a:cs typeface="Calibri" panose="020F0502020204030204" charset="0"/>
                </a:rPr>
                <a:t>团队合作的三维动态模型</a:t>
              </a:r>
              <a:endParaRPr lang="zh-CN" altLang="en-US" sz="16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cxnSp>
        <p:nvCxnSpPr>
          <p:cNvPr id="152" name="直接箭头连接符 151"/>
          <p:cNvCxnSpPr/>
          <p:nvPr/>
        </p:nvCxnSpPr>
        <p:spPr>
          <a:xfrm>
            <a:off x="6185692" y="4183039"/>
            <a:ext cx="0" cy="225549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3" name="矩形 152"/>
          <p:cNvSpPr/>
          <p:nvPr/>
        </p:nvSpPr>
        <p:spPr>
          <a:xfrm>
            <a:off x="5004803" y="3629152"/>
            <a:ext cx="2271433" cy="550877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4" name="组合 153"/>
          <p:cNvGrpSpPr/>
          <p:nvPr/>
        </p:nvGrpSpPr>
        <p:grpSpPr>
          <a:xfrm>
            <a:off x="9349343" y="2346575"/>
            <a:ext cx="1560323" cy="436133"/>
            <a:chOff x="4767113" y="2793917"/>
            <a:chExt cx="1730381" cy="369332"/>
          </a:xfrm>
        </p:grpSpPr>
        <p:sp>
          <p:nvSpPr>
            <p:cNvPr id="155" name="矩形 154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6" name="文本框 155"/>
            <p:cNvSpPr txBox="1"/>
            <p:nvPr/>
          </p:nvSpPr>
          <p:spPr>
            <a:xfrm>
              <a:off x="4767113" y="2849827"/>
              <a:ext cx="1730381" cy="2597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Calibri" panose="020F0502020204030204" charset="0"/>
                  <a:cs typeface="Calibri" panose="020F0502020204030204" charset="0"/>
                </a:rPr>
                <a:t>寻找有效队形</a:t>
              </a:r>
              <a:endParaRPr lang="zh-CN" altLang="en-US" sz="14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cxnSp>
        <p:nvCxnSpPr>
          <p:cNvPr id="160" name="直接箭头连接符 159"/>
          <p:cNvCxnSpPr/>
          <p:nvPr/>
        </p:nvCxnSpPr>
        <p:spPr>
          <a:xfrm>
            <a:off x="9250442" y="2588085"/>
            <a:ext cx="169328" cy="0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1" name="组合 160"/>
          <p:cNvGrpSpPr/>
          <p:nvPr/>
        </p:nvGrpSpPr>
        <p:grpSpPr>
          <a:xfrm>
            <a:off x="8216083" y="3063007"/>
            <a:ext cx="2711363" cy="369332"/>
            <a:chOff x="4774022" y="2793917"/>
            <a:chExt cx="1730381" cy="369332"/>
          </a:xfrm>
        </p:grpSpPr>
        <p:sp>
          <p:nvSpPr>
            <p:cNvPr id="162" name="矩形 161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3" name="文本框 162"/>
            <p:cNvSpPr txBox="1"/>
            <p:nvPr/>
          </p:nvSpPr>
          <p:spPr>
            <a:xfrm>
              <a:off x="4774022" y="2802086"/>
              <a:ext cx="1730381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Calibri" panose="020F0502020204030204" charset="0"/>
                  <a:cs typeface="Calibri" panose="020F0502020204030204" charset="0"/>
                </a:rPr>
                <a:t>五个成功衡量指标</a:t>
              </a:r>
              <a:endParaRPr lang="zh-CN" altLang="en-US" sz="16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cxnSp>
        <p:nvCxnSpPr>
          <p:cNvPr id="164" name="直接箭头连接符 163"/>
          <p:cNvCxnSpPr/>
          <p:nvPr/>
        </p:nvCxnSpPr>
        <p:spPr>
          <a:xfrm>
            <a:off x="8802801" y="2782704"/>
            <a:ext cx="0" cy="288472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直接箭头连接符 164"/>
          <p:cNvCxnSpPr/>
          <p:nvPr/>
        </p:nvCxnSpPr>
        <p:spPr>
          <a:xfrm>
            <a:off x="10210466" y="2774535"/>
            <a:ext cx="0" cy="288472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136281" y="652289"/>
            <a:ext cx="2144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of Light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Pollution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箭头: 下 5"/>
          <p:cNvSpPr/>
          <p:nvPr/>
        </p:nvSpPr>
        <p:spPr>
          <a:xfrm>
            <a:off x="7090410" y="1357323"/>
            <a:ext cx="341376" cy="597408"/>
          </a:xfrm>
          <a:prstGeom prst="downArrow">
            <a:avLst/>
          </a:prstGeom>
          <a:solidFill>
            <a:srgbClr val="94C3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/>
        </p:nvSpPr>
        <p:spPr>
          <a:xfrm>
            <a:off x="6427470" y="2073606"/>
            <a:ext cx="1760220" cy="731520"/>
          </a:xfrm>
          <a:prstGeom prst="roundRect">
            <a:avLst/>
          </a:prstGeom>
          <a:solidFill>
            <a:srgbClr val="83C4E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Determination of the Data Space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6168390" y="3096408"/>
            <a:ext cx="954405" cy="554366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2-D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7357110" y="3096408"/>
            <a:ext cx="954405" cy="554366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3-D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6168390" y="4089173"/>
            <a:ext cx="954405" cy="554366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7261098" y="4089173"/>
            <a:ext cx="1131570" cy="554366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Independent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5981700" y="5192063"/>
            <a:ext cx="1279398" cy="731520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Dependent on Device Performance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7357110" y="5319880"/>
            <a:ext cx="1325118" cy="475885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846826" y="2984955"/>
            <a:ext cx="2926080" cy="3096768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894586" y="2978552"/>
            <a:ext cx="3706876" cy="3096768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/>
          <p:cNvSpPr/>
          <p:nvPr/>
        </p:nvSpPr>
        <p:spPr>
          <a:xfrm>
            <a:off x="2867914" y="2073606"/>
            <a:ext cx="1760220" cy="731520"/>
          </a:xfrm>
          <a:prstGeom prst="roundRect">
            <a:avLst/>
          </a:prstGeom>
          <a:solidFill>
            <a:srgbClr val="B3CFC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Composition of Light Pollution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2267843" y="3081168"/>
            <a:ext cx="986536" cy="569606"/>
          </a:xfrm>
          <a:prstGeom prst="roundRect">
            <a:avLst/>
          </a:prstGeom>
          <a:solidFill>
            <a:srgbClr val="B3CFC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Day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2077031" y="4103633"/>
            <a:ext cx="1392425" cy="607978"/>
          </a:xfrm>
          <a:prstGeom prst="roundRect">
            <a:avLst/>
          </a:prstGeom>
          <a:solidFill>
            <a:srgbClr val="B3CFC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is Complete and Accurate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3985582" y="3069602"/>
            <a:ext cx="1058288" cy="607978"/>
          </a:xfrm>
          <a:prstGeom prst="roundRect">
            <a:avLst/>
          </a:prstGeom>
          <a:solidFill>
            <a:srgbClr val="A8DED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Night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3538608" y="4089173"/>
            <a:ext cx="1952236" cy="607978"/>
          </a:xfrm>
          <a:prstGeom prst="roundRect">
            <a:avLst/>
          </a:prstGeom>
          <a:solidFill>
            <a:srgbClr val="A8DED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Fully Exploit the Artificial Light Influence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1932755" y="5119264"/>
            <a:ext cx="1656711" cy="877115"/>
          </a:xfrm>
          <a:prstGeom prst="roundRect">
            <a:avLst/>
          </a:prstGeom>
          <a:solidFill>
            <a:srgbClr val="B3CFC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 to</a:t>
            </a:r>
            <a:endParaRPr lang="en-US" altLang="zh-CN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Eliminate the Influence of Natural Light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3713549" y="5108744"/>
            <a:ext cx="1656711" cy="877115"/>
          </a:xfrm>
          <a:prstGeom prst="roundRect">
            <a:avLst/>
          </a:prstGeom>
          <a:solidFill>
            <a:srgbClr val="A8DED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Daytime Artificial Light Data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952257" y="2978552"/>
            <a:ext cx="2824453" cy="3096768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/>
          <p:cNvSpPr/>
          <p:nvPr/>
        </p:nvSpPr>
        <p:spPr>
          <a:xfrm>
            <a:off x="9400553" y="2073606"/>
            <a:ext cx="1927860" cy="731520"/>
          </a:xfrm>
          <a:prstGeom prst="roundRect">
            <a:avLst/>
          </a:prstGeom>
          <a:solidFill>
            <a:srgbClr val="BFB8DA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Way Light Pollution Affects Biological Populations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9094470" y="3069602"/>
            <a:ext cx="1187704" cy="581172"/>
          </a:xfrm>
          <a:prstGeom prst="roundRect">
            <a:avLst/>
          </a:prstGeom>
          <a:solidFill>
            <a:srgbClr val="BBBBE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Microcosmic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10474606" y="3069602"/>
            <a:ext cx="1187704" cy="581172"/>
          </a:xfrm>
          <a:prstGeom prst="roundRect">
            <a:avLst/>
          </a:prstGeom>
          <a:solidFill>
            <a:srgbClr val="CAC4E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Macroscopic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9222747" y="4103633"/>
            <a:ext cx="931151" cy="539906"/>
          </a:xfrm>
          <a:prstGeom prst="roundRect">
            <a:avLst/>
          </a:prstGeom>
          <a:solidFill>
            <a:srgbClr val="BBBBE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10448287" y="4103633"/>
            <a:ext cx="1240342" cy="539906"/>
          </a:xfrm>
          <a:prstGeom prst="roundRect">
            <a:avLst/>
          </a:prstGeom>
          <a:solidFill>
            <a:srgbClr val="CAC4E0"/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Concise and Universal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9137098" y="5277348"/>
            <a:ext cx="1102449" cy="539906"/>
          </a:xfrm>
          <a:prstGeom prst="roundRect">
            <a:avLst/>
          </a:prstGeom>
          <a:solidFill>
            <a:srgbClr val="BBBBE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and Complex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10589398" y="5319880"/>
            <a:ext cx="958120" cy="448740"/>
          </a:xfrm>
          <a:prstGeom prst="roundRect">
            <a:avLst/>
          </a:prstGeom>
          <a:solidFill>
            <a:srgbClr val="CAC4E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Rough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任意多边形: 形状 37"/>
          <p:cNvSpPr/>
          <p:nvPr/>
        </p:nvSpPr>
        <p:spPr>
          <a:xfrm rot="5460000">
            <a:off x="6514434" y="3643226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B2D7EA"/>
          </a:solidFill>
          <a:ln>
            <a:solidFill>
              <a:srgbClr val="B2D7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任意多边形: 形状 38"/>
          <p:cNvSpPr/>
          <p:nvPr/>
        </p:nvSpPr>
        <p:spPr>
          <a:xfrm rot="5460000">
            <a:off x="7705376" y="3655480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B2D7EA"/>
          </a:solidFill>
          <a:ln>
            <a:solidFill>
              <a:srgbClr val="B2D7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任意多边形: 形状 39"/>
          <p:cNvSpPr/>
          <p:nvPr/>
        </p:nvSpPr>
        <p:spPr>
          <a:xfrm rot="5460000">
            <a:off x="4387605" y="3625378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D2E1DB"/>
          </a:solidFill>
          <a:ln>
            <a:solidFill>
              <a:srgbClr val="D2E1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任意多边形: 形状 40"/>
          <p:cNvSpPr/>
          <p:nvPr/>
        </p:nvSpPr>
        <p:spPr>
          <a:xfrm rot="5460000">
            <a:off x="2629952" y="3625379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D2E1DB"/>
          </a:solidFill>
          <a:ln>
            <a:solidFill>
              <a:srgbClr val="D2E1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: 形状 41"/>
          <p:cNvSpPr/>
          <p:nvPr/>
        </p:nvSpPr>
        <p:spPr>
          <a:xfrm rot="5460000">
            <a:off x="9557164" y="3656973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CAC4E0"/>
          </a:solidFill>
          <a:ln>
            <a:solidFill>
              <a:srgbClr val="CAC4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任意多边形: 形状 42"/>
          <p:cNvSpPr/>
          <p:nvPr/>
        </p:nvSpPr>
        <p:spPr>
          <a:xfrm rot="5460000">
            <a:off x="10937300" y="3655077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CAC4E0"/>
          </a:solidFill>
          <a:ln>
            <a:solidFill>
              <a:srgbClr val="CAC4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箭头: 下 43"/>
          <p:cNvSpPr/>
          <p:nvPr/>
        </p:nvSpPr>
        <p:spPr>
          <a:xfrm rot="3917286">
            <a:off x="4526637" y="571747"/>
            <a:ext cx="309711" cy="1721046"/>
          </a:xfrm>
          <a:prstGeom prst="downArrow">
            <a:avLst/>
          </a:prstGeom>
          <a:solidFill>
            <a:srgbClr val="B3CFC4"/>
          </a:solidFill>
          <a:ln>
            <a:solidFill>
              <a:srgbClr val="B3CF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箭头: 下 45"/>
          <p:cNvSpPr/>
          <p:nvPr/>
        </p:nvSpPr>
        <p:spPr>
          <a:xfrm rot="17682714" flipH="1">
            <a:off x="9427212" y="490819"/>
            <a:ext cx="309711" cy="1721046"/>
          </a:xfrm>
          <a:prstGeom prst="downArrow">
            <a:avLst/>
          </a:prstGeom>
          <a:solidFill>
            <a:srgbClr val="A5A5E1"/>
          </a:solidFill>
          <a:ln>
            <a:solidFill>
              <a:srgbClr val="A5A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688067" y="4016920"/>
            <a:ext cx="11088643" cy="760643"/>
          </a:xfrm>
          <a:prstGeom prst="rect">
            <a:avLst/>
          </a:prstGeom>
          <a:noFill/>
          <a:ln w="38100">
            <a:solidFill>
              <a:srgbClr val="87C6E3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530770" y="4204309"/>
            <a:ext cx="1577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499757" y="5390361"/>
            <a:ext cx="1577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Weaknesses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688067" y="5041645"/>
            <a:ext cx="11088643" cy="1033675"/>
          </a:xfrm>
          <a:prstGeom prst="rect">
            <a:avLst/>
          </a:prstGeom>
          <a:noFill/>
          <a:ln w="38100">
            <a:solidFill>
              <a:srgbClr val="F7D28C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533053" y="371656"/>
            <a:ext cx="2219231" cy="2219231"/>
          </a:xfrm>
          <a:prstGeom prst="ellipse">
            <a:avLst/>
          </a:prstGeom>
          <a:noFill/>
          <a:ln w="57150">
            <a:solidFill>
              <a:srgbClr val="DF87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文本框 53"/>
          <p:cNvSpPr txBox="1"/>
          <p:nvPr/>
        </p:nvSpPr>
        <p:spPr>
          <a:xfrm>
            <a:off x="617001" y="829896"/>
            <a:ext cx="214411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D53E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endParaRPr lang="en-US" altLang="zh-CN" sz="2800" b="1" dirty="0">
              <a:solidFill>
                <a:srgbClr val="D53E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800" b="1" dirty="0">
                <a:solidFill>
                  <a:srgbClr val="D53E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US" altLang="zh-CN" sz="2800" b="1" dirty="0">
              <a:solidFill>
                <a:srgbClr val="D53E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800" b="1" dirty="0">
                <a:solidFill>
                  <a:srgbClr val="D53E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endParaRPr lang="zh-CN" altLang="en-US" sz="2800" b="1" dirty="0">
              <a:solidFill>
                <a:srgbClr val="D53E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788025" y="645160"/>
            <a:ext cx="2679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光污染研究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箭头: 下 5"/>
          <p:cNvSpPr/>
          <p:nvPr/>
        </p:nvSpPr>
        <p:spPr>
          <a:xfrm>
            <a:off x="7056120" y="1328113"/>
            <a:ext cx="341376" cy="597408"/>
          </a:xfrm>
          <a:prstGeom prst="downArrow">
            <a:avLst/>
          </a:prstGeom>
          <a:solidFill>
            <a:srgbClr val="94C3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/>
        </p:nvSpPr>
        <p:spPr>
          <a:xfrm>
            <a:off x="6393180" y="2054556"/>
            <a:ext cx="1760220" cy="731520"/>
          </a:xfrm>
          <a:prstGeom prst="roundRect">
            <a:avLst/>
          </a:prstGeom>
          <a:solidFill>
            <a:srgbClr val="83C4E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数据空间的确定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6134100" y="3128158"/>
            <a:ext cx="954405" cy="554366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二维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7322820" y="3128158"/>
            <a:ext cx="954405" cy="554366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三维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6134100" y="4120923"/>
            <a:ext cx="954405" cy="554366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样本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7226808" y="4120923"/>
            <a:ext cx="1131570" cy="554366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独立性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5917565" y="5309235"/>
            <a:ext cx="1413510" cy="645795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依赖设备性能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7409180" y="5400675"/>
            <a:ext cx="1173480" cy="475615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全面的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812536" y="3016705"/>
            <a:ext cx="2926080" cy="3096768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860296" y="3010302"/>
            <a:ext cx="3706876" cy="3096768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/>
          <p:cNvSpPr/>
          <p:nvPr/>
        </p:nvSpPr>
        <p:spPr>
          <a:xfrm>
            <a:off x="2833624" y="2054556"/>
            <a:ext cx="1760220" cy="731520"/>
          </a:xfrm>
          <a:prstGeom prst="roundRect">
            <a:avLst/>
          </a:prstGeom>
          <a:solidFill>
            <a:srgbClr val="B3CFC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光污染的组成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2233553" y="3112918"/>
            <a:ext cx="986536" cy="569606"/>
          </a:xfrm>
          <a:prstGeom prst="roundRect">
            <a:avLst/>
          </a:prstGeom>
          <a:solidFill>
            <a:srgbClr val="B3CFC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全天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2042741" y="4135383"/>
            <a:ext cx="1392425" cy="607978"/>
          </a:xfrm>
          <a:prstGeom prst="roundRect">
            <a:avLst/>
          </a:prstGeom>
          <a:solidFill>
            <a:srgbClr val="B3CFC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数据完整且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准确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3951292" y="3101352"/>
            <a:ext cx="1058288" cy="607978"/>
          </a:xfrm>
          <a:prstGeom prst="roundRect">
            <a:avLst/>
          </a:prstGeom>
          <a:solidFill>
            <a:srgbClr val="A8DED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仅夜间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3504318" y="4120923"/>
            <a:ext cx="1952236" cy="607978"/>
          </a:xfrm>
          <a:prstGeom prst="roundRect">
            <a:avLst/>
          </a:prstGeom>
          <a:solidFill>
            <a:srgbClr val="A8DED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充分利用人工光影响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1968315" y="5157999"/>
            <a:ext cx="1656711" cy="877115"/>
          </a:xfrm>
          <a:prstGeom prst="roundRect">
            <a:avLst/>
          </a:prstGeom>
          <a:solidFill>
            <a:srgbClr val="B3CFC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难以消除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自然光的影响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3749109" y="5147479"/>
            <a:ext cx="1656711" cy="877115"/>
          </a:xfrm>
          <a:prstGeom prst="roundRect">
            <a:avLst/>
          </a:prstGeom>
          <a:solidFill>
            <a:srgbClr val="A8DED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缺乏白天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人工光数据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917967" y="3010302"/>
            <a:ext cx="2824453" cy="3096768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/>
          <p:cNvSpPr/>
          <p:nvPr/>
        </p:nvSpPr>
        <p:spPr>
          <a:xfrm>
            <a:off x="9366263" y="2054556"/>
            <a:ext cx="1927860" cy="731520"/>
          </a:xfrm>
          <a:prstGeom prst="roundRect">
            <a:avLst/>
          </a:prstGeom>
          <a:solidFill>
            <a:srgbClr val="BFB8DA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光污染影响生物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种群的方式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9060180" y="3101352"/>
            <a:ext cx="1187704" cy="581172"/>
          </a:xfrm>
          <a:prstGeom prst="roundRect">
            <a:avLst/>
          </a:prstGeom>
          <a:solidFill>
            <a:srgbClr val="BBBBE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微观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10440316" y="3101352"/>
            <a:ext cx="1187704" cy="581172"/>
          </a:xfrm>
          <a:prstGeom prst="roundRect">
            <a:avLst/>
          </a:prstGeom>
          <a:solidFill>
            <a:srgbClr val="CAC4E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宏观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9188457" y="4135383"/>
            <a:ext cx="931151" cy="539906"/>
          </a:xfrm>
          <a:prstGeom prst="roundRect">
            <a:avLst/>
          </a:prstGeom>
          <a:solidFill>
            <a:srgbClr val="BBBBE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精确性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10413997" y="4135383"/>
            <a:ext cx="1240342" cy="539906"/>
          </a:xfrm>
          <a:prstGeom prst="roundRect">
            <a:avLst/>
          </a:prstGeom>
          <a:solidFill>
            <a:srgbClr val="CAC4E0"/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简洁且通用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9101455" y="5309235"/>
            <a:ext cx="1252855" cy="539750"/>
          </a:xfrm>
          <a:prstGeom prst="roundRect">
            <a:avLst/>
          </a:prstGeom>
          <a:solidFill>
            <a:srgbClr val="BBBBE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有限且复杂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10590033" y="5351630"/>
            <a:ext cx="958120" cy="448740"/>
          </a:xfrm>
          <a:prstGeom prst="roundRect">
            <a:avLst/>
          </a:prstGeom>
          <a:solidFill>
            <a:srgbClr val="CAC4E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粗糙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任意多边形: 形状 37"/>
          <p:cNvSpPr/>
          <p:nvPr/>
        </p:nvSpPr>
        <p:spPr>
          <a:xfrm rot="5460000">
            <a:off x="6480144" y="3674976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B2D7EA"/>
          </a:solidFill>
          <a:ln>
            <a:solidFill>
              <a:srgbClr val="B2D7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任意多边形: 形状 38"/>
          <p:cNvSpPr/>
          <p:nvPr/>
        </p:nvSpPr>
        <p:spPr>
          <a:xfrm rot="5460000">
            <a:off x="7671086" y="3687230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B2D7EA"/>
          </a:solidFill>
          <a:ln>
            <a:solidFill>
              <a:srgbClr val="B2D7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任意多边形: 形状 39"/>
          <p:cNvSpPr/>
          <p:nvPr/>
        </p:nvSpPr>
        <p:spPr>
          <a:xfrm rot="5460000">
            <a:off x="4353315" y="3657128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D2E1DB"/>
          </a:solidFill>
          <a:ln>
            <a:solidFill>
              <a:srgbClr val="D2E1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任意多边形: 形状 40"/>
          <p:cNvSpPr/>
          <p:nvPr/>
        </p:nvSpPr>
        <p:spPr>
          <a:xfrm rot="5460000">
            <a:off x="2595662" y="3657129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D2E1DB"/>
          </a:solidFill>
          <a:ln>
            <a:solidFill>
              <a:srgbClr val="D2E1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: 形状 41"/>
          <p:cNvSpPr/>
          <p:nvPr/>
        </p:nvSpPr>
        <p:spPr>
          <a:xfrm rot="5460000">
            <a:off x="9522874" y="3688723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CAC4E0"/>
          </a:solidFill>
          <a:ln>
            <a:solidFill>
              <a:srgbClr val="CAC4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任意多边形: 形状 42"/>
          <p:cNvSpPr/>
          <p:nvPr/>
        </p:nvSpPr>
        <p:spPr>
          <a:xfrm rot="5460000">
            <a:off x="10903010" y="3686827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CAC4E0"/>
          </a:solidFill>
          <a:ln>
            <a:solidFill>
              <a:srgbClr val="CAC4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箭头: 下 43"/>
          <p:cNvSpPr/>
          <p:nvPr/>
        </p:nvSpPr>
        <p:spPr>
          <a:xfrm rot="3917286">
            <a:off x="4502507" y="593337"/>
            <a:ext cx="309711" cy="1721046"/>
          </a:xfrm>
          <a:prstGeom prst="downArrow">
            <a:avLst/>
          </a:prstGeom>
          <a:solidFill>
            <a:srgbClr val="B3CFC4"/>
          </a:solidFill>
          <a:ln>
            <a:solidFill>
              <a:srgbClr val="B3CF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箭头: 下 45"/>
          <p:cNvSpPr/>
          <p:nvPr/>
        </p:nvSpPr>
        <p:spPr>
          <a:xfrm rot="17682714" flipH="1">
            <a:off x="9382762" y="512409"/>
            <a:ext cx="309711" cy="1721046"/>
          </a:xfrm>
          <a:prstGeom prst="downArrow">
            <a:avLst/>
          </a:prstGeom>
          <a:solidFill>
            <a:srgbClr val="A5A5E1"/>
          </a:solidFill>
          <a:ln>
            <a:solidFill>
              <a:srgbClr val="A5A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653777" y="4048670"/>
            <a:ext cx="11088643" cy="760643"/>
          </a:xfrm>
          <a:prstGeom prst="rect">
            <a:avLst/>
          </a:prstGeom>
          <a:noFill/>
          <a:ln w="38100">
            <a:solidFill>
              <a:srgbClr val="87C6E3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496480" y="4236059"/>
            <a:ext cx="1577274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优势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465467" y="5422111"/>
            <a:ext cx="1577274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缺点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653777" y="5073395"/>
            <a:ext cx="11088643" cy="1033675"/>
          </a:xfrm>
          <a:prstGeom prst="rect">
            <a:avLst/>
          </a:prstGeom>
          <a:noFill/>
          <a:ln w="38100">
            <a:solidFill>
              <a:srgbClr val="F7D28C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498763" y="403406"/>
            <a:ext cx="2219231" cy="2219231"/>
          </a:xfrm>
          <a:prstGeom prst="ellipse">
            <a:avLst/>
          </a:prstGeom>
          <a:noFill/>
          <a:ln w="57150">
            <a:solidFill>
              <a:srgbClr val="DF87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文本框 53"/>
          <p:cNvSpPr txBox="1"/>
          <p:nvPr/>
        </p:nvSpPr>
        <p:spPr>
          <a:xfrm>
            <a:off x="498256" y="1044526"/>
            <a:ext cx="214411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D53E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文献综述</a:t>
            </a:r>
            <a:endParaRPr lang="zh-CN" altLang="en-US" sz="2800" b="1" dirty="0">
              <a:solidFill>
                <a:srgbClr val="D53E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2800" b="1" dirty="0">
                <a:solidFill>
                  <a:srgbClr val="D53E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框架</a:t>
            </a:r>
            <a:endParaRPr lang="zh-CN" altLang="en-US" sz="2800" b="1" dirty="0">
              <a:solidFill>
                <a:srgbClr val="D53E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844155" y="3285116"/>
            <a:ext cx="4987684" cy="2506083"/>
          </a:xfrm>
          <a:prstGeom prst="rect">
            <a:avLst/>
          </a:prstGeom>
          <a:solidFill>
            <a:srgbClr val="EDF4FA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612757" y="3285116"/>
            <a:ext cx="4878202" cy="2506083"/>
          </a:xfrm>
          <a:prstGeom prst="rect">
            <a:avLst/>
          </a:prstGeom>
          <a:solidFill>
            <a:srgbClr val="FDECEC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612757" y="767071"/>
            <a:ext cx="4878203" cy="2194560"/>
          </a:xfrm>
          <a:prstGeom prst="rect">
            <a:avLst/>
          </a:prstGeom>
          <a:solidFill>
            <a:srgbClr val="EFF6EB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44155" y="802640"/>
            <a:ext cx="4987685" cy="2194560"/>
          </a:xfrm>
          <a:prstGeom prst="rect">
            <a:avLst/>
          </a:prstGeom>
          <a:solidFill>
            <a:srgbClr val="FFF9E5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1168472" y="2072473"/>
            <a:ext cx="2015490" cy="842010"/>
          </a:xfrm>
          <a:prstGeom prst="rect">
            <a:avLst/>
          </a:prstGeom>
          <a:solidFill>
            <a:srgbClr val="F2F8ED"/>
          </a:solidFill>
          <a:ln w="19050">
            <a:solidFill>
              <a:srgbClr val="8CA96E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3589274" y="1076518"/>
            <a:ext cx="2066544" cy="476004"/>
          </a:xfrm>
          <a:prstGeom prst="rect">
            <a:avLst/>
          </a:prstGeom>
          <a:solidFill>
            <a:srgbClr val="7D7C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040384" y="1376717"/>
            <a:ext cx="1591056" cy="329184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040384" y="944881"/>
            <a:ext cx="1591056" cy="329184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89875" y="330656"/>
            <a:ext cx="5885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Problem1:Predict the number of the reported results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26965" y="5912386"/>
            <a:ext cx="5885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Problem2:Predict the distribution of the reported results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12759" y="330656"/>
            <a:ext cx="5025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Problem3:Classify words by difficulty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12758" y="5912386"/>
            <a:ext cx="5025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Problem4:Some interesting features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05921" y="943081"/>
            <a:ext cx="1259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ARIMA model</a:t>
            </a:r>
            <a:endParaRPr lang="zh-CN" altLang="en-US" sz="14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260942" y="1392915"/>
            <a:ext cx="1259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LSTM model</a:t>
            </a:r>
            <a:endParaRPr lang="zh-CN" altLang="en-US" sz="14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右中括号 18"/>
          <p:cNvSpPr/>
          <p:nvPr/>
        </p:nvSpPr>
        <p:spPr>
          <a:xfrm>
            <a:off x="2763485" y="987904"/>
            <a:ext cx="146304" cy="585216"/>
          </a:xfrm>
          <a:prstGeom prst="rightBracket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/>
        </p:nvCxnSpPr>
        <p:spPr>
          <a:xfrm>
            <a:off x="2949794" y="1280512"/>
            <a:ext cx="5994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3583178" y="1094479"/>
            <a:ext cx="2145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interval for the number of the reported results</a:t>
            </a:r>
            <a:endParaRPr lang="zh-CN" altLang="en-US" sz="12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37514" y="1771077"/>
            <a:ext cx="2145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 of the word</a:t>
            </a:r>
            <a:endParaRPr lang="zh-CN" alt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118870" y="2106264"/>
            <a:ext cx="1165860" cy="182880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commonness rating</a:t>
            </a:r>
            <a:endParaRPr lang="zh-CN" altLang="en-US" sz="8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319239" y="2102499"/>
            <a:ext cx="630555" cy="182880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entropy</a:t>
            </a:r>
            <a:endParaRPr lang="zh-CN" altLang="en-US" sz="8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046824" y="2388031"/>
            <a:ext cx="902970" cy="182880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letters</a:t>
            </a:r>
            <a:endParaRPr lang="zh-CN" altLang="en-US" sz="8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118870" y="2646666"/>
            <a:ext cx="1842315" cy="182880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vowels</a:t>
            </a:r>
            <a:endParaRPr lang="zh-CN" altLang="en-US" sz="8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118870" y="2388031"/>
            <a:ext cx="902970" cy="182880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endParaRPr lang="zh-CN" altLang="en-US" sz="8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601265" y="2043172"/>
            <a:ext cx="2054553" cy="344859"/>
          </a:xfrm>
          <a:prstGeom prst="rect">
            <a:avLst/>
          </a:prstGeom>
          <a:solidFill>
            <a:srgbClr val="C35A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sz="1100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precentage</a:t>
            </a:r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 Hard Mode</a:t>
            </a:r>
            <a:endParaRPr lang="zh-CN" altLang="en-US" sz="11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595269" y="2534048"/>
            <a:ext cx="2054553" cy="344859"/>
          </a:xfrm>
          <a:prstGeom prst="rect">
            <a:avLst/>
          </a:prstGeom>
          <a:solidFill>
            <a:srgbClr val="C35A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percentage of (1,2,3,4,5,6,X)</a:t>
            </a:r>
            <a:endParaRPr lang="zh-CN" altLang="en-US" sz="11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直接连接符 33"/>
          <p:cNvCxnSpPr/>
          <p:nvPr/>
        </p:nvCxnSpPr>
        <p:spPr>
          <a:xfrm flipV="1">
            <a:off x="3018194" y="2217420"/>
            <a:ext cx="564984" cy="2336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/>
          <p:cNvCxnSpPr>
            <a:endCxn id="32" idx="1"/>
          </p:cNvCxnSpPr>
          <p:nvPr/>
        </p:nvCxnSpPr>
        <p:spPr>
          <a:xfrm>
            <a:off x="3000107" y="2451100"/>
            <a:ext cx="595162" cy="25537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6662287" y="1021188"/>
            <a:ext cx="14403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and new </a:t>
            </a:r>
            <a:endParaRPr lang="en-US" altLang="zh-CN" sz="11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 of a word</a:t>
            </a:r>
            <a:endParaRPr lang="zh-CN" altLang="en-US" sz="11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585150" y="2040554"/>
            <a:ext cx="15945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Level:</a:t>
            </a:r>
            <a:endParaRPr lang="en-US" altLang="zh-CN" sz="1100" b="1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1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medium difficult</a:t>
            </a:r>
            <a:endParaRPr lang="zh-CN" altLang="en-US" sz="1100" b="1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8323581" y="1031858"/>
            <a:ext cx="918210" cy="344859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</a:t>
            </a:r>
            <a:endParaRPr lang="zh-CN" altLang="en-US" sz="11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8323581" y="1824314"/>
            <a:ext cx="918210" cy="344859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GMM</a:t>
            </a:r>
            <a:endParaRPr lang="zh-CN" altLang="en-US" sz="11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直接箭头连接符 42"/>
          <p:cNvCxnSpPr/>
          <p:nvPr/>
        </p:nvCxnSpPr>
        <p:spPr>
          <a:xfrm flipV="1">
            <a:off x="8054975" y="1204287"/>
            <a:ext cx="19431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8782686" y="1417283"/>
            <a:ext cx="0" cy="3537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右中括号 47"/>
          <p:cNvSpPr/>
          <p:nvPr/>
        </p:nvSpPr>
        <p:spPr>
          <a:xfrm rot="10800000">
            <a:off x="9362452" y="931915"/>
            <a:ext cx="146304" cy="585216"/>
          </a:xfrm>
          <a:prstGeom prst="rightBracket">
            <a:avLst/>
          </a:prstGeom>
          <a:ln w="19050">
            <a:solidFill>
              <a:srgbClr val="8CA96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9558469" y="927876"/>
            <a:ext cx="630686" cy="276411"/>
          </a:xfrm>
          <a:prstGeom prst="rect">
            <a:avLst/>
          </a:prstGeom>
          <a:solidFill>
            <a:srgbClr val="C5E0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0263353" y="927875"/>
            <a:ext cx="960236" cy="276411"/>
          </a:xfrm>
          <a:prstGeom prst="rect">
            <a:avLst/>
          </a:prstGeom>
          <a:solidFill>
            <a:srgbClr val="C5E0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semantics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563608" y="1264898"/>
            <a:ext cx="1659981" cy="276411"/>
          </a:xfrm>
          <a:prstGeom prst="rect">
            <a:avLst/>
          </a:prstGeom>
          <a:solidFill>
            <a:srgbClr val="C5E0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phonetic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直接箭头连接符 51"/>
          <p:cNvCxnSpPr/>
          <p:nvPr/>
        </p:nvCxnSpPr>
        <p:spPr>
          <a:xfrm>
            <a:off x="9435604" y="1967865"/>
            <a:ext cx="31863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>
            <a:off x="10579100" y="2173929"/>
            <a:ext cx="0" cy="3206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9931118" y="1795438"/>
            <a:ext cx="1352478" cy="344853"/>
          </a:xfrm>
          <a:prstGeom prst="rect">
            <a:avLst/>
          </a:prstGeom>
          <a:solidFill>
            <a:srgbClr val="C5E0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Words’ difficulty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9904479" y="2525150"/>
            <a:ext cx="1352478" cy="344853"/>
          </a:xfrm>
          <a:prstGeom prst="rect">
            <a:avLst/>
          </a:prstGeom>
          <a:solidFill>
            <a:srgbClr val="538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Classify “EERIE”</a:t>
            </a:r>
            <a:endParaRPr lang="zh-CN" altLang="en-US" sz="11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8106447" y="2512845"/>
            <a:ext cx="1352478" cy="344853"/>
          </a:xfrm>
          <a:prstGeom prst="rect">
            <a:avLst/>
          </a:prstGeom>
          <a:solidFill>
            <a:srgbClr val="C5E0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attributes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直接箭头连接符 62"/>
          <p:cNvCxnSpPr/>
          <p:nvPr/>
        </p:nvCxnSpPr>
        <p:spPr>
          <a:xfrm flipH="1">
            <a:off x="7993981" y="2002939"/>
            <a:ext cx="255304" cy="199338"/>
          </a:xfrm>
          <a:prstGeom prst="straightConnector1">
            <a:avLst/>
          </a:prstGeom>
          <a:ln w="19050">
            <a:solidFill>
              <a:srgbClr val="53823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7829243" y="2507239"/>
            <a:ext cx="273357" cy="169626"/>
          </a:xfrm>
          <a:prstGeom prst="straightConnector1">
            <a:avLst/>
          </a:prstGeom>
          <a:ln w="19050">
            <a:solidFill>
              <a:srgbClr val="53823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1159672" y="3615174"/>
            <a:ext cx="1361251" cy="38479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future word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1155285" y="4224820"/>
            <a:ext cx="1361251" cy="38479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future date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1137067" y="4747276"/>
            <a:ext cx="1253073" cy="384796"/>
          </a:xfrm>
          <a:prstGeom prst="rect">
            <a:avLst/>
          </a:prstGeom>
          <a:solidFill>
            <a:srgbClr val="C1D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models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137067" y="5215511"/>
            <a:ext cx="1253073" cy="384796"/>
          </a:xfrm>
          <a:prstGeom prst="rect">
            <a:avLst/>
          </a:prstGeom>
          <a:solidFill>
            <a:srgbClr val="C1D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 models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右中括号 70"/>
          <p:cNvSpPr/>
          <p:nvPr/>
        </p:nvSpPr>
        <p:spPr>
          <a:xfrm>
            <a:off x="2425157" y="4894818"/>
            <a:ext cx="146304" cy="585216"/>
          </a:xfrm>
          <a:prstGeom prst="rightBracket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2" name="直接箭头连接符 71"/>
          <p:cNvCxnSpPr/>
          <p:nvPr/>
        </p:nvCxnSpPr>
        <p:spPr>
          <a:xfrm flipV="1">
            <a:off x="2670455" y="5196241"/>
            <a:ext cx="279339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 flipV="1">
            <a:off x="3693101" y="4364736"/>
            <a:ext cx="0" cy="55845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>
            <a:stCxn id="67" idx="3"/>
          </p:cNvCxnSpPr>
          <p:nvPr/>
        </p:nvCxnSpPr>
        <p:spPr>
          <a:xfrm>
            <a:off x="2520923" y="3807572"/>
            <a:ext cx="479184" cy="27674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 flipV="1">
            <a:off x="2516536" y="4076597"/>
            <a:ext cx="483571" cy="33538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2989235" y="3845428"/>
            <a:ext cx="1361251" cy="45453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the reported results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弧形 81"/>
          <p:cNvSpPr/>
          <p:nvPr/>
        </p:nvSpPr>
        <p:spPr>
          <a:xfrm rot="14086265">
            <a:off x="4711138" y="3373731"/>
            <a:ext cx="1515391" cy="1515391"/>
          </a:xfrm>
          <a:prstGeom prst="arc">
            <a:avLst>
              <a:gd name="adj1" fmla="val 16200000"/>
              <a:gd name="adj2" fmla="val 20796819"/>
            </a:avLst>
          </a:prstGeom>
          <a:ln w="28575">
            <a:solidFill>
              <a:srgbClr val="8AA3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4" name="直接连接符 83"/>
          <p:cNvCxnSpPr>
            <a:stCxn id="81" idx="3"/>
          </p:cNvCxnSpPr>
          <p:nvPr/>
        </p:nvCxnSpPr>
        <p:spPr>
          <a:xfrm>
            <a:off x="4350486" y="4072695"/>
            <a:ext cx="353594" cy="0"/>
          </a:xfrm>
          <a:prstGeom prst="line">
            <a:avLst/>
          </a:prstGeom>
          <a:ln w="19050">
            <a:solidFill>
              <a:srgbClr val="97AD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/>
          <p:cNvSpPr txBox="1"/>
          <p:nvPr/>
        </p:nvSpPr>
        <p:spPr>
          <a:xfrm>
            <a:off x="4939966" y="3369424"/>
            <a:ext cx="488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try</a:t>
            </a:r>
            <a:endParaRPr lang="zh-CN" alt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4934415" y="3669072"/>
            <a:ext cx="61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tries</a:t>
            </a:r>
            <a:endParaRPr lang="zh-CN" alt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4942397" y="4226278"/>
            <a:ext cx="61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tries </a:t>
            </a:r>
            <a:endParaRPr lang="zh-CN" alt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4932214" y="4588757"/>
            <a:ext cx="61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tries </a:t>
            </a:r>
            <a:endParaRPr lang="zh-CN" alt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本框 89"/>
          <p:cNvSpPr txBox="1"/>
          <p:nvPr/>
        </p:nvSpPr>
        <p:spPr>
          <a:xfrm rot="5400000">
            <a:off x="5039990" y="3893656"/>
            <a:ext cx="287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91" name="矩形 90"/>
          <p:cNvSpPr/>
          <p:nvPr/>
        </p:nvSpPr>
        <p:spPr>
          <a:xfrm>
            <a:off x="4384191" y="5345116"/>
            <a:ext cx="1361251" cy="298713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“EERIE”</a:t>
            </a:r>
            <a:endParaRPr lang="zh-CN" altLang="en-US" sz="11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6751371" y="3588049"/>
            <a:ext cx="3071941" cy="323227"/>
          </a:xfrm>
          <a:prstGeom prst="rect">
            <a:avLst/>
          </a:prstGeom>
          <a:solidFill>
            <a:srgbClr val="FE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reported results varied over time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6751370" y="4065764"/>
            <a:ext cx="3071941" cy="323227"/>
          </a:xfrm>
          <a:prstGeom prst="rect">
            <a:avLst/>
          </a:prstGeom>
          <a:solidFill>
            <a:srgbClr val="FE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percent of Hard Mode over time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6751369" y="4543479"/>
            <a:ext cx="3071941" cy="323227"/>
          </a:xfrm>
          <a:prstGeom prst="rect">
            <a:avLst/>
          </a:prstGeom>
          <a:solidFill>
            <a:srgbClr val="FE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of the results(1,2,3,4,5,6,X)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6751368" y="5021194"/>
            <a:ext cx="3071941" cy="323227"/>
          </a:xfrm>
          <a:prstGeom prst="rect">
            <a:avLst/>
          </a:prstGeom>
          <a:solidFill>
            <a:srgbClr val="FE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proportion of the position of the 26 letters in the word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弧形 95"/>
          <p:cNvSpPr/>
          <p:nvPr/>
        </p:nvSpPr>
        <p:spPr>
          <a:xfrm rot="3103803">
            <a:off x="8846361" y="3704984"/>
            <a:ext cx="1515391" cy="1515391"/>
          </a:xfrm>
          <a:prstGeom prst="arc">
            <a:avLst>
              <a:gd name="adj1" fmla="val 16200000"/>
              <a:gd name="adj2" fmla="val 20796819"/>
            </a:avLst>
          </a:prstGeom>
          <a:ln w="28575">
            <a:solidFill>
              <a:srgbClr val="FDA7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7" name="直接连接符 96"/>
          <p:cNvCxnSpPr/>
          <p:nvPr/>
        </p:nvCxnSpPr>
        <p:spPr>
          <a:xfrm flipH="1">
            <a:off x="10351715" y="4450386"/>
            <a:ext cx="351845" cy="2"/>
          </a:xfrm>
          <a:prstGeom prst="line">
            <a:avLst/>
          </a:prstGeom>
          <a:ln w="19050">
            <a:solidFill>
              <a:srgbClr val="FDA7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/>
          <p:cNvSpPr txBox="1"/>
          <p:nvPr/>
        </p:nvSpPr>
        <p:spPr>
          <a:xfrm>
            <a:off x="10599506" y="4168898"/>
            <a:ext cx="896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i="1" dirty="0">
                <a:solidFill>
                  <a:srgbClr val="FD87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some</a:t>
            </a:r>
            <a:endParaRPr lang="en-US" altLang="zh-CN" sz="1200" b="1" i="1" dirty="0">
              <a:solidFill>
                <a:srgbClr val="FD87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b="1" i="1" dirty="0">
                <a:solidFill>
                  <a:srgbClr val="FD87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interesting </a:t>
            </a:r>
            <a:endParaRPr lang="en-US" altLang="zh-CN" sz="1200" b="1" i="1" dirty="0">
              <a:solidFill>
                <a:srgbClr val="FD87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b="1" i="1" dirty="0">
                <a:solidFill>
                  <a:srgbClr val="FD87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things</a:t>
            </a:r>
            <a:endParaRPr lang="zh-CN" altLang="en-US" sz="1200" b="1" i="1" dirty="0">
              <a:solidFill>
                <a:srgbClr val="FD87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2" name="直接箭头连接符 101"/>
          <p:cNvCxnSpPr/>
          <p:nvPr/>
        </p:nvCxnSpPr>
        <p:spPr>
          <a:xfrm flipV="1">
            <a:off x="5869940" y="2285379"/>
            <a:ext cx="632460" cy="5035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/>
          <p:nvPr/>
        </p:nvCxnSpPr>
        <p:spPr>
          <a:xfrm>
            <a:off x="5866093" y="2794926"/>
            <a:ext cx="564646" cy="7129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105"/>
          <p:cNvSpPr txBox="1"/>
          <p:nvPr/>
        </p:nvSpPr>
        <p:spPr>
          <a:xfrm>
            <a:off x="2656857" y="5014065"/>
            <a:ext cx="2145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solidFill>
                  <a:srgbClr val="22308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Stacking model</a:t>
            </a:r>
            <a:endParaRPr lang="zh-CN" altLang="en-US" sz="1400" b="1" i="1" dirty="0">
              <a:solidFill>
                <a:srgbClr val="22308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962900" y="3414656"/>
            <a:ext cx="4987684" cy="2506083"/>
          </a:xfrm>
          <a:prstGeom prst="rect">
            <a:avLst/>
          </a:prstGeom>
          <a:solidFill>
            <a:srgbClr val="EDF4FA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731502" y="3414656"/>
            <a:ext cx="4878202" cy="2506083"/>
          </a:xfrm>
          <a:prstGeom prst="rect">
            <a:avLst/>
          </a:prstGeom>
          <a:solidFill>
            <a:srgbClr val="FDECEC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731502" y="896611"/>
            <a:ext cx="4878203" cy="2194560"/>
          </a:xfrm>
          <a:prstGeom prst="rect">
            <a:avLst/>
          </a:prstGeom>
          <a:solidFill>
            <a:srgbClr val="EFF6EB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962900" y="932180"/>
            <a:ext cx="4987685" cy="2194560"/>
          </a:xfrm>
          <a:prstGeom prst="rect">
            <a:avLst/>
          </a:prstGeom>
          <a:solidFill>
            <a:srgbClr val="FFF9E5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1123315" y="2176145"/>
            <a:ext cx="2179320" cy="868045"/>
          </a:xfrm>
          <a:prstGeom prst="rect">
            <a:avLst/>
          </a:prstGeom>
          <a:solidFill>
            <a:srgbClr val="F2F8ED"/>
          </a:solidFill>
          <a:ln w="19050">
            <a:solidFill>
              <a:srgbClr val="8CA96E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3708019" y="1206058"/>
            <a:ext cx="2066544" cy="476004"/>
          </a:xfrm>
          <a:prstGeom prst="rect">
            <a:avLst/>
          </a:prstGeom>
          <a:solidFill>
            <a:srgbClr val="7D7C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159129" y="1506257"/>
            <a:ext cx="1591056" cy="329184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159129" y="1028701"/>
            <a:ext cx="1591056" cy="329184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08620" y="460196"/>
            <a:ext cx="588579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问题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预测报告结果的数量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45710" y="6041926"/>
            <a:ext cx="588579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问题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预测报告结果的分布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31504" y="460196"/>
            <a:ext cx="502552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问题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按难度分类单词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31503" y="6041926"/>
            <a:ext cx="502552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问题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一些有趣的特征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24666" y="1026901"/>
            <a:ext cx="125998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ARIMA </a:t>
            </a:r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模型</a:t>
            </a:r>
            <a:endParaRPr lang="zh-CN" alt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379687" y="1522455"/>
            <a:ext cx="125998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LSTM </a:t>
            </a:r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模型</a:t>
            </a:r>
            <a:endParaRPr lang="zh-CN" alt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右中括号 18"/>
          <p:cNvSpPr/>
          <p:nvPr/>
        </p:nvSpPr>
        <p:spPr>
          <a:xfrm>
            <a:off x="2882265" y="1161415"/>
            <a:ext cx="146050" cy="541655"/>
          </a:xfrm>
          <a:prstGeom prst="rightBracket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/>
        </p:nvCxnSpPr>
        <p:spPr>
          <a:xfrm>
            <a:off x="3068539" y="1410052"/>
            <a:ext cx="5994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3701923" y="1277359"/>
            <a:ext cx="21458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预测报告结果数量的区间</a:t>
            </a:r>
            <a:endParaRPr lang="zh-CN" altLang="en-US" sz="1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056259" y="1900617"/>
            <a:ext cx="21458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单词属性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237615" y="2235804"/>
            <a:ext cx="1165860" cy="182880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常见度评分</a:t>
            </a:r>
            <a:endParaRPr lang="zh-CN" altLang="en-US" sz="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437984" y="2232039"/>
            <a:ext cx="630555" cy="182880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熵</a:t>
            </a:r>
            <a:endParaRPr lang="zh-CN" altLang="en-US" sz="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165569" y="2517571"/>
            <a:ext cx="902970" cy="182880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字母数量</a:t>
            </a:r>
            <a:endParaRPr lang="zh-CN" altLang="en-US" sz="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237615" y="2776206"/>
            <a:ext cx="1842315" cy="182880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元音数量</a:t>
            </a:r>
            <a:endParaRPr lang="zh-CN" altLang="en-US" sz="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237615" y="2517571"/>
            <a:ext cx="902970" cy="182880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频率</a:t>
            </a:r>
            <a:endParaRPr lang="zh-CN" altLang="en-US" sz="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720010" y="2172712"/>
            <a:ext cx="2054553" cy="344859"/>
          </a:xfrm>
          <a:prstGeom prst="rect">
            <a:avLst/>
          </a:prstGeom>
          <a:solidFill>
            <a:srgbClr val="C35A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困难模式的百分比</a:t>
            </a:r>
            <a:endParaRPr lang="zh-CN" altLang="en-US" sz="11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714014" y="2663588"/>
            <a:ext cx="2054553" cy="344859"/>
          </a:xfrm>
          <a:prstGeom prst="rect">
            <a:avLst/>
          </a:prstGeom>
          <a:solidFill>
            <a:srgbClr val="C35A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(1,2,3,4,5,6,X)</a:t>
            </a:r>
            <a:r>
              <a:rPr lang="zh-CN" alt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的占比</a:t>
            </a:r>
            <a:endParaRPr lang="zh-CN" altLang="en-US" sz="11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直接连接符 33"/>
          <p:cNvCxnSpPr/>
          <p:nvPr/>
        </p:nvCxnSpPr>
        <p:spPr>
          <a:xfrm flipV="1">
            <a:off x="3136939" y="2346960"/>
            <a:ext cx="564984" cy="2336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/>
          <p:cNvCxnSpPr>
            <a:endCxn id="32" idx="1"/>
          </p:cNvCxnSpPr>
          <p:nvPr/>
        </p:nvCxnSpPr>
        <p:spPr>
          <a:xfrm>
            <a:off x="3118852" y="2580640"/>
            <a:ext cx="595162" cy="25537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6781032" y="1150728"/>
            <a:ext cx="1440313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单词的历史和新属性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703895" y="2312334"/>
            <a:ext cx="159458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三等级</a:t>
            </a:r>
            <a:r>
              <a:rPr lang="en-US" altLang="zh-CN" sz="11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11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简单</a:t>
            </a:r>
            <a:r>
              <a:rPr lang="en-US" altLang="zh-CN" sz="11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1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中等</a:t>
            </a:r>
            <a:r>
              <a:rPr lang="en-US" altLang="zh-CN" sz="11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1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困难</a:t>
            </a:r>
            <a:endParaRPr lang="zh-CN" altLang="en-US" sz="11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8442326" y="1161398"/>
            <a:ext cx="918210" cy="344859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主成分分析</a:t>
            </a:r>
            <a:endParaRPr lang="zh-CN" altLang="en-US" sz="11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8442326" y="1953854"/>
            <a:ext cx="918210" cy="344859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高斯混合模型</a:t>
            </a:r>
            <a:endParaRPr lang="zh-CN" altLang="en-US" sz="9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直接箭头连接符 42"/>
          <p:cNvCxnSpPr/>
          <p:nvPr/>
        </p:nvCxnSpPr>
        <p:spPr>
          <a:xfrm flipV="1">
            <a:off x="8173720" y="1333827"/>
            <a:ext cx="19431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8901431" y="1546823"/>
            <a:ext cx="0" cy="3537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右中括号 47"/>
          <p:cNvSpPr/>
          <p:nvPr/>
        </p:nvSpPr>
        <p:spPr>
          <a:xfrm rot="10800000">
            <a:off x="9481197" y="1061455"/>
            <a:ext cx="146304" cy="585216"/>
          </a:xfrm>
          <a:prstGeom prst="rightBracket">
            <a:avLst/>
          </a:prstGeom>
          <a:ln w="19050">
            <a:solidFill>
              <a:srgbClr val="8CA96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9677214" y="1057416"/>
            <a:ext cx="630686" cy="276411"/>
          </a:xfrm>
          <a:prstGeom prst="rect">
            <a:avLst/>
          </a:prstGeom>
          <a:solidFill>
            <a:srgbClr val="C5E0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单词</a:t>
            </a:r>
            <a:endParaRPr lang="zh-CN" alt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0382098" y="1057415"/>
            <a:ext cx="960236" cy="276411"/>
          </a:xfrm>
          <a:prstGeom prst="rect">
            <a:avLst/>
          </a:prstGeom>
          <a:solidFill>
            <a:srgbClr val="C5E0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语义</a:t>
            </a:r>
            <a:endParaRPr lang="zh-CN" alt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682353" y="1394438"/>
            <a:ext cx="1659981" cy="276411"/>
          </a:xfrm>
          <a:prstGeom prst="rect">
            <a:avLst/>
          </a:prstGeom>
          <a:solidFill>
            <a:srgbClr val="C5E0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语音学特征</a:t>
            </a:r>
            <a:endParaRPr lang="zh-CN" alt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直接箭头连接符 51"/>
          <p:cNvCxnSpPr/>
          <p:nvPr/>
        </p:nvCxnSpPr>
        <p:spPr>
          <a:xfrm>
            <a:off x="9554349" y="2097405"/>
            <a:ext cx="31863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>
            <a:off x="10697845" y="2303469"/>
            <a:ext cx="0" cy="3206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10049863" y="1924978"/>
            <a:ext cx="1352478" cy="344853"/>
          </a:xfrm>
          <a:prstGeom prst="rect">
            <a:avLst/>
          </a:prstGeom>
          <a:solidFill>
            <a:srgbClr val="C5E0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单词难度</a:t>
            </a:r>
            <a:endParaRPr lang="zh-CN" alt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0023224" y="2654690"/>
            <a:ext cx="1352478" cy="344853"/>
          </a:xfrm>
          <a:prstGeom prst="rect">
            <a:avLst/>
          </a:prstGeom>
          <a:solidFill>
            <a:srgbClr val="538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“EERIE”</a:t>
            </a:r>
            <a:r>
              <a:rPr lang="zh-CN" alt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分类</a:t>
            </a:r>
            <a:endParaRPr lang="zh-CN" altLang="en-US" sz="11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8274722" y="2642385"/>
            <a:ext cx="1352478" cy="344853"/>
          </a:xfrm>
          <a:prstGeom prst="rect">
            <a:avLst/>
          </a:prstGeom>
          <a:solidFill>
            <a:srgbClr val="C5E0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识别属性</a:t>
            </a:r>
            <a:endParaRPr lang="zh-CN" alt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直接箭头连接符 62"/>
          <p:cNvCxnSpPr/>
          <p:nvPr/>
        </p:nvCxnSpPr>
        <p:spPr>
          <a:xfrm flipH="1">
            <a:off x="7983220" y="2132479"/>
            <a:ext cx="384810" cy="142240"/>
          </a:xfrm>
          <a:prstGeom prst="straightConnector1">
            <a:avLst/>
          </a:prstGeom>
          <a:ln w="19050">
            <a:solidFill>
              <a:srgbClr val="53823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7982913" y="2617729"/>
            <a:ext cx="238125" cy="188595"/>
          </a:xfrm>
          <a:prstGeom prst="straightConnector1">
            <a:avLst/>
          </a:prstGeom>
          <a:ln w="19050">
            <a:solidFill>
              <a:srgbClr val="53823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1278417" y="3744714"/>
            <a:ext cx="1361251" cy="38479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未来单词</a:t>
            </a:r>
            <a:endParaRPr lang="zh-CN" alt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1274030" y="4354360"/>
            <a:ext cx="1361251" cy="38479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未来日期</a:t>
            </a:r>
            <a:endParaRPr lang="zh-CN" alt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1255812" y="4876816"/>
            <a:ext cx="1253073" cy="384796"/>
          </a:xfrm>
          <a:prstGeom prst="rect">
            <a:avLst/>
          </a:prstGeom>
          <a:solidFill>
            <a:srgbClr val="C1D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线性模型</a:t>
            </a:r>
            <a:endParaRPr lang="zh-CN" alt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255812" y="5345051"/>
            <a:ext cx="1253073" cy="384796"/>
          </a:xfrm>
          <a:prstGeom prst="rect">
            <a:avLst/>
          </a:prstGeom>
          <a:solidFill>
            <a:srgbClr val="C1D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树模型</a:t>
            </a:r>
            <a:endParaRPr lang="zh-CN" alt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右中括号 70"/>
          <p:cNvSpPr/>
          <p:nvPr/>
        </p:nvSpPr>
        <p:spPr>
          <a:xfrm>
            <a:off x="2543902" y="5024358"/>
            <a:ext cx="146304" cy="585216"/>
          </a:xfrm>
          <a:prstGeom prst="rightBracket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2" name="直接箭头连接符 71"/>
          <p:cNvCxnSpPr/>
          <p:nvPr/>
        </p:nvCxnSpPr>
        <p:spPr>
          <a:xfrm flipV="1">
            <a:off x="2789200" y="5325781"/>
            <a:ext cx="279339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 flipV="1">
            <a:off x="3811846" y="4494276"/>
            <a:ext cx="0" cy="55845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>
            <a:stCxn id="67" idx="3"/>
          </p:cNvCxnSpPr>
          <p:nvPr/>
        </p:nvCxnSpPr>
        <p:spPr>
          <a:xfrm>
            <a:off x="2639668" y="3937112"/>
            <a:ext cx="479184" cy="27674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 flipV="1">
            <a:off x="2635281" y="4206137"/>
            <a:ext cx="483571" cy="33538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3107980" y="3974968"/>
            <a:ext cx="1361251" cy="45453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报告结果的分布</a:t>
            </a:r>
            <a:endParaRPr lang="zh-CN" alt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弧形 81"/>
          <p:cNvSpPr/>
          <p:nvPr/>
        </p:nvSpPr>
        <p:spPr>
          <a:xfrm rot="14086265">
            <a:off x="4829883" y="3503271"/>
            <a:ext cx="1515391" cy="1515391"/>
          </a:xfrm>
          <a:prstGeom prst="arc">
            <a:avLst>
              <a:gd name="adj1" fmla="val 16200000"/>
              <a:gd name="adj2" fmla="val 20796819"/>
            </a:avLst>
          </a:prstGeom>
          <a:ln w="28575">
            <a:solidFill>
              <a:srgbClr val="8AA3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4" name="直接连接符 83"/>
          <p:cNvCxnSpPr>
            <a:stCxn id="81" idx="3"/>
          </p:cNvCxnSpPr>
          <p:nvPr/>
        </p:nvCxnSpPr>
        <p:spPr>
          <a:xfrm>
            <a:off x="4469231" y="4202235"/>
            <a:ext cx="353594" cy="0"/>
          </a:xfrm>
          <a:prstGeom prst="line">
            <a:avLst/>
          </a:prstGeom>
          <a:ln w="19050">
            <a:solidFill>
              <a:srgbClr val="97AD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/>
          <p:cNvSpPr txBox="1"/>
          <p:nvPr/>
        </p:nvSpPr>
        <p:spPr>
          <a:xfrm>
            <a:off x="5058410" y="3498850"/>
            <a:ext cx="61722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次尝试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5053160" y="3798612"/>
            <a:ext cx="613744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次尝试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5061142" y="4355818"/>
            <a:ext cx="613744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次尝试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5050790" y="4718050"/>
            <a:ext cx="7175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次尝试</a:t>
            </a:r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本框 89"/>
          <p:cNvSpPr txBox="1"/>
          <p:nvPr/>
        </p:nvSpPr>
        <p:spPr>
          <a:xfrm rot="5400000">
            <a:off x="5158735" y="4023196"/>
            <a:ext cx="287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en-US" altLang="zh-CN" dirty="0"/>
          </a:p>
        </p:txBody>
      </p:sp>
      <p:sp>
        <p:nvSpPr>
          <p:cNvPr id="91" name="矩形 90"/>
          <p:cNvSpPr/>
          <p:nvPr/>
        </p:nvSpPr>
        <p:spPr>
          <a:xfrm>
            <a:off x="4502936" y="5474656"/>
            <a:ext cx="1361251" cy="298713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预测</a:t>
            </a:r>
            <a:r>
              <a:rPr lang="en-US" altLang="zh-CN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“EERIE”</a:t>
            </a:r>
            <a:endParaRPr lang="zh-CN" altLang="en-US" sz="11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6870116" y="3717589"/>
            <a:ext cx="3071941" cy="323227"/>
          </a:xfrm>
          <a:prstGeom prst="rect">
            <a:avLst/>
          </a:prstGeom>
          <a:solidFill>
            <a:srgbClr val="FE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报告结果的数量随时间变化</a:t>
            </a:r>
            <a:endParaRPr lang="zh-CN" alt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6870115" y="4195304"/>
            <a:ext cx="3071941" cy="323227"/>
          </a:xfrm>
          <a:prstGeom prst="rect">
            <a:avLst/>
          </a:prstGeom>
          <a:solidFill>
            <a:srgbClr val="FE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随时间变化的困难模式百分比</a:t>
            </a:r>
            <a:endParaRPr lang="zh-CN" alt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6870114" y="4673019"/>
            <a:ext cx="3071941" cy="323227"/>
          </a:xfrm>
          <a:prstGeom prst="rect">
            <a:avLst/>
          </a:prstGeom>
          <a:solidFill>
            <a:srgbClr val="FE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结果分布</a:t>
            </a:r>
            <a:r>
              <a:rPr lang="en-US" altLang="zh-CN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(1,2,3,4,5,6,X)</a:t>
            </a:r>
            <a:endParaRPr lang="en-US" altLang="zh-CN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6870113" y="5150734"/>
            <a:ext cx="3071941" cy="323227"/>
          </a:xfrm>
          <a:prstGeom prst="rect">
            <a:avLst/>
          </a:prstGeom>
          <a:solidFill>
            <a:srgbClr val="FE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单词中</a:t>
            </a:r>
            <a:r>
              <a:rPr lang="en-US" altLang="zh-CN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个字母位置的比例</a:t>
            </a:r>
            <a:endParaRPr lang="zh-CN" alt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弧形 95"/>
          <p:cNvSpPr/>
          <p:nvPr/>
        </p:nvSpPr>
        <p:spPr>
          <a:xfrm rot="3103803">
            <a:off x="8782226" y="3834524"/>
            <a:ext cx="1515391" cy="1515391"/>
          </a:xfrm>
          <a:prstGeom prst="arc">
            <a:avLst>
              <a:gd name="adj1" fmla="val 16200000"/>
              <a:gd name="adj2" fmla="val 20796819"/>
            </a:avLst>
          </a:prstGeom>
          <a:ln w="28575">
            <a:solidFill>
              <a:srgbClr val="FDA7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7" name="直接连接符 96"/>
          <p:cNvCxnSpPr/>
          <p:nvPr/>
        </p:nvCxnSpPr>
        <p:spPr>
          <a:xfrm flipH="1">
            <a:off x="10287580" y="4579926"/>
            <a:ext cx="351845" cy="2"/>
          </a:xfrm>
          <a:prstGeom prst="line">
            <a:avLst/>
          </a:prstGeom>
          <a:ln w="19050">
            <a:solidFill>
              <a:srgbClr val="FDA7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/>
          <p:cNvSpPr txBox="1"/>
          <p:nvPr/>
        </p:nvSpPr>
        <p:spPr>
          <a:xfrm>
            <a:off x="10605221" y="4284468"/>
            <a:ext cx="89653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FD87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发现一些有趣的事情</a:t>
            </a:r>
            <a:endParaRPr lang="zh-CN" altLang="en-US" sz="1200" b="1" dirty="0">
              <a:solidFill>
                <a:srgbClr val="FD87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2" name="直接箭头连接符 101"/>
          <p:cNvCxnSpPr/>
          <p:nvPr/>
        </p:nvCxnSpPr>
        <p:spPr>
          <a:xfrm flipV="1">
            <a:off x="5988685" y="2414919"/>
            <a:ext cx="632460" cy="5035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/>
          <p:nvPr/>
        </p:nvCxnSpPr>
        <p:spPr>
          <a:xfrm>
            <a:off x="5984838" y="2924466"/>
            <a:ext cx="564646" cy="7129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105"/>
          <p:cNvSpPr txBox="1"/>
          <p:nvPr/>
        </p:nvSpPr>
        <p:spPr>
          <a:xfrm>
            <a:off x="2775602" y="5143605"/>
            <a:ext cx="21458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2308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堆叠模型</a:t>
            </a:r>
            <a:endParaRPr lang="zh-CN" altLang="en-US" sz="1400" b="1" dirty="0">
              <a:solidFill>
                <a:srgbClr val="22308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107521" y="693923"/>
            <a:ext cx="3783724" cy="4845269"/>
          </a:xfrm>
          <a:prstGeom prst="rect">
            <a:avLst/>
          </a:prstGeom>
          <a:noFill/>
          <a:ln w="28575">
            <a:solidFill>
              <a:srgbClr val="2E75B6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001603" y="693924"/>
            <a:ext cx="4223897" cy="1401870"/>
          </a:xfrm>
          <a:prstGeom prst="rect">
            <a:avLst/>
          </a:prstGeom>
          <a:noFill/>
          <a:ln w="28575">
            <a:solidFill>
              <a:srgbClr val="C5590F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001603" y="2237121"/>
            <a:ext cx="4223897" cy="3302071"/>
          </a:xfrm>
          <a:prstGeom prst="rect">
            <a:avLst/>
          </a:prstGeom>
          <a:noFill/>
          <a:ln w="28575">
            <a:solidFill>
              <a:srgbClr val="4C7C2C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/>
        </p:nvSpPr>
        <p:spPr>
          <a:xfrm>
            <a:off x="2358543" y="895722"/>
            <a:ext cx="3322320" cy="426720"/>
          </a:xfrm>
          <a:prstGeom prst="roundRect">
            <a:avLst/>
          </a:prstGeom>
          <a:solidFill>
            <a:srgbClr val="FFE69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Data Preparation &amp; Processing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2358543" y="1549745"/>
            <a:ext cx="3322320" cy="426720"/>
          </a:xfrm>
          <a:prstGeom prst="roundRect">
            <a:avLst/>
          </a:prstGeom>
          <a:solidFill>
            <a:srgbClr val="2E75B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Model Constructing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2358543" y="2290739"/>
            <a:ext cx="1434662" cy="426720"/>
          </a:xfrm>
          <a:prstGeom prst="roundRect">
            <a:avLst/>
          </a:prstGeom>
          <a:solidFill>
            <a:srgbClr val="9DC3E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2358543" y="2958262"/>
            <a:ext cx="1434662" cy="426720"/>
          </a:xfrm>
          <a:prstGeom prst="roundRect">
            <a:avLst/>
          </a:prstGeom>
          <a:solidFill>
            <a:srgbClr val="9DC3E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Single G-T-I-D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2358543" y="3625785"/>
            <a:ext cx="1434662" cy="426720"/>
          </a:xfrm>
          <a:prstGeom prst="roundRect">
            <a:avLst/>
          </a:prstGeom>
          <a:solidFill>
            <a:srgbClr val="9DC3E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correlation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2358543" y="4293308"/>
            <a:ext cx="1434662" cy="426720"/>
          </a:xfrm>
          <a:prstGeom prst="roundRect">
            <a:avLst/>
          </a:prstGeom>
          <a:solidFill>
            <a:srgbClr val="9DC3E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Adjacency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matrix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2358543" y="4960832"/>
            <a:ext cx="1434662" cy="426720"/>
          </a:xfrm>
          <a:prstGeom prst="roundRect">
            <a:avLst/>
          </a:prstGeom>
          <a:solidFill>
            <a:srgbClr val="9DC3E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4246201" y="2290739"/>
            <a:ext cx="1434662" cy="426720"/>
          </a:xfrm>
          <a:prstGeom prst="roundRect">
            <a:avLst/>
          </a:prstGeom>
          <a:solidFill>
            <a:srgbClr val="8FAAD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Priority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Selection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4246201" y="2958262"/>
            <a:ext cx="1434662" cy="426720"/>
          </a:xfrm>
          <a:prstGeom prst="roundRect">
            <a:avLst/>
          </a:prstGeom>
          <a:solidFill>
            <a:srgbClr val="8FAAD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Dynamics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4297947" y="3625785"/>
            <a:ext cx="1434662" cy="426720"/>
          </a:xfrm>
          <a:prstGeom prst="roundRect">
            <a:avLst/>
          </a:prstGeom>
          <a:solidFill>
            <a:srgbClr val="8FAAD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Row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Parameter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4336408" y="4293308"/>
            <a:ext cx="1434662" cy="426720"/>
          </a:xfrm>
          <a:prstGeom prst="roundRect">
            <a:avLst/>
          </a:prstGeom>
          <a:solidFill>
            <a:srgbClr val="8FAAD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score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4300925" y="4960832"/>
            <a:ext cx="1434662" cy="426720"/>
          </a:xfrm>
          <a:prstGeom prst="roundRect">
            <a:avLst/>
          </a:prstGeom>
          <a:solidFill>
            <a:srgbClr val="8FAAD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Method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6060530" y="886859"/>
            <a:ext cx="4095882" cy="426720"/>
          </a:xfrm>
          <a:prstGeom prst="roundRect">
            <a:avLst/>
          </a:prstGeom>
          <a:solidFill>
            <a:srgbClr val="F4B18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Application of the model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6060530" y="1526378"/>
            <a:ext cx="1781435" cy="426720"/>
          </a:xfrm>
          <a:prstGeom prst="roundRect">
            <a:avLst/>
          </a:prstGeom>
          <a:solidFill>
            <a:srgbClr val="F8CBAD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Network in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Different regions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8374977" y="1562114"/>
            <a:ext cx="1781435" cy="426720"/>
          </a:xfrm>
          <a:prstGeom prst="roundRect">
            <a:avLst/>
          </a:prstGeom>
          <a:solidFill>
            <a:srgbClr val="F8CBAD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Priority election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For regions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6060530" y="2344329"/>
            <a:ext cx="4095882" cy="426720"/>
          </a:xfrm>
          <a:prstGeom prst="roundRect">
            <a:avLst/>
          </a:prstGeom>
          <a:solidFill>
            <a:srgbClr val="548235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Correction of the model in different cases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6101452" y="2924464"/>
            <a:ext cx="1813873" cy="426720"/>
          </a:xfrm>
          <a:prstGeom prst="roundRect">
            <a:avLst/>
          </a:prstGeom>
          <a:solidFill>
            <a:srgbClr val="A9D18E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SDG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implementation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8108471" y="2946185"/>
            <a:ext cx="2069697" cy="426720"/>
          </a:xfrm>
          <a:prstGeom prst="roundRect">
            <a:avLst/>
          </a:prstGeom>
          <a:solidFill>
            <a:srgbClr val="A9D18E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International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Opportunities/crises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6147661" y="3567395"/>
            <a:ext cx="882834" cy="744201"/>
          </a:xfrm>
          <a:prstGeom prst="roundRect">
            <a:avLst/>
          </a:prstGeom>
          <a:solidFill>
            <a:srgbClr val="C5E0B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7147157" y="3567395"/>
            <a:ext cx="882834" cy="744201"/>
          </a:xfrm>
          <a:prstGeom prst="roundRect">
            <a:avLst/>
          </a:prstGeom>
          <a:solidFill>
            <a:srgbClr val="C5E0B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Priority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Selection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矩形: 圆角 30"/>
          <p:cNvSpPr/>
          <p:nvPr/>
        </p:nvSpPr>
        <p:spPr>
          <a:xfrm>
            <a:off x="8195669" y="3594734"/>
            <a:ext cx="882834" cy="744201"/>
          </a:xfrm>
          <a:prstGeom prst="roundRect">
            <a:avLst/>
          </a:prstGeom>
          <a:solidFill>
            <a:srgbClr val="C5E0B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9295334" y="3567395"/>
            <a:ext cx="882834" cy="744201"/>
          </a:xfrm>
          <a:prstGeom prst="roundRect">
            <a:avLst/>
          </a:prstGeom>
          <a:solidFill>
            <a:srgbClr val="C5E0B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Priority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Selection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6147661" y="4493517"/>
            <a:ext cx="882834" cy="894035"/>
          </a:xfrm>
          <a:prstGeom prst="roundRect">
            <a:avLst/>
          </a:prstGeom>
          <a:solidFill>
            <a:srgbClr val="E2F0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One-way</a:t>
            </a:r>
            <a:endParaRPr lang="en-US" altLang="zh-CN" sz="1400" b="1" dirty="0">
              <a:solidFill>
                <a:srgbClr val="7975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  <a:endParaRPr lang="zh-CN" altLang="en-US" sz="1400" b="1" dirty="0">
              <a:solidFill>
                <a:srgbClr val="7975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矩形: 圆角 33"/>
          <p:cNvSpPr/>
          <p:nvPr/>
        </p:nvSpPr>
        <p:spPr>
          <a:xfrm>
            <a:off x="7196885" y="4493516"/>
            <a:ext cx="882834" cy="894035"/>
          </a:xfrm>
          <a:prstGeom prst="roundRect">
            <a:avLst/>
          </a:prstGeom>
          <a:solidFill>
            <a:srgbClr val="E2F0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be achieved</a:t>
            </a:r>
            <a:endParaRPr lang="zh-CN" altLang="en-US" sz="1400" b="1" dirty="0">
              <a:solidFill>
                <a:srgbClr val="7975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矩形: 圆角 34"/>
          <p:cNvSpPr/>
          <p:nvPr/>
        </p:nvSpPr>
        <p:spPr>
          <a:xfrm>
            <a:off x="8246109" y="4493516"/>
            <a:ext cx="882834" cy="894035"/>
          </a:xfrm>
          <a:prstGeom prst="roundRect">
            <a:avLst/>
          </a:prstGeom>
          <a:solidFill>
            <a:srgbClr val="E2F0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G’=</a:t>
            </a:r>
            <a:r>
              <a:rPr lang="en-US" altLang="zh-CN" sz="1400" b="1" dirty="0" err="1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G+c</a:t>
            </a:r>
            <a:r>
              <a:rPr lang="zh-CN" altLang="en-US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▲</a:t>
            </a:r>
            <a:endParaRPr lang="zh-CN" altLang="en-US" sz="1400" b="1" dirty="0">
              <a:solidFill>
                <a:srgbClr val="7975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9295334" y="4478376"/>
            <a:ext cx="882834" cy="894035"/>
          </a:xfrm>
          <a:prstGeom prst="roundRect">
            <a:avLst/>
          </a:prstGeom>
          <a:solidFill>
            <a:srgbClr val="E2F0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 </a:t>
            </a:r>
            <a:endParaRPr lang="en-US" altLang="zh-CN" sz="1400" b="1" dirty="0">
              <a:solidFill>
                <a:srgbClr val="7975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zh-CN" altLang="en-US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endParaRPr lang="zh-CN" altLang="en-US" sz="1400" b="1" dirty="0">
              <a:solidFill>
                <a:srgbClr val="7975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2132045" y="5655882"/>
            <a:ext cx="8093455" cy="426720"/>
          </a:xfrm>
          <a:prstGeom prst="roundRect">
            <a:avLst/>
          </a:prstGeom>
          <a:solidFill>
            <a:srgbClr val="A6A6A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Promote to other organizations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980521" y="676143"/>
            <a:ext cx="3783724" cy="4845269"/>
          </a:xfrm>
          <a:prstGeom prst="rect">
            <a:avLst/>
          </a:prstGeom>
          <a:noFill/>
          <a:ln w="28575">
            <a:solidFill>
              <a:srgbClr val="2E75B6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874603" y="676144"/>
            <a:ext cx="4223897" cy="1401870"/>
          </a:xfrm>
          <a:prstGeom prst="rect">
            <a:avLst/>
          </a:prstGeom>
          <a:noFill/>
          <a:ln w="28575">
            <a:solidFill>
              <a:srgbClr val="C5590F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5874603" y="2219341"/>
            <a:ext cx="4223897" cy="3302071"/>
          </a:xfrm>
          <a:prstGeom prst="rect">
            <a:avLst/>
          </a:prstGeom>
          <a:noFill/>
          <a:ln w="28575">
            <a:solidFill>
              <a:srgbClr val="4C7C2C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2231543" y="877942"/>
            <a:ext cx="3322320" cy="426720"/>
          </a:xfrm>
          <a:prstGeom prst="roundRect">
            <a:avLst/>
          </a:prstGeom>
          <a:solidFill>
            <a:srgbClr val="FFE69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数据准备与处理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2231543" y="1531965"/>
            <a:ext cx="3322320" cy="42672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模型构建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2231543" y="2272959"/>
            <a:ext cx="1434662" cy="426720"/>
          </a:xfrm>
          <a:prstGeom prst="roundRect">
            <a:avLst/>
          </a:prstGeom>
          <a:solidFill>
            <a:srgbClr val="9DC3E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网络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2231543" y="2940482"/>
            <a:ext cx="1434662" cy="426720"/>
          </a:xfrm>
          <a:prstGeom prst="roundRect">
            <a:avLst/>
          </a:prstGeom>
          <a:solidFill>
            <a:srgbClr val="9DC3E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单</a:t>
            </a: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G-T-I-D</a:t>
            </a:r>
            <a:endParaRPr lang="en-US" altLang="zh-CN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2231543" y="3608005"/>
            <a:ext cx="1434662" cy="426720"/>
          </a:xfrm>
          <a:prstGeom prst="roundRect">
            <a:avLst/>
          </a:prstGeom>
          <a:solidFill>
            <a:srgbClr val="9DC3E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数据相关性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2231543" y="4275528"/>
            <a:ext cx="1434662" cy="426720"/>
          </a:xfrm>
          <a:prstGeom prst="roundRect">
            <a:avLst/>
          </a:prstGeom>
          <a:solidFill>
            <a:srgbClr val="9DC3E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邻接矩阵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2231543" y="4943052"/>
            <a:ext cx="1434662" cy="426720"/>
          </a:xfrm>
          <a:prstGeom prst="roundRect">
            <a:avLst/>
          </a:prstGeom>
          <a:solidFill>
            <a:srgbClr val="9DC3E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endParaRPr lang="en-US" altLang="zh-CN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4119201" y="2272959"/>
            <a:ext cx="1434662" cy="426720"/>
          </a:xfrm>
          <a:prstGeom prst="roundRect">
            <a:avLst/>
          </a:prstGeom>
          <a:solidFill>
            <a:srgbClr val="8FAAD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优先级选择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4119201" y="2940482"/>
            <a:ext cx="1434662" cy="426720"/>
          </a:xfrm>
          <a:prstGeom prst="roundRect">
            <a:avLst/>
          </a:prstGeom>
          <a:solidFill>
            <a:srgbClr val="8FAAD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系统动力学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4170947" y="3608005"/>
            <a:ext cx="1434662" cy="426720"/>
          </a:xfrm>
          <a:prstGeom prst="roundRect">
            <a:avLst/>
          </a:prstGeom>
          <a:solidFill>
            <a:srgbClr val="8FAAD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行参数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4209408" y="4275528"/>
            <a:ext cx="1434662" cy="426720"/>
          </a:xfrm>
          <a:prstGeom prst="roundRect">
            <a:avLst/>
          </a:prstGeom>
          <a:solidFill>
            <a:srgbClr val="8FAAD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得分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4173925" y="4943052"/>
            <a:ext cx="1434662" cy="426720"/>
          </a:xfrm>
          <a:prstGeom prst="roundRect">
            <a:avLst/>
          </a:prstGeom>
          <a:solidFill>
            <a:srgbClr val="8FAAD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方法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5975350" y="869315"/>
            <a:ext cx="4005580" cy="426720"/>
          </a:xfrm>
          <a:prstGeom prst="roundRect">
            <a:avLst/>
          </a:prstGeom>
          <a:solidFill>
            <a:srgbClr val="F4B18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模型应用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5967820" y="1508598"/>
            <a:ext cx="1781435" cy="426720"/>
          </a:xfrm>
          <a:prstGeom prst="roundRect">
            <a:avLst/>
          </a:prstGeom>
          <a:solidFill>
            <a:srgbClr val="F8CBAD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不同区域的网络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8213725" y="1508760"/>
            <a:ext cx="1767205" cy="426720"/>
          </a:xfrm>
          <a:prstGeom prst="roundRect">
            <a:avLst/>
          </a:prstGeom>
          <a:solidFill>
            <a:srgbClr val="F8CBAD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区域优先级选举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5933530" y="2326549"/>
            <a:ext cx="4095882" cy="426720"/>
          </a:xfrm>
          <a:prstGeom prst="roundRect">
            <a:avLst/>
          </a:prstGeom>
          <a:solidFill>
            <a:srgbClr val="548235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不同情况下的模型修正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5974715" y="2906395"/>
            <a:ext cx="1902460" cy="426720"/>
          </a:xfrm>
          <a:prstGeom prst="roundRect">
            <a:avLst/>
          </a:prstGeom>
          <a:solidFill>
            <a:srgbClr val="A9D18E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可持续发展目标实施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7981471" y="2928405"/>
            <a:ext cx="2069697" cy="426720"/>
          </a:xfrm>
          <a:prstGeom prst="roundRect">
            <a:avLst/>
          </a:prstGeom>
          <a:solidFill>
            <a:srgbClr val="A9D18E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国际机遇</a:t>
            </a: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危机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6020661" y="3549615"/>
            <a:ext cx="882834" cy="744201"/>
          </a:xfrm>
          <a:prstGeom prst="roundRect">
            <a:avLst/>
          </a:prstGeom>
          <a:solidFill>
            <a:srgbClr val="C5E0B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网络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7020157" y="3549615"/>
            <a:ext cx="882834" cy="744201"/>
          </a:xfrm>
          <a:prstGeom prst="roundRect">
            <a:avLst/>
          </a:prstGeom>
          <a:solidFill>
            <a:srgbClr val="C5E0B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优先级选择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矩形: 圆角 30"/>
          <p:cNvSpPr/>
          <p:nvPr/>
        </p:nvSpPr>
        <p:spPr>
          <a:xfrm>
            <a:off x="8068669" y="3576954"/>
            <a:ext cx="882834" cy="744201"/>
          </a:xfrm>
          <a:prstGeom prst="roundRect">
            <a:avLst/>
          </a:prstGeom>
          <a:solidFill>
            <a:srgbClr val="C5E0B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网络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9168334" y="3549615"/>
            <a:ext cx="882834" cy="744201"/>
          </a:xfrm>
          <a:prstGeom prst="roundRect">
            <a:avLst/>
          </a:prstGeom>
          <a:solidFill>
            <a:srgbClr val="C5E0B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优先级选择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6020661" y="4475737"/>
            <a:ext cx="882834" cy="894035"/>
          </a:xfrm>
          <a:prstGeom prst="roundRect">
            <a:avLst/>
          </a:prstGeom>
          <a:solidFill>
            <a:srgbClr val="E2F0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单向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影响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矩形: 圆角 33"/>
          <p:cNvSpPr/>
          <p:nvPr/>
        </p:nvSpPr>
        <p:spPr>
          <a:xfrm>
            <a:off x="7069885" y="4475736"/>
            <a:ext cx="882834" cy="894035"/>
          </a:xfrm>
          <a:prstGeom prst="roundRect">
            <a:avLst/>
          </a:prstGeom>
          <a:solidFill>
            <a:srgbClr val="E2F0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可实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现的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矩形: 圆角 34"/>
          <p:cNvSpPr/>
          <p:nvPr/>
        </p:nvSpPr>
        <p:spPr>
          <a:xfrm>
            <a:off x="8119109" y="4475736"/>
            <a:ext cx="882834" cy="894035"/>
          </a:xfrm>
          <a:prstGeom prst="roundRect">
            <a:avLst/>
          </a:prstGeom>
          <a:solidFill>
            <a:srgbClr val="E2F0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G’=</a:t>
            </a:r>
            <a:r>
              <a:rPr lang="en-US" altLang="zh-CN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G+c</a:t>
            </a: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▲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9168334" y="4460596"/>
            <a:ext cx="882834" cy="894035"/>
          </a:xfrm>
          <a:prstGeom prst="roundRect">
            <a:avLst/>
          </a:prstGeom>
          <a:solidFill>
            <a:srgbClr val="E2F0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联合国的影响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2005045" y="5638102"/>
            <a:ext cx="8093455" cy="426720"/>
          </a:xfrm>
          <a:prstGeom prst="roundRect">
            <a:avLst/>
          </a:prstGeom>
          <a:solidFill>
            <a:srgbClr val="A6A6A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推广至其他组织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650748" y="350140"/>
            <a:ext cx="4698124" cy="5050221"/>
          </a:xfrm>
          <a:prstGeom prst="rect">
            <a:avLst/>
          </a:prstGeom>
          <a:noFill/>
          <a:ln w="38100">
            <a:solidFill>
              <a:srgbClr val="2E75B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82200" y="350139"/>
            <a:ext cx="4517137" cy="5050221"/>
          </a:xfrm>
          <a:prstGeom prst="rect">
            <a:avLst/>
          </a:prstGeom>
          <a:noFill/>
          <a:ln w="38100">
            <a:solidFill>
              <a:srgbClr val="EA742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50748" y="5623180"/>
            <a:ext cx="9448589" cy="809258"/>
          </a:xfrm>
          <a:prstGeom prst="rect">
            <a:avLst/>
          </a:prstGeom>
          <a:noFill/>
          <a:ln w="38100">
            <a:solidFill>
              <a:srgbClr val="6A9C4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865575" y="517644"/>
            <a:ext cx="4278630" cy="647700"/>
          </a:xfrm>
          <a:prstGeom prst="rect">
            <a:avLst/>
          </a:prstGeom>
          <a:noFill/>
          <a:ln w="25400">
            <a:solidFill>
              <a:srgbClr val="2F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1865575" y="1285561"/>
            <a:ext cx="4278630" cy="847344"/>
          </a:xfrm>
          <a:prstGeom prst="roundRect">
            <a:avLst/>
          </a:prstGeom>
          <a:noFill/>
          <a:ln w="25400">
            <a:solidFill>
              <a:srgbClr val="2F75B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1865575" y="2338111"/>
            <a:ext cx="4278630" cy="1044473"/>
          </a:xfrm>
          <a:prstGeom prst="roundRect">
            <a:avLst/>
          </a:prstGeom>
          <a:noFill/>
          <a:ln w="25400">
            <a:solidFill>
              <a:srgbClr val="2F75B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1865575" y="3532893"/>
            <a:ext cx="4278630" cy="1638868"/>
          </a:xfrm>
          <a:prstGeom prst="roundRect">
            <a:avLst/>
          </a:prstGeom>
          <a:noFill/>
          <a:ln w="25400">
            <a:solidFill>
              <a:srgbClr val="2F75B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037910" y="486789"/>
            <a:ext cx="39237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Plant Community Succession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Model Based on Ecological Niche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850716" y="1480836"/>
            <a:ext cx="2095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Initial Conditions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315251" y="1375984"/>
            <a:ext cx="1557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Species Niche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Characteristics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979721" y="1458339"/>
            <a:ext cx="1843050" cy="414325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118659" y="1399881"/>
            <a:ext cx="1894636" cy="605770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103011" y="2733278"/>
            <a:ext cx="1565302" cy="414325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315251" y="2751058"/>
            <a:ext cx="1565302" cy="414325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819969" y="2761927"/>
            <a:ext cx="2095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Reproduction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082959" y="2761927"/>
            <a:ext cx="2095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Mortality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048126" y="2342040"/>
            <a:ext cx="2095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Internal Effects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035286" y="3540196"/>
            <a:ext cx="2095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External Effects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295955" y="3930382"/>
            <a:ext cx="3402326" cy="414325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214151" y="3921943"/>
            <a:ext cx="3402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Irregular Weather Cycles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288335" y="4445530"/>
            <a:ext cx="1523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Degree of Drought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181082" y="4426277"/>
            <a:ext cx="1523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Duration of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Drought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220693" y="4473162"/>
            <a:ext cx="1483965" cy="599446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306143" y="4458510"/>
            <a:ext cx="1483965" cy="614097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888906" y="515785"/>
            <a:ext cx="3922241" cy="525936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341307" y="578698"/>
            <a:ext cx="2998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Application of the Model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057954" y="1285560"/>
            <a:ext cx="3639047" cy="587103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7057954" y="2174824"/>
            <a:ext cx="3639047" cy="587103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7057954" y="2966842"/>
            <a:ext cx="3639047" cy="587103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313916" y="3813057"/>
            <a:ext cx="3026313" cy="587103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7057954" y="4670786"/>
            <a:ext cx="3639047" cy="587103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031545" y="1269381"/>
            <a:ext cx="3534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Effect of the Number of Species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on the Community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145125" y="2124155"/>
            <a:ext cx="3534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Impact of the Types of Species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on Community Evolution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126151" y="2966842"/>
            <a:ext cx="3534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The Effects of the Severity of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Drought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488103" y="3829849"/>
            <a:ext cx="2821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The impact of Pollution and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Habitat Reduction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197095" y="4652216"/>
            <a:ext cx="3534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Measures that Allow a Plant Community to Live Longer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2935396" y="5771594"/>
            <a:ext cx="2407285" cy="522152"/>
          </a:xfrm>
          <a:prstGeom prst="rect">
            <a:avLst/>
          </a:prstGeom>
          <a:noFill/>
          <a:ln w="25400"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2961533" y="5827754"/>
            <a:ext cx="238114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A9C47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Sensitivity Analysis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A9C47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341368" y="5825370"/>
            <a:ext cx="377960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A9C47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Strengths and Weaknesses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A9C47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291627" y="5764349"/>
            <a:ext cx="3899406" cy="522152"/>
          </a:xfrm>
          <a:prstGeom prst="rect">
            <a:avLst/>
          </a:prstGeom>
          <a:noFill/>
          <a:ln w="25400"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7" name="箭头: 下 46"/>
          <p:cNvSpPr/>
          <p:nvPr/>
        </p:nvSpPr>
        <p:spPr>
          <a:xfrm>
            <a:off x="3839995" y="2023993"/>
            <a:ext cx="269650" cy="388299"/>
          </a:xfrm>
          <a:prstGeom prst="downArrow">
            <a:avLst/>
          </a:prstGeom>
          <a:solidFill>
            <a:srgbClr val="DAE3F3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8" name="箭头: 下 47"/>
          <p:cNvSpPr/>
          <p:nvPr/>
        </p:nvSpPr>
        <p:spPr>
          <a:xfrm>
            <a:off x="3839995" y="3257781"/>
            <a:ext cx="269650" cy="388299"/>
          </a:xfrm>
          <a:prstGeom prst="downArrow">
            <a:avLst/>
          </a:prstGeom>
          <a:solidFill>
            <a:srgbClr val="DAE3F3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9" name="箭头: 下 48"/>
          <p:cNvSpPr/>
          <p:nvPr/>
        </p:nvSpPr>
        <p:spPr>
          <a:xfrm rot="1435775">
            <a:off x="3188617" y="4226954"/>
            <a:ext cx="218537" cy="314696"/>
          </a:xfrm>
          <a:prstGeom prst="downArrow">
            <a:avLst/>
          </a:prstGeom>
          <a:solidFill>
            <a:srgbClr val="DAE3F3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0" name="箭头: 下 49"/>
          <p:cNvSpPr/>
          <p:nvPr/>
        </p:nvSpPr>
        <p:spPr>
          <a:xfrm rot="20240136">
            <a:off x="4699225" y="4227630"/>
            <a:ext cx="218537" cy="314696"/>
          </a:xfrm>
          <a:prstGeom prst="downArrow">
            <a:avLst/>
          </a:prstGeom>
          <a:solidFill>
            <a:srgbClr val="DAE3F3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1" name="箭头: 下 50"/>
          <p:cNvSpPr/>
          <p:nvPr/>
        </p:nvSpPr>
        <p:spPr>
          <a:xfrm>
            <a:off x="8740757" y="1834794"/>
            <a:ext cx="218537" cy="314696"/>
          </a:xfrm>
          <a:prstGeom prst="downArrow">
            <a:avLst/>
          </a:prstGeom>
          <a:solidFill>
            <a:srgbClr val="FBE5D6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2" name="箭头: 下 51"/>
          <p:cNvSpPr/>
          <p:nvPr/>
        </p:nvSpPr>
        <p:spPr>
          <a:xfrm>
            <a:off x="8752757" y="2701156"/>
            <a:ext cx="218537" cy="314696"/>
          </a:xfrm>
          <a:prstGeom prst="downArrow">
            <a:avLst/>
          </a:prstGeom>
          <a:solidFill>
            <a:srgbClr val="FBE5D6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3" name="箭头: 下 52"/>
          <p:cNvSpPr/>
          <p:nvPr/>
        </p:nvSpPr>
        <p:spPr>
          <a:xfrm>
            <a:off x="8754567" y="3508007"/>
            <a:ext cx="218537" cy="314696"/>
          </a:xfrm>
          <a:prstGeom prst="downArrow">
            <a:avLst/>
          </a:prstGeom>
          <a:solidFill>
            <a:srgbClr val="FBE5D6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4" name="箭头: 下 53"/>
          <p:cNvSpPr/>
          <p:nvPr/>
        </p:nvSpPr>
        <p:spPr>
          <a:xfrm>
            <a:off x="8768208" y="4382572"/>
            <a:ext cx="218537" cy="314696"/>
          </a:xfrm>
          <a:prstGeom prst="downArrow">
            <a:avLst/>
          </a:prstGeom>
          <a:solidFill>
            <a:srgbClr val="FBE5D6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5" name="箭头: 下 54"/>
          <p:cNvSpPr/>
          <p:nvPr/>
        </p:nvSpPr>
        <p:spPr>
          <a:xfrm rot="16200000">
            <a:off x="5687565" y="5868076"/>
            <a:ext cx="218537" cy="314696"/>
          </a:xfrm>
          <a:prstGeom prst="downArrow">
            <a:avLst/>
          </a:prstGeom>
          <a:solidFill>
            <a:srgbClr val="B3D59B"/>
          </a:solidFill>
          <a:ln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76758" y="266320"/>
            <a:ext cx="4698124" cy="5050221"/>
          </a:xfrm>
          <a:prstGeom prst="rect">
            <a:avLst/>
          </a:prstGeom>
          <a:noFill/>
          <a:ln w="38100">
            <a:solidFill>
              <a:srgbClr val="2E75B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08210" y="266319"/>
            <a:ext cx="4517137" cy="5050221"/>
          </a:xfrm>
          <a:prstGeom prst="rect">
            <a:avLst/>
          </a:prstGeom>
          <a:noFill/>
          <a:ln w="38100">
            <a:solidFill>
              <a:srgbClr val="EA742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476758" y="5539360"/>
            <a:ext cx="9448589" cy="809258"/>
          </a:xfrm>
          <a:prstGeom prst="rect">
            <a:avLst/>
          </a:prstGeom>
          <a:noFill/>
          <a:ln w="38100">
            <a:solidFill>
              <a:srgbClr val="6A9C4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691585" y="433824"/>
            <a:ext cx="4278630" cy="647700"/>
          </a:xfrm>
          <a:prstGeom prst="rect">
            <a:avLst/>
          </a:prstGeom>
          <a:noFill/>
          <a:ln w="25400">
            <a:solidFill>
              <a:srgbClr val="2F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1691585" y="1201741"/>
            <a:ext cx="4278630" cy="847344"/>
          </a:xfrm>
          <a:prstGeom prst="roundRect">
            <a:avLst/>
          </a:prstGeom>
          <a:noFill/>
          <a:ln w="25400">
            <a:solidFill>
              <a:srgbClr val="2F75B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1691585" y="2254291"/>
            <a:ext cx="4278630" cy="1044473"/>
          </a:xfrm>
          <a:prstGeom prst="roundRect">
            <a:avLst/>
          </a:prstGeom>
          <a:noFill/>
          <a:ln w="25400">
            <a:solidFill>
              <a:srgbClr val="2F75B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1691585" y="3449073"/>
            <a:ext cx="4278630" cy="1638868"/>
          </a:xfrm>
          <a:prstGeom prst="roundRect">
            <a:avLst/>
          </a:prstGeom>
          <a:noFill/>
          <a:ln w="25400">
            <a:solidFill>
              <a:srgbClr val="2F75B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863920" y="536319"/>
            <a:ext cx="392379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基于生态位的植物群落演替模型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676726" y="1397016"/>
            <a:ext cx="2095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初始条件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006850" y="1416685"/>
            <a:ext cx="1831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物种生态位特征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805731" y="1374519"/>
            <a:ext cx="1843050" cy="414325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944669" y="1316061"/>
            <a:ext cx="1894636" cy="605770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929021" y="2649458"/>
            <a:ext cx="1565302" cy="414325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141261" y="2667238"/>
            <a:ext cx="1565302" cy="414325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45979" y="2678107"/>
            <a:ext cx="2095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繁殖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908969" y="2678107"/>
            <a:ext cx="2095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死亡率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794126" y="2302670"/>
            <a:ext cx="2095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内部效应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763506" y="3509716"/>
            <a:ext cx="2095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外部效应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121965" y="3846562"/>
            <a:ext cx="3402326" cy="414325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040161" y="3838123"/>
            <a:ext cx="340232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不规则天气循环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114345" y="4486170"/>
            <a:ext cx="152357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干旱程度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909060" y="4495800"/>
            <a:ext cx="1780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干旱持续时间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046703" y="4389342"/>
            <a:ext cx="1483965" cy="599446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132153" y="4374690"/>
            <a:ext cx="1483965" cy="614097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714916" y="431965"/>
            <a:ext cx="3922241" cy="525936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124772" y="505038"/>
            <a:ext cx="299892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模型的应用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883964" y="1201740"/>
            <a:ext cx="3639047" cy="587103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883964" y="2091004"/>
            <a:ext cx="3639047" cy="587103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883964" y="2883022"/>
            <a:ext cx="3639047" cy="587103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139926" y="3729237"/>
            <a:ext cx="3026313" cy="587103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883964" y="4586966"/>
            <a:ext cx="3639047" cy="587103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857555" y="1301131"/>
            <a:ext cx="3534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物种数量对群落的影响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971135" y="2182575"/>
            <a:ext cx="3534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物种类型对群落演化的影响力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952161" y="2980812"/>
            <a:ext cx="3534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干旱严重程度的影响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: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314113" y="3817149"/>
            <a:ext cx="282164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污染与栖息地减少的影响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978655" y="4675076"/>
            <a:ext cx="3534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使植物群落更长寿命的措施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2761406" y="5687774"/>
            <a:ext cx="2407285" cy="522152"/>
          </a:xfrm>
          <a:prstGeom prst="rect">
            <a:avLst/>
          </a:prstGeom>
          <a:noFill/>
          <a:ln w="25400"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2787543" y="5743934"/>
            <a:ext cx="2381148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A9C47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敏感性分析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A9C47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167378" y="5741550"/>
            <a:ext cx="3779602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A9C47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优点与缺点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A9C47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117637" y="5680529"/>
            <a:ext cx="3899406" cy="522152"/>
          </a:xfrm>
          <a:prstGeom prst="rect">
            <a:avLst/>
          </a:prstGeom>
          <a:noFill/>
          <a:ln w="25400"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7" name="箭头: 下 46"/>
          <p:cNvSpPr/>
          <p:nvPr/>
        </p:nvSpPr>
        <p:spPr>
          <a:xfrm>
            <a:off x="3666005" y="1940173"/>
            <a:ext cx="269650" cy="388299"/>
          </a:xfrm>
          <a:prstGeom prst="downArrow">
            <a:avLst/>
          </a:prstGeom>
          <a:solidFill>
            <a:srgbClr val="DAE3F3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8" name="箭头: 下 47"/>
          <p:cNvSpPr/>
          <p:nvPr/>
        </p:nvSpPr>
        <p:spPr>
          <a:xfrm>
            <a:off x="3666005" y="3173961"/>
            <a:ext cx="269650" cy="388299"/>
          </a:xfrm>
          <a:prstGeom prst="downArrow">
            <a:avLst/>
          </a:prstGeom>
          <a:solidFill>
            <a:srgbClr val="DAE3F3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9" name="箭头: 下 48"/>
          <p:cNvSpPr/>
          <p:nvPr/>
        </p:nvSpPr>
        <p:spPr>
          <a:xfrm rot="1435775">
            <a:off x="3014627" y="4143134"/>
            <a:ext cx="218537" cy="314696"/>
          </a:xfrm>
          <a:prstGeom prst="downArrow">
            <a:avLst/>
          </a:prstGeom>
          <a:solidFill>
            <a:srgbClr val="DAE3F3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0" name="箭头: 下 49"/>
          <p:cNvSpPr/>
          <p:nvPr/>
        </p:nvSpPr>
        <p:spPr>
          <a:xfrm rot="20240136">
            <a:off x="4525235" y="4143810"/>
            <a:ext cx="218537" cy="314696"/>
          </a:xfrm>
          <a:prstGeom prst="downArrow">
            <a:avLst/>
          </a:prstGeom>
          <a:solidFill>
            <a:srgbClr val="DAE3F3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1" name="箭头: 下 50"/>
          <p:cNvSpPr/>
          <p:nvPr/>
        </p:nvSpPr>
        <p:spPr>
          <a:xfrm>
            <a:off x="8566767" y="1750974"/>
            <a:ext cx="218537" cy="314696"/>
          </a:xfrm>
          <a:prstGeom prst="downArrow">
            <a:avLst/>
          </a:prstGeom>
          <a:solidFill>
            <a:srgbClr val="FBE5D6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2" name="箭头: 下 51"/>
          <p:cNvSpPr/>
          <p:nvPr/>
        </p:nvSpPr>
        <p:spPr>
          <a:xfrm>
            <a:off x="8578767" y="2617336"/>
            <a:ext cx="218537" cy="314696"/>
          </a:xfrm>
          <a:prstGeom prst="downArrow">
            <a:avLst/>
          </a:prstGeom>
          <a:solidFill>
            <a:srgbClr val="FBE5D6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3" name="箭头: 下 52"/>
          <p:cNvSpPr/>
          <p:nvPr/>
        </p:nvSpPr>
        <p:spPr>
          <a:xfrm>
            <a:off x="8580577" y="3424187"/>
            <a:ext cx="218537" cy="314696"/>
          </a:xfrm>
          <a:prstGeom prst="downArrow">
            <a:avLst/>
          </a:prstGeom>
          <a:solidFill>
            <a:srgbClr val="FBE5D6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4" name="箭头: 下 53"/>
          <p:cNvSpPr/>
          <p:nvPr/>
        </p:nvSpPr>
        <p:spPr>
          <a:xfrm>
            <a:off x="8594218" y="4298752"/>
            <a:ext cx="218537" cy="314696"/>
          </a:xfrm>
          <a:prstGeom prst="downArrow">
            <a:avLst/>
          </a:prstGeom>
          <a:solidFill>
            <a:srgbClr val="FBE5D6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5" name="箭头: 下 54"/>
          <p:cNvSpPr/>
          <p:nvPr/>
        </p:nvSpPr>
        <p:spPr>
          <a:xfrm rot="16200000">
            <a:off x="5513575" y="5784256"/>
            <a:ext cx="218537" cy="314696"/>
          </a:xfrm>
          <a:prstGeom prst="downArrow">
            <a:avLst/>
          </a:prstGeom>
          <a:solidFill>
            <a:srgbClr val="B3D59B"/>
          </a:solidFill>
          <a:ln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6203315" y="3348355"/>
            <a:ext cx="3641725" cy="3416935"/>
            <a:chOff x="4187" y="435"/>
            <a:chExt cx="10827" cy="9663"/>
          </a:xfrm>
        </p:grpSpPr>
        <p:sp>
          <p:nvSpPr>
            <p:cNvPr id="10" name="矩形 9"/>
            <p:cNvSpPr/>
            <p:nvPr/>
          </p:nvSpPr>
          <p:spPr>
            <a:xfrm>
              <a:off x="4187" y="435"/>
              <a:ext cx="10827" cy="9663"/>
            </a:xfrm>
            <a:prstGeom prst="rect">
              <a:avLst/>
            </a:prstGeom>
            <a:noFill/>
            <a:ln w="25400">
              <a:solidFill>
                <a:srgbClr val="D38C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4274" y="1351"/>
              <a:ext cx="10609" cy="4321"/>
            </a:xfrm>
            <a:prstGeom prst="rect">
              <a:avLst/>
            </a:prstGeom>
            <a:solidFill>
              <a:srgbClr val="F2D4CA"/>
            </a:solidFill>
            <a:ln w="12700">
              <a:solidFill>
                <a:srgbClr val="D38C9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7501" y="5095"/>
              <a:ext cx="4240" cy="47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D38C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多维综合特征向量</a:t>
              </a:r>
              <a:endPara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5" name="右箭头 14"/>
            <p:cNvSpPr/>
            <p:nvPr/>
          </p:nvSpPr>
          <p:spPr>
            <a:xfrm rot="5400000">
              <a:off x="9153" y="6227"/>
              <a:ext cx="850" cy="378"/>
            </a:xfrm>
            <a:prstGeom prst="rightArrow">
              <a:avLst/>
            </a:prstGeom>
            <a:noFill/>
            <a:ln w="19050">
              <a:solidFill>
                <a:srgbClr val="D38C9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b="1" dirty="0"/>
            </a:p>
          </p:txBody>
        </p:sp>
        <p:sp>
          <p:nvSpPr>
            <p:cNvPr id="24" name="矩形: 圆角 18"/>
            <p:cNvSpPr/>
            <p:nvPr/>
          </p:nvSpPr>
          <p:spPr>
            <a:xfrm>
              <a:off x="4728" y="1832"/>
              <a:ext cx="2690" cy="453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D38C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T13 </a:t>
              </a:r>
              <a:r>
                <a:rPr lang="zh-CN" altLang="en-US" sz="9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专家</a:t>
              </a:r>
              <a:endParaRPr lang="zh-CN" alt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8065" y="2387"/>
              <a:ext cx="1232" cy="110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D38C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专项模型</a:t>
              </a:r>
              <a:endPara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6" name="矩形: 圆角 18"/>
            <p:cNvSpPr/>
            <p:nvPr/>
          </p:nvSpPr>
          <p:spPr>
            <a:xfrm>
              <a:off x="4728" y="2387"/>
              <a:ext cx="2690" cy="453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D38C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T18 </a:t>
              </a:r>
              <a:r>
                <a:rPr lang="zh-CN" altLang="en-US" sz="9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专家</a:t>
              </a:r>
              <a:endParaRPr lang="zh-CN" alt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矩形: 圆角 18"/>
            <p:cNvSpPr/>
            <p:nvPr/>
          </p:nvSpPr>
          <p:spPr>
            <a:xfrm>
              <a:off x="4728" y="2943"/>
              <a:ext cx="2690" cy="453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D38C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T21 </a:t>
              </a:r>
              <a:r>
                <a:rPr lang="zh-CN" altLang="en-US" sz="9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专家</a:t>
              </a:r>
              <a:endParaRPr lang="zh-CN" alt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8" name="直接箭头连接符 47"/>
            <p:cNvCxnSpPr/>
            <p:nvPr/>
          </p:nvCxnSpPr>
          <p:spPr>
            <a:xfrm flipH="1">
              <a:off x="9606" y="7702"/>
              <a:ext cx="7" cy="437"/>
            </a:xfrm>
            <a:prstGeom prst="straightConnector1">
              <a:avLst/>
            </a:prstGeom>
            <a:ln w="12700">
              <a:solidFill>
                <a:srgbClr val="D38C9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" name="矩形: 圆角 18"/>
            <p:cNvSpPr/>
            <p:nvPr/>
          </p:nvSpPr>
          <p:spPr>
            <a:xfrm>
              <a:off x="4728" y="3499"/>
              <a:ext cx="2690" cy="453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D38C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变异异常专家</a:t>
              </a:r>
              <a:endParaRPr lang="zh-CN" alt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矩形: 圆角 18"/>
            <p:cNvSpPr/>
            <p:nvPr/>
          </p:nvSpPr>
          <p:spPr>
            <a:xfrm>
              <a:off x="11657" y="1579"/>
              <a:ext cx="3045" cy="45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D38C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年龄</a:t>
              </a:r>
              <a:endParaRPr lang="zh-CN" alt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9784" y="2397"/>
              <a:ext cx="1329" cy="110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D38C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关键原始特征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" name="矩形: 圆角 18"/>
            <p:cNvSpPr/>
            <p:nvPr/>
          </p:nvSpPr>
          <p:spPr>
            <a:xfrm>
              <a:off x="11672" y="2185"/>
              <a:ext cx="3028" cy="45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D38C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BMI</a:t>
              </a:r>
              <a:endParaRPr lang="en-US" altLang="zh-CN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矩形: 圆角 18"/>
            <p:cNvSpPr/>
            <p:nvPr/>
          </p:nvSpPr>
          <p:spPr>
            <a:xfrm>
              <a:off x="11657" y="2791"/>
              <a:ext cx="3043" cy="45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D38C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13 </a:t>
              </a:r>
              <a:r>
                <a:rPr lang="zh-CN" altLang="en-US" sz="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号染色体</a:t>
              </a:r>
              <a:r>
                <a:rPr lang="en-US" altLang="zh-CN" sz="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Z </a:t>
              </a:r>
              <a:r>
                <a:rPr lang="zh-CN" altLang="en-US" sz="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值</a:t>
              </a:r>
              <a:endParaRPr lang="zh-CN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矩形: 圆角 18"/>
            <p:cNvSpPr/>
            <p:nvPr/>
          </p:nvSpPr>
          <p:spPr>
            <a:xfrm>
              <a:off x="11657" y="3349"/>
              <a:ext cx="3043" cy="45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D38C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18 </a:t>
              </a:r>
              <a:r>
                <a:rPr lang="zh-CN" altLang="en-US" sz="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号染色体</a:t>
              </a:r>
              <a:r>
                <a:rPr lang="en-US" altLang="zh-CN" sz="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Z </a:t>
              </a:r>
              <a:r>
                <a:rPr lang="zh-CN" altLang="en-US" sz="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值</a:t>
              </a:r>
              <a:endParaRPr lang="zh-CN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矩形: 圆角 18"/>
            <p:cNvSpPr/>
            <p:nvPr/>
          </p:nvSpPr>
          <p:spPr>
            <a:xfrm>
              <a:off x="11615" y="3907"/>
              <a:ext cx="3085" cy="45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D38C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21 </a:t>
              </a:r>
              <a:r>
                <a:rPr lang="zh-CN" altLang="en-US" sz="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号染色体</a:t>
              </a:r>
              <a:r>
                <a:rPr lang="en-US" altLang="zh-CN" sz="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Z </a:t>
              </a:r>
              <a:r>
                <a:rPr lang="zh-CN" altLang="en-US" sz="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值</a:t>
              </a:r>
              <a:endParaRPr lang="zh-CN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0592" y="5985"/>
              <a:ext cx="2518" cy="862"/>
            </a:xfrm>
            <a:prstGeom prst="rect">
              <a:avLst/>
            </a:prstGeom>
            <a:solidFill>
              <a:srgbClr val="F2D4CA"/>
            </a:solidFill>
            <a:ln w="12700">
              <a:solidFill>
                <a:srgbClr val="D38C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超参数优化</a:t>
              </a:r>
              <a:endPara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046" y="5978"/>
              <a:ext cx="2518" cy="869"/>
            </a:xfrm>
            <a:prstGeom prst="rect">
              <a:avLst/>
            </a:prstGeom>
            <a:solidFill>
              <a:srgbClr val="F2D4CA"/>
            </a:solidFill>
            <a:ln w="12700">
              <a:solidFill>
                <a:srgbClr val="D38C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LightGBM </a:t>
              </a:r>
              <a:endParaRPr kumimoji="0" lang="en-US" altLang="zh-CN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多分类算法</a:t>
              </a:r>
              <a:endPara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7148" y="7164"/>
              <a:ext cx="4975" cy="47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D38C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七状态多分类预测</a:t>
              </a:r>
              <a:endPara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7148" y="8209"/>
              <a:ext cx="4975" cy="47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D38C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专家逻辑修正层</a:t>
              </a:r>
              <a:endPara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5" name="右箭头 24"/>
            <p:cNvSpPr/>
            <p:nvPr/>
          </p:nvSpPr>
          <p:spPr>
            <a:xfrm rot="5400000">
              <a:off x="9395" y="8890"/>
              <a:ext cx="483" cy="378"/>
            </a:xfrm>
            <a:prstGeom prst="rightArrow">
              <a:avLst/>
            </a:prstGeom>
            <a:noFill/>
            <a:ln w="12700">
              <a:solidFill>
                <a:srgbClr val="D38C9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b="1" dirty="0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6422" y="519"/>
              <a:ext cx="7002" cy="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b="1"/>
                <a:t>问题四：女胎儿异常染色体检测</a:t>
              </a:r>
              <a:endParaRPr lang="zh-CN" altLang="en-US" sz="1200" b="1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8231" y="9318"/>
              <a:ext cx="3323" cy="6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 b="1"/>
                <a:t>最终诊断性能</a:t>
              </a:r>
              <a:endParaRPr lang="zh-CN" altLang="en-US" sz="1000" b="1"/>
            </a:p>
          </p:txBody>
        </p:sp>
        <p:cxnSp>
          <p:nvCxnSpPr>
            <p:cNvPr id="32" name="直接连接符 31"/>
            <p:cNvCxnSpPr>
              <a:stCxn id="26" idx="3"/>
              <a:endCxn id="6" idx="1"/>
            </p:cNvCxnSpPr>
            <p:nvPr/>
          </p:nvCxnSpPr>
          <p:spPr>
            <a:xfrm>
              <a:off x="9297" y="2938"/>
              <a:ext cx="487" cy="10"/>
            </a:xfrm>
            <a:prstGeom prst="line">
              <a:avLst/>
            </a:prstGeom>
            <a:ln w="28575">
              <a:solidFill>
                <a:srgbClr val="D38C9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4" name="直接箭头连接符 33"/>
            <p:cNvCxnSpPr>
              <a:endCxn id="5" idx="0"/>
            </p:cNvCxnSpPr>
            <p:nvPr/>
          </p:nvCxnSpPr>
          <p:spPr>
            <a:xfrm>
              <a:off x="9598" y="2972"/>
              <a:ext cx="23" cy="2123"/>
            </a:xfrm>
            <a:prstGeom prst="straightConnector1">
              <a:avLst/>
            </a:prstGeom>
            <a:ln w="12700">
              <a:solidFill>
                <a:srgbClr val="D38C9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1" name="直接箭头连接符 40"/>
            <p:cNvCxnSpPr/>
            <p:nvPr/>
          </p:nvCxnSpPr>
          <p:spPr>
            <a:xfrm flipV="1">
              <a:off x="8685" y="6346"/>
              <a:ext cx="687" cy="10"/>
            </a:xfrm>
            <a:prstGeom prst="straightConnector1">
              <a:avLst/>
            </a:prstGeom>
            <a:ln w="12700">
              <a:solidFill>
                <a:srgbClr val="D38C9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/>
            <p:nvPr/>
          </p:nvCxnSpPr>
          <p:spPr>
            <a:xfrm flipH="1" flipV="1">
              <a:off x="9784" y="6356"/>
              <a:ext cx="687" cy="10"/>
            </a:xfrm>
            <a:prstGeom prst="straightConnector1">
              <a:avLst/>
            </a:prstGeom>
            <a:ln w="12700">
              <a:solidFill>
                <a:srgbClr val="D38C9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5" name="左大括号 44"/>
            <p:cNvSpPr/>
            <p:nvPr/>
          </p:nvSpPr>
          <p:spPr>
            <a:xfrm>
              <a:off x="11320" y="1699"/>
              <a:ext cx="297" cy="2462"/>
            </a:xfrm>
            <a:prstGeom prst="leftBrace">
              <a:avLst/>
            </a:prstGeom>
            <a:ln w="19050">
              <a:solidFill>
                <a:srgbClr val="D38C9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 b="1"/>
            </a:p>
          </p:txBody>
        </p:sp>
        <p:sp>
          <p:nvSpPr>
            <p:cNvPr id="46" name="左大括号 45"/>
            <p:cNvSpPr/>
            <p:nvPr/>
          </p:nvSpPr>
          <p:spPr>
            <a:xfrm flipH="1">
              <a:off x="7478" y="1972"/>
              <a:ext cx="336" cy="1829"/>
            </a:xfrm>
            <a:prstGeom prst="leftBrace">
              <a:avLst/>
            </a:prstGeom>
            <a:ln w="19050">
              <a:solidFill>
                <a:srgbClr val="D38C9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 b="1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056130" y="3354070"/>
            <a:ext cx="3821687" cy="3411362"/>
            <a:chOff x="4187" y="435"/>
            <a:chExt cx="10827" cy="9663"/>
          </a:xfrm>
        </p:grpSpPr>
        <p:sp>
          <p:nvSpPr>
            <p:cNvPr id="18" name="矩形 17"/>
            <p:cNvSpPr/>
            <p:nvPr/>
          </p:nvSpPr>
          <p:spPr>
            <a:xfrm>
              <a:off x="4187" y="435"/>
              <a:ext cx="10827" cy="9663"/>
            </a:xfrm>
            <a:prstGeom prst="rect">
              <a:avLst/>
            </a:prstGeom>
            <a:noFill/>
            <a:ln w="25400">
              <a:solidFill>
                <a:srgbClr val="C1CAB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4274" y="1351"/>
              <a:ext cx="10609" cy="4801"/>
            </a:xfrm>
            <a:prstGeom prst="rect">
              <a:avLst/>
            </a:prstGeom>
            <a:solidFill>
              <a:srgbClr val="E1EEDA"/>
            </a:solidFill>
            <a:ln w="12700">
              <a:solidFill>
                <a:srgbClr val="ADC5A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7588" y="4742"/>
              <a:ext cx="4153" cy="7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ADC5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混合深度生存模型</a:t>
              </a:r>
              <a:endParaRPr kumimoji="0" lang="zh-CN" altLang="en-US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2" name="右箭头 21"/>
            <p:cNvSpPr/>
            <p:nvPr/>
          </p:nvSpPr>
          <p:spPr>
            <a:xfrm rot="5400000">
              <a:off x="9322" y="5562"/>
              <a:ext cx="512" cy="562"/>
            </a:xfrm>
            <a:prstGeom prst="rightArrow">
              <a:avLst/>
            </a:prstGeom>
            <a:noFill/>
            <a:ln w="12700">
              <a:solidFill>
                <a:srgbClr val="ADC5A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b="1" dirty="0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5341" y="7822"/>
              <a:ext cx="8545" cy="812"/>
              <a:chOff x="5411" y="7822"/>
              <a:chExt cx="4342" cy="812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5411" y="7822"/>
                <a:ext cx="4342" cy="812"/>
              </a:xfrm>
              <a:prstGeom prst="rect">
                <a:avLst/>
              </a:prstGeom>
              <a:solidFill>
                <a:srgbClr val="E1EEDA"/>
              </a:solidFill>
              <a:ln w="12700">
                <a:solidFill>
                  <a:srgbClr val="ADC5A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29" name="矩形: 圆角 18"/>
              <p:cNvSpPr/>
              <p:nvPr/>
            </p:nvSpPr>
            <p:spPr>
              <a:xfrm>
                <a:off x="5504" y="7946"/>
                <a:ext cx="1330" cy="555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rgbClr val="ADC5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一级单调</a:t>
                </a:r>
                <a:endParaRPr lang="zh-CN" altLang="en-US" sz="1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4886" y="2014"/>
              <a:ext cx="4342" cy="2014"/>
              <a:chOff x="5064" y="8216"/>
              <a:chExt cx="4342" cy="1732"/>
            </a:xfrm>
          </p:grpSpPr>
          <p:sp>
            <p:nvSpPr>
              <p:cNvPr id="33" name="矩形 32"/>
              <p:cNvSpPr/>
              <p:nvPr/>
            </p:nvSpPr>
            <p:spPr>
              <a:xfrm>
                <a:off x="5064" y="8216"/>
                <a:ext cx="4342" cy="1732"/>
              </a:xfrm>
              <a:prstGeom prst="rect">
                <a:avLst/>
              </a:prstGeom>
              <a:noFill/>
              <a:ln w="12700">
                <a:solidFill>
                  <a:srgbClr val="ADC5A1"/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DEBDD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35" name="矩形: 圆角 18"/>
              <p:cNvSpPr/>
              <p:nvPr/>
            </p:nvSpPr>
            <p:spPr>
              <a:xfrm>
                <a:off x="5456" y="8303"/>
                <a:ext cx="2690" cy="390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rgbClr val="ADC5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年龄</a:t>
                </a:r>
                <a:endParaRPr lang="zh-CN" altLang="en-US" sz="1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8727" y="8219"/>
                <a:ext cx="679" cy="170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ADC5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静态特征</a:t>
                </a:r>
                <a:endParaRPr kumimoji="0" lang="zh-CN" alt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>
              <a:off x="9795" y="2028"/>
              <a:ext cx="4370" cy="1988"/>
              <a:chOff x="9708" y="8204"/>
              <a:chExt cx="4370" cy="1705"/>
            </a:xfrm>
          </p:grpSpPr>
          <p:sp>
            <p:nvSpPr>
              <p:cNvPr id="40" name="矩形 39"/>
              <p:cNvSpPr/>
              <p:nvPr/>
            </p:nvSpPr>
            <p:spPr>
              <a:xfrm>
                <a:off x="9708" y="8218"/>
                <a:ext cx="4370" cy="1687"/>
              </a:xfrm>
              <a:prstGeom prst="rect">
                <a:avLst/>
              </a:prstGeom>
              <a:noFill/>
              <a:ln w="12700">
                <a:solidFill>
                  <a:srgbClr val="ADC5A1"/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DEBDD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42" name="矩形: 圆角 18"/>
              <p:cNvSpPr/>
              <p:nvPr/>
            </p:nvSpPr>
            <p:spPr>
              <a:xfrm>
                <a:off x="10567" y="8424"/>
                <a:ext cx="3298" cy="563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rgbClr val="ADC5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孕周</a:t>
                </a:r>
                <a:endParaRPr lang="zh-CN" altLang="en-US" sz="1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矩形 42"/>
              <p:cNvSpPr/>
              <p:nvPr/>
            </p:nvSpPr>
            <p:spPr>
              <a:xfrm>
                <a:off x="9722" y="8204"/>
                <a:ext cx="679" cy="170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ADC5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时序特征</a:t>
                </a:r>
                <a:endParaRPr kumimoji="0" lang="zh-CN" alt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</p:grpSp>
        <p:sp>
          <p:nvSpPr>
            <p:cNvPr id="47" name="矩形 46"/>
            <p:cNvSpPr/>
            <p:nvPr/>
          </p:nvSpPr>
          <p:spPr>
            <a:xfrm>
              <a:off x="7362" y="6320"/>
              <a:ext cx="4492" cy="7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ADC5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基于代理模型的策略优化</a:t>
              </a:r>
              <a:endPara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9" name="矩形: 圆角 18"/>
            <p:cNvSpPr/>
            <p:nvPr/>
          </p:nvSpPr>
          <p:spPr>
            <a:xfrm>
              <a:off x="5278" y="2769"/>
              <a:ext cx="2690" cy="453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ADC5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身高</a:t>
              </a:r>
              <a:endParaRPr lang="zh-CN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矩形: 圆角 18"/>
            <p:cNvSpPr/>
            <p:nvPr/>
          </p:nvSpPr>
          <p:spPr>
            <a:xfrm>
              <a:off x="5278" y="3423"/>
              <a:ext cx="2690" cy="453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ADC5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BMI</a:t>
              </a:r>
              <a:endParaRPr lang="en-US" altLang="zh-CN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矩形: 圆角 18"/>
            <p:cNvSpPr/>
            <p:nvPr/>
          </p:nvSpPr>
          <p:spPr>
            <a:xfrm>
              <a:off x="10654" y="3127"/>
              <a:ext cx="3298" cy="657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ADC5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 </a:t>
              </a:r>
              <a:r>
                <a:rPr lang="zh-CN" altLang="en-US" sz="1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染色体浓度</a:t>
              </a:r>
              <a:endParaRPr lang="zh-CN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右箭头 51"/>
            <p:cNvSpPr/>
            <p:nvPr/>
          </p:nvSpPr>
          <p:spPr>
            <a:xfrm rot="5400000">
              <a:off x="9322" y="7181"/>
              <a:ext cx="512" cy="562"/>
            </a:xfrm>
            <a:prstGeom prst="rightArrow">
              <a:avLst/>
            </a:prstGeom>
            <a:noFill/>
            <a:ln w="12700">
              <a:solidFill>
                <a:srgbClr val="ADC5A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b="1" dirty="0"/>
            </a:p>
          </p:txBody>
        </p:sp>
        <p:sp>
          <p:nvSpPr>
            <p:cNvPr id="53" name="右箭头 52"/>
            <p:cNvSpPr/>
            <p:nvPr/>
          </p:nvSpPr>
          <p:spPr>
            <a:xfrm rot="5400000">
              <a:off x="9322" y="4127"/>
              <a:ext cx="512" cy="562"/>
            </a:xfrm>
            <a:prstGeom prst="rightArrow">
              <a:avLst/>
            </a:prstGeom>
            <a:noFill/>
            <a:ln w="12700">
              <a:solidFill>
                <a:srgbClr val="ADC5A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b="1" dirty="0"/>
            </a:p>
          </p:txBody>
        </p:sp>
        <p:sp>
          <p:nvSpPr>
            <p:cNvPr id="54" name="矩形: 圆角 18"/>
            <p:cNvSpPr/>
            <p:nvPr/>
          </p:nvSpPr>
          <p:spPr>
            <a:xfrm>
              <a:off x="8305" y="7948"/>
              <a:ext cx="2617" cy="555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ADC5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分层效应显著</a:t>
              </a:r>
              <a:endParaRPr lang="zh-CN" alt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矩形: 圆角 18"/>
            <p:cNvSpPr/>
            <p:nvPr/>
          </p:nvSpPr>
          <p:spPr>
            <a:xfrm>
              <a:off x="11086" y="7962"/>
              <a:ext cx="2617" cy="555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ADC5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非线性增长</a:t>
              </a:r>
              <a:endParaRPr lang="zh-CN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6" name="直接箭头连接符 55"/>
            <p:cNvCxnSpPr/>
            <p:nvPr/>
          </p:nvCxnSpPr>
          <p:spPr>
            <a:xfrm flipH="1">
              <a:off x="9606" y="8866"/>
              <a:ext cx="7" cy="437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7" name="文本框 56"/>
            <p:cNvSpPr txBox="1"/>
            <p:nvPr/>
          </p:nvSpPr>
          <p:spPr>
            <a:xfrm>
              <a:off x="4644" y="569"/>
              <a:ext cx="10238" cy="6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 b="1"/>
                <a:t>问题三：基于混合深度生存分析的多要素</a:t>
              </a:r>
              <a:r>
                <a:rPr lang="en-US" altLang="zh-CN" sz="1000" b="1"/>
                <a:t> NIPT </a:t>
              </a:r>
              <a:r>
                <a:rPr lang="zh-CN" altLang="en-US" sz="1000" b="1"/>
                <a:t>动态优化策略</a:t>
              </a:r>
              <a:endParaRPr lang="zh-CN" altLang="en-US" sz="1000" b="1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8013" y="4092"/>
              <a:ext cx="1362" cy="6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 b="1"/>
                <a:t>MLP</a:t>
              </a:r>
              <a:endParaRPr lang="en-US" altLang="zh-CN" sz="1000" b="1"/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9875" y="4092"/>
              <a:ext cx="1543" cy="6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 b="1"/>
                <a:t>LSTM</a:t>
              </a:r>
              <a:endParaRPr lang="en-US" altLang="zh-CN" sz="1000" b="1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7143" y="9310"/>
              <a:ext cx="5298" cy="6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 b="1"/>
                <a:t>个性化</a:t>
              </a:r>
              <a:r>
                <a:rPr lang="en-US" altLang="zh-CN" sz="1000" b="1"/>
                <a:t>NIPT</a:t>
              </a:r>
              <a:r>
                <a:rPr lang="zh-CN" altLang="en-US" sz="1000" b="1"/>
                <a:t>临床决策变量支持</a:t>
              </a:r>
              <a:endParaRPr lang="zh-CN" altLang="en-US" sz="1000" b="1"/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6203315" y="60960"/>
            <a:ext cx="3603162" cy="3215640"/>
            <a:chOff x="4187" y="435"/>
            <a:chExt cx="10829" cy="9663"/>
          </a:xfrm>
        </p:grpSpPr>
        <p:sp>
          <p:nvSpPr>
            <p:cNvPr id="62" name="矩形 61"/>
            <p:cNvSpPr/>
            <p:nvPr/>
          </p:nvSpPr>
          <p:spPr>
            <a:xfrm>
              <a:off x="4187" y="435"/>
              <a:ext cx="10827" cy="9663"/>
            </a:xfrm>
            <a:prstGeom prst="rect">
              <a:avLst/>
            </a:prstGeom>
            <a:noFill/>
            <a:ln w="25400">
              <a:solidFill>
                <a:srgbClr val="B1C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4274" y="1351"/>
              <a:ext cx="10609" cy="1447"/>
            </a:xfrm>
            <a:prstGeom prst="rect">
              <a:avLst/>
            </a:prstGeom>
            <a:solidFill>
              <a:srgbClr val="E4EFF5"/>
            </a:solidFill>
            <a:ln w="12700">
              <a:solidFill>
                <a:srgbClr val="C4D7E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4" name="矩形 63"/>
            <p:cNvSpPr/>
            <p:nvPr/>
          </p:nvSpPr>
          <p:spPr>
            <a:xfrm>
              <a:off x="5064" y="8216"/>
              <a:ext cx="4342" cy="1732"/>
            </a:xfrm>
            <a:prstGeom prst="rect">
              <a:avLst/>
            </a:prstGeom>
            <a:noFill/>
            <a:ln w="12700">
              <a:solidFill>
                <a:srgbClr val="94B4CE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DEBDD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5" name="矩形 64"/>
            <p:cNvSpPr/>
            <p:nvPr/>
          </p:nvSpPr>
          <p:spPr>
            <a:xfrm>
              <a:off x="6729" y="3259"/>
              <a:ext cx="5950" cy="61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ACC6D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基于</a:t>
              </a: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 BMI </a:t>
              </a:r>
              <a:r>
                <a:rPr kumimoji="0" lang="zh-CN" alt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分层的</a:t>
              </a: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 NIPT </a:t>
              </a:r>
              <a:r>
                <a:rPr kumimoji="0" lang="zh-CN" alt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时点</a:t>
              </a:r>
              <a:endPara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6" name="矩形 65"/>
            <p:cNvSpPr/>
            <p:nvPr/>
          </p:nvSpPr>
          <p:spPr>
            <a:xfrm>
              <a:off x="6050" y="6459"/>
              <a:ext cx="7307" cy="644"/>
            </a:xfrm>
            <a:prstGeom prst="rect">
              <a:avLst/>
            </a:prstGeom>
            <a:solidFill>
              <a:srgbClr val="E4EFF5"/>
            </a:solidFill>
            <a:ln w="12700">
              <a:solidFill>
                <a:srgbClr val="94B4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遗传算法</a:t>
              </a:r>
              <a:endParaRPr kumimoji="0" lang="zh-CN" altLang="en-US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7" name="矩形: 圆角 18"/>
            <p:cNvSpPr/>
            <p:nvPr/>
          </p:nvSpPr>
          <p:spPr>
            <a:xfrm>
              <a:off x="5906" y="4651"/>
              <a:ext cx="1362" cy="1537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94B4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BMI </a:t>
              </a:r>
              <a:r>
                <a:rPr lang="zh-CN" altLang="en-US" sz="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分割点有序约束</a:t>
              </a:r>
              <a:endParaRPr lang="zh-CN" altLang="en-US" sz="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右箭头 67"/>
            <p:cNvSpPr/>
            <p:nvPr/>
          </p:nvSpPr>
          <p:spPr>
            <a:xfrm rot="5220000">
              <a:off x="9458" y="2828"/>
              <a:ext cx="295" cy="385"/>
            </a:xfrm>
            <a:prstGeom prst="rightArrow">
              <a:avLst/>
            </a:prstGeom>
            <a:noFill/>
            <a:ln w="12700">
              <a:solidFill>
                <a:srgbClr val="94B4C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b="1" dirty="0"/>
            </a:p>
          </p:txBody>
        </p:sp>
        <p:sp>
          <p:nvSpPr>
            <p:cNvPr id="69" name="矩形: 圆角 18"/>
            <p:cNvSpPr/>
            <p:nvPr/>
          </p:nvSpPr>
          <p:spPr>
            <a:xfrm>
              <a:off x="5167" y="1479"/>
              <a:ext cx="2475" cy="1144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ACC6D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>
                  <a:solidFill>
                    <a:schemeClr val="tx1"/>
                  </a:solidFill>
                  <a:sym typeface="+mn-ea"/>
                </a:rPr>
                <a:t>结果</a:t>
              </a:r>
              <a:endParaRPr lang="zh-CN" altLang="en-US" sz="1000" b="1">
                <a:solidFill>
                  <a:schemeClr val="tx1"/>
                </a:solidFill>
                <a:sym typeface="+mn-ea"/>
              </a:endParaRPr>
            </a:p>
            <a:p>
              <a:pPr algn="ctr"/>
              <a:r>
                <a:rPr lang="zh-CN" altLang="en-US" sz="1000" b="1">
                  <a:solidFill>
                    <a:schemeClr val="tx1"/>
                  </a:solidFill>
                  <a:sym typeface="+mn-ea"/>
                </a:rPr>
                <a:t>准确性</a:t>
              </a:r>
              <a:endParaRPr lang="zh-CN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70" name="矩形: 圆角 18"/>
            <p:cNvSpPr/>
            <p:nvPr/>
          </p:nvSpPr>
          <p:spPr>
            <a:xfrm>
              <a:off x="11381" y="1479"/>
              <a:ext cx="2475" cy="1144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ACC6D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总风险</a:t>
              </a:r>
              <a:endParaRPr lang="zh-CN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1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最小化</a:t>
              </a:r>
              <a:endParaRPr lang="zh-CN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矩形 70"/>
            <p:cNvSpPr/>
            <p:nvPr/>
          </p:nvSpPr>
          <p:spPr>
            <a:xfrm>
              <a:off x="8093" y="1512"/>
              <a:ext cx="2837" cy="106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ACC6D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孕妇</a:t>
              </a:r>
              <a:r>
                <a:rPr kumimoji="0" lang="en-US" altLang="zh-CN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 NIPT </a:t>
              </a:r>
              <a:r>
                <a:rPr kumimoji="0" lang="zh-CN" altLang="en-US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最佳检查时间</a:t>
              </a:r>
              <a:endPara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cxnSp>
          <p:nvCxnSpPr>
            <p:cNvPr id="72" name="直接连接符 71"/>
            <p:cNvCxnSpPr>
              <a:stCxn id="69" idx="3"/>
              <a:endCxn id="71" idx="1"/>
            </p:cNvCxnSpPr>
            <p:nvPr/>
          </p:nvCxnSpPr>
          <p:spPr>
            <a:xfrm flipV="1">
              <a:off x="7642" y="2043"/>
              <a:ext cx="451" cy="8"/>
            </a:xfrm>
            <a:prstGeom prst="line">
              <a:avLst/>
            </a:prstGeom>
            <a:ln w="12700">
              <a:solidFill>
                <a:srgbClr val="ACC6DD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V="1">
              <a:off x="10930" y="2030"/>
              <a:ext cx="451" cy="8"/>
            </a:xfrm>
            <a:prstGeom prst="line">
              <a:avLst/>
            </a:prstGeom>
            <a:ln w="12700">
              <a:solidFill>
                <a:srgbClr val="ACC6DD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4" name="左大括号 73"/>
            <p:cNvSpPr/>
            <p:nvPr/>
          </p:nvSpPr>
          <p:spPr>
            <a:xfrm rot="5400000">
              <a:off x="9393" y="1153"/>
              <a:ext cx="622" cy="6234"/>
            </a:xfrm>
            <a:prstGeom prst="leftBrace">
              <a:avLst>
                <a:gd name="adj1" fmla="val 8333"/>
                <a:gd name="adj2" fmla="val 50000"/>
              </a:avLst>
            </a:prstGeom>
            <a:ln w="19050">
              <a:solidFill>
                <a:srgbClr val="7086A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 b="1"/>
            </a:p>
          </p:txBody>
        </p:sp>
        <p:sp>
          <p:nvSpPr>
            <p:cNvPr id="75" name="矩形: 圆角 18"/>
            <p:cNvSpPr/>
            <p:nvPr/>
          </p:nvSpPr>
          <p:spPr>
            <a:xfrm>
              <a:off x="12216" y="4648"/>
              <a:ext cx="1326" cy="1496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94B4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孕妇分组分配约束</a:t>
              </a:r>
              <a:endParaRPr lang="zh-CN" altLang="en-US" sz="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矩形: 圆角 18"/>
            <p:cNvSpPr/>
            <p:nvPr/>
          </p:nvSpPr>
          <p:spPr>
            <a:xfrm>
              <a:off x="7894" y="4662"/>
              <a:ext cx="1370" cy="151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94B4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NIPT </a:t>
              </a:r>
              <a:r>
                <a:rPr lang="zh-CN" altLang="en-US" sz="7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时点计算约束</a:t>
              </a:r>
              <a:endParaRPr lang="zh-CN" altLang="en-US" sz="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矩形: 圆角 18"/>
            <p:cNvSpPr/>
            <p:nvPr/>
          </p:nvSpPr>
          <p:spPr>
            <a:xfrm>
              <a:off x="10055" y="4662"/>
              <a:ext cx="1357" cy="1509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94B4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最小组规模约束</a:t>
              </a:r>
              <a:endParaRPr lang="zh-CN" altLang="en-US" sz="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8" name="直接连接符 77"/>
            <p:cNvCxnSpPr>
              <a:endCxn id="76" idx="0"/>
            </p:cNvCxnSpPr>
            <p:nvPr/>
          </p:nvCxnSpPr>
          <p:spPr>
            <a:xfrm>
              <a:off x="8570" y="4269"/>
              <a:ext cx="9" cy="393"/>
            </a:xfrm>
            <a:prstGeom prst="line">
              <a:avLst/>
            </a:prstGeom>
            <a:ln w="19050">
              <a:solidFill>
                <a:srgbClr val="7086A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>
              <a:off x="10708" y="4277"/>
              <a:ext cx="9" cy="393"/>
            </a:xfrm>
            <a:prstGeom prst="line">
              <a:avLst/>
            </a:prstGeom>
            <a:ln w="19050">
              <a:solidFill>
                <a:srgbClr val="7086A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0" name="右箭头 79"/>
            <p:cNvSpPr/>
            <p:nvPr/>
          </p:nvSpPr>
          <p:spPr>
            <a:xfrm rot="5400000">
              <a:off x="9343" y="7347"/>
              <a:ext cx="780" cy="562"/>
            </a:xfrm>
            <a:prstGeom prst="rightArrow">
              <a:avLst/>
            </a:prstGeom>
            <a:noFill/>
            <a:ln w="12700">
              <a:solidFill>
                <a:srgbClr val="94B4C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b="1" dirty="0"/>
            </a:p>
          </p:txBody>
        </p:sp>
        <p:sp>
          <p:nvSpPr>
            <p:cNvPr id="81" name="矩形 80"/>
            <p:cNvSpPr/>
            <p:nvPr/>
          </p:nvSpPr>
          <p:spPr>
            <a:xfrm>
              <a:off x="9708" y="8218"/>
              <a:ext cx="4370" cy="1687"/>
            </a:xfrm>
            <a:prstGeom prst="rect">
              <a:avLst/>
            </a:prstGeom>
            <a:noFill/>
            <a:ln w="12700">
              <a:solidFill>
                <a:srgbClr val="94B4CE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DEBDD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2" name="矩形: 圆角 18"/>
            <p:cNvSpPr/>
            <p:nvPr/>
          </p:nvSpPr>
          <p:spPr>
            <a:xfrm>
              <a:off x="5272" y="8303"/>
              <a:ext cx="3298" cy="697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94B4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分组策略优化</a:t>
              </a:r>
              <a:endParaRPr lang="zh-CN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矩形: 圆角 18"/>
            <p:cNvSpPr/>
            <p:nvPr/>
          </p:nvSpPr>
          <p:spPr>
            <a:xfrm>
              <a:off x="5271" y="9137"/>
              <a:ext cx="3308" cy="725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94B4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确定最优策略</a:t>
              </a:r>
              <a:endParaRPr lang="zh-CN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矩形 83"/>
            <p:cNvSpPr/>
            <p:nvPr/>
          </p:nvSpPr>
          <p:spPr>
            <a:xfrm>
              <a:off x="8727" y="8219"/>
              <a:ext cx="679" cy="1705"/>
            </a:xfrm>
            <a:prstGeom prst="rect">
              <a:avLst/>
            </a:prstGeom>
            <a:solidFill>
              <a:srgbClr val="E4EFF5"/>
            </a:solidFill>
            <a:ln w="12700">
              <a:solidFill>
                <a:srgbClr val="94B4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BMI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85" name="矩形: 圆角 18"/>
            <p:cNvSpPr/>
            <p:nvPr/>
          </p:nvSpPr>
          <p:spPr>
            <a:xfrm>
              <a:off x="10567" y="8291"/>
              <a:ext cx="3298" cy="697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94B4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降低潜在风险</a:t>
              </a:r>
              <a:endParaRPr lang="zh-CN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矩形: 圆角 18"/>
            <p:cNvSpPr/>
            <p:nvPr/>
          </p:nvSpPr>
          <p:spPr>
            <a:xfrm>
              <a:off x="10557" y="9097"/>
              <a:ext cx="3308" cy="725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94B4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提升检测精度</a:t>
              </a:r>
              <a:endParaRPr lang="zh-CN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矩形 86"/>
            <p:cNvSpPr/>
            <p:nvPr/>
          </p:nvSpPr>
          <p:spPr>
            <a:xfrm>
              <a:off x="9722" y="8204"/>
              <a:ext cx="679" cy="1705"/>
            </a:xfrm>
            <a:prstGeom prst="rect">
              <a:avLst/>
            </a:prstGeom>
            <a:solidFill>
              <a:srgbClr val="E4EFF5"/>
            </a:solidFill>
            <a:ln w="12700">
              <a:solidFill>
                <a:srgbClr val="94B4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推算时点</a:t>
              </a:r>
              <a:endPara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5466" y="531"/>
              <a:ext cx="9550" cy="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 b="1"/>
                <a:t>问题二：</a:t>
              </a:r>
              <a:r>
                <a:rPr lang="en-US" altLang="zh-CN" sz="1000" b="1"/>
                <a:t>BMI </a:t>
              </a:r>
              <a:r>
                <a:rPr lang="zh-CN" altLang="en-US" sz="1000" b="1"/>
                <a:t>分层与</a:t>
              </a:r>
              <a:r>
                <a:rPr lang="en-US" altLang="zh-CN" sz="1000" b="1"/>
                <a:t> NIPT </a:t>
              </a:r>
              <a:r>
                <a:rPr lang="zh-CN" altLang="en-US" sz="1000" b="1"/>
                <a:t>时点联合优化优化模型</a:t>
              </a:r>
              <a:endParaRPr lang="zh-CN" altLang="en-US" sz="1000" b="1"/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2056130" y="64135"/>
            <a:ext cx="9445943" cy="3214370"/>
            <a:chOff x="4187" y="435"/>
            <a:chExt cx="26767" cy="9663"/>
          </a:xfrm>
        </p:grpSpPr>
        <p:sp>
          <p:nvSpPr>
            <p:cNvPr id="90" name="矩形 89"/>
            <p:cNvSpPr/>
            <p:nvPr/>
          </p:nvSpPr>
          <p:spPr>
            <a:xfrm>
              <a:off x="4187" y="435"/>
              <a:ext cx="10827" cy="9663"/>
            </a:xfrm>
            <a:prstGeom prst="rect">
              <a:avLst/>
            </a:prstGeom>
            <a:noFill/>
            <a:ln w="25400">
              <a:solidFill>
                <a:srgbClr val="D9AC9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1" name="矩形 90"/>
            <p:cNvSpPr/>
            <p:nvPr/>
          </p:nvSpPr>
          <p:spPr>
            <a:xfrm>
              <a:off x="4274" y="1099"/>
              <a:ext cx="10609" cy="2115"/>
            </a:xfrm>
            <a:prstGeom prst="rect">
              <a:avLst/>
            </a:prstGeom>
            <a:solidFill>
              <a:srgbClr val="FDEBDD"/>
            </a:solidFill>
            <a:ln w="12700">
              <a:solidFill>
                <a:srgbClr val="F2C4A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2" name="矩形 91"/>
            <p:cNvSpPr/>
            <p:nvPr/>
          </p:nvSpPr>
          <p:spPr>
            <a:xfrm>
              <a:off x="4274" y="3471"/>
              <a:ext cx="10608" cy="3501"/>
            </a:xfrm>
            <a:prstGeom prst="rect">
              <a:avLst/>
            </a:prstGeom>
            <a:solidFill>
              <a:srgbClr val="FDEBDD"/>
            </a:solidFill>
            <a:ln w="127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3" name="矩形 92"/>
            <p:cNvSpPr/>
            <p:nvPr/>
          </p:nvSpPr>
          <p:spPr>
            <a:xfrm>
              <a:off x="4274" y="7190"/>
              <a:ext cx="10609" cy="2756"/>
            </a:xfrm>
            <a:prstGeom prst="rect">
              <a:avLst/>
            </a:prstGeom>
            <a:solidFill>
              <a:srgbClr val="FDEBDD"/>
            </a:solidFill>
            <a:ln w="12700">
              <a:solidFill>
                <a:srgbClr val="F2C4A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4" name="矩形 93"/>
            <p:cNvSpPr/>
            <p:nvPr/>
          </p:nvSpPr>
          <p:spPr>
            <a:xfrm>
              <a:off x="4318" y="1099"/>
              <a:ext cx="892" cy="2086"/>
            </a:xfrm>
            <a:prstGeom prst="rect">
              <a:avLst/>
            </a:prstGeom>
            <a:solidFill>
              <a:srgbClr val="E58241"/>
            </a:solidFill>
            <a:ln w="25400">
              <a:solidFill>
                <a:srgbClr val="E582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4318" y="3471"/>
              <a:ext cx="893" cy="3468"/>
            </a:xfrm>
            <a:prstGeom prst="rect">
              <a:avLst/>
            </a:prstGeom>
            <a:solidFill>
              <a:srgbClr val="E58241"/>
            </a:solidFill>
            <a:ln w="25400">
              <a:solidFill>
                <a:srgbClr val="E582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模型构建与求解</a:t>
              </a:r>
              <a:endPara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6" name="矩形 95"/>
            <p:cNvSpPr/>
            <p:nvPr/>
          </p:nvSpPr>
          <p:spPr>
            <a:xfrm>
              <a:off x="4318" y="7195"/>
              <a:ext cx="893" cy="2733"/>
            </a:xfrm>
            <a:prstGeom prst="rect">
              <a:avLst/>
            </a:prstGeom>
            <a:solidFill>
              <a:srgbClr val="E58241"/>
            </a:solidFill>
            <a:ln w="25400">
              <a:solidFill>
                <a:srgbClr val="E582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模型检验</a:t>
              </a:r>
              <a:endPara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7" name="矩形 96"/>
            <p:cNvSpPr/>
            <p:nvPr/>
          </p:nvSpPr>
          <p:spPr>
            <a:xfrm>
              <a:off x="5586" y="1230"/>
              <a:ext cx="709" cy="181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EAB38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缺失值处理</a:t>
              </a:r>
              <a:endParaRPr kumimoji="0" lang="zh-CN" altLang="en-US" sz="7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8" name="矩形 97"/>
            <p:cNvSpPr/>
            <p:nvPr/>
          </p:nvSpPr>
          <p:spPr>
            <a:xfrm>
              <a:off x="7031" y="1230"/>
              <a:ext cx="709" cy="181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EAB38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变量处理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9" name="矩形 98"/>
            <p:cNvSpPr/>
            <p:nvPr/>
          </p:nvSpPr>
          <p:spPr>
            <a:xfrm>
              <a:off x="8030" y="1367"/>
              <a:ext cx="2268" cy="4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EAB38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7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Z-score </a:t>
              </a:r>
              <a:r>
                <a:rPr kumimoji="0" lang="zh-CN" alt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标准化</a:t>
              </a:r>
              <a:endParaRPr kumimoji="0" lang="zh-CN" altLang="en-US" sz="7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0" name="矩形 99"/>
            <p:cNvSpPr/>
            <p:nvPr/>
          </p:nvSpPr>
          <p:spPr>
            <a:xfrm>
              <a:off x="8030" y="1958"/>
              <a:ext cx="2268" cy="4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EAB38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分变量编码</a:t>
              </a:r>
              <a:endParaRPr kumimoji="0" lang="zh-CN" altLang="en-US" sz="7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1" name="矩形 100"/>
            <p:cNvSpPr/>
            <p:nvPr/>
          </p:nvSpPr>
          <p:spPr>
            <a:xfrm>
              <a:off x="8030" y="2558"/>
              <a:ext cx="2268" cy="4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EAB38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时间序列处理</a:t>
              </a:r>
              <a:endParaRPr kumimoji="0" lang="zh-CN" altLang="en-US" sz="7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2" name="矩形 101"/>
            <p:cNvSpPr/>
            <p:nvPr/>
          </p:nvSpPr>
          <p:spPr>
            <a:xfrm>
              <a:off x="11222" y="1272"/>
              <a:ext cx="709" cy="181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EAB38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数据分析</a:t>
              </a:r>
              <a:endPara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3" name="矩形 102"/>
            <p:cNvSpPr/>
            <p:nvPr/>
          </p:nvSpPr>
          <p:spPr>
            <a:xfrm>
              <a:off x="12221" y="1339"/>
              <a:ext cx="2196" cy="34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EAB38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700" b="1" dirty="0">
                  <a:solidFill>
                    <a:schemeClr val="tx1"/>
                  </a:solidFill>
                  <a:highlight>
                    <a:srgbClr val="000000">
                      <a:alpha val="0"/>
                    </a:srgbClr>
                  </a:highlight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数据</a:t>
              </a:r>
              <a:r>
                <a:rPr lang="en-US" altLang="zh-CN" sz="700" b="1" dirty="0">
                  <a:solidFill>
                    <a:schemeClr val="tx1"/>
                  </a:solidFill>
                  <a:highlight>
                    <a:srgbClr val="000000">
                      <a:alpha val="0"/>
                    </a:srgbClr>
                  </a:highlight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1</a:t>
              </a:r>
              <a:endParaRPr lang="en-US" altLang="zh-CN" sz="700" b="1" dirty="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04" name="矩形 103"/>
            <p:cNvSpPr/>
            <p:nvPr/>
          </p:nvSpPr>
          <p:spPr>
            <a:xfrm>
              <a:off x="12221" y="1843"/>
              <a:ext cx="2196" cy="34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EAB38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700" b="1" dirty="0">
                  <a:solidFill>
                    <a:schemeClr val="tx1"/>
                  </a:solidFill>
                  <a:highlight>
                    <a:srgbClr val="000000">
                      <a:alpha val="0"/>
                    </a:srgbClr>
                  </a:highlight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数据</a:t>
              </a:r>
              <a:r>
                <a:rPr lang="en-US" altLang="zh-CN" sz="700" b="1" dirty="0">
                  <a:solidFill>
                    <a:schemeClr val="tx1"/>
                  </a:solidFill>
                  <a:highlight>
                    <a:srgbClr val="000000">
                      <a:alpha val="0"/>
                    </a:srgbClr>
                  </a:highlight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2</a:t>
              </a:r>
              <a:endParaRPr lang="en-US" altLang="zh-CN" sz="700" b="1" dirty="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05" name="矩形 104"/>
            <p:cNvSpPr/>
            <p:nvPr/>
          </p:nvSpPr>
          <p:spPr>
            <a:xfrm>
              <a:off x="12221" y="2275"/>
              <a:ext cx="2196" cy="34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EAB38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700" b="1" dirty="0">
                  <a:solidFill>
                    <a:schemeClr val="tx1"/>
                  </a:solidFill>
                  <a:highlight>
                    <a:srgbClr val="000000">
                      <a:alpha val="0"/>
                    </a:srgbClr>
                  </a:highlight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数据</a:t>
              </a:r>
              <a:r>
                <a:rPr lang="en-US" altLang="zh-CN" sz="700" b="1" dirty="0">
                  <a:solidFill>
                    <a:schemeClr val="tx1"/>
                  </a:solidFill>
                  <a:highlight>
                    <a:srgbClr val="000000">
                      <a:alpha val="0"/>
                    </a:srgbClr>
                  </a:highlight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3</a:t>
              </a:r>
              <a:endParaRPr lang="en-US" altLang="zh-CN" sz="700" b="1" dirty="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06" name="矩形 105"/>
            <p:cNvSpPr/>
            <p:nvPr/>
          </p:nvSpPr>
          <p:spPr>
            <a:xfrm>
              <a:off x="12221" y="2728"/>
              <a:ext cx="2196" cy="34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EAB38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700" b="1" dirty="0">
                  <a:solidFill>
                    <a:schemeClr val="tx1"/>
                  </a:solidFill>
                  <a:highlight>
                    <a:srgbClr val="000000">
                      <a:alpha val="0"/>
                    </a:srgbClr>
                  </a:highlight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数据</a:t>
              </a:r>
              <a:r>
                <a:rPr lang="en-US" altLang="zh-CN" sz="700" b="1" dirty="0">
                  <a:solidFill>
                    <a:schemeClr val="tx1"/>
                  </a:solidFill>
                  <a:highlight>
                    <a:srgbClr val="000000">
                      <a:alpha val="0"/>
                    </a:srgbClr>
                  </a:highlight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4</a:t>
              </a:r>
              <a:endParaRPr lang="en-US" altLang="zh-CN" sz="700" b="1" dirty="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07" name="矩形 106"/>
            <p:cNvSpPr/>
            <p:nvPr/>
          </p:nvSpPr>
          <p:spPr>
            <a:xfrm>
              <a:off x="6926" y="1106"/>
              <a:ext cx="3513" cy="1982"/>
            </a:xfrm>
            <a:prstGeom prst="rect">
              <a:avLst/>
            </a:prstGeom>
            <a:noFill/>
            <a:ln w="12700">
              <a:solidFill>
                <a:srgbClr val="F2C4A5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DEBDD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8" name="矩形 107"/>
            <p:cNvSpPr/>
            <p:nvPr/>
          </p:nvSpPr>
          <p:spPr>
            <a:xfrm>
              <a:off x="27441" y="1366"/>
              <a:ext cx="3513" cy="1981"/>
            </a:xfrm>
            <a:prstGeom prst="rect">
              <a:avLst/>
            </a:prstGeom>
            <a:noFill/>
            <a:ln w="12700">
              <a:solidFill>
                <a:srgbClr val="F2C4A5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DEBDD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9" name="右箭头 108"/>
            <p:cNvSpPr/>
            <p:nvPr/>
          </p:nvSpPr>
          <p:spPr>
            <a:xfrm>
              <a:off x="6384" y="2024"/>
              <a:ext cx="453" cy="251"/>
            </a:xfrm>
            <a:prstGeom prst="rightArrow">
              <a:avLst/>
            </a:prstGeom>
            <a:noFill/>
            <a:ln w="12700">
              <a:solidFill>
                <a:srgbClr val="E5824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b="1" dirty="0"/>
            </a:p>
          </p:txBody>
        </p:sp>
        <p:sp>
          <p:nvSpPr>
            <p:cNvPr id="110" name="右箭头 109"/>
            <p:cNvSpPr/>
            <p:nvPr/>
          </p:nvSpPr>
          <p:spPr>
            <a:xfrm>
              <a:off x="10528" y="2024"/>
              <a:ext cx="453" cy="251"/>
            </a:xfrm>
            <a:prstGeom prst="rightArrow">
              <a:avLst/>
            </a:prstGeom>
            <a:noFill/>
            <a:ln w="12700">
              <a:solidFill>
                <a:srgbClr val="E5824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b="1" dirty="0"/>
            </a:p>
          </p:txBody>
        </p:sp>
        <p:sp>
          <p:nvSpPr>
            <p:cNvPr id="111" name="矩形 110"/>
            <p:cNvSpPr/>
            <p:nvPr/>
          </p:nvSpPr>
          <p:spPr>
            <a:xfrm>
              <a:off x="6223" y="6013"/>
              <a:ext cx="7305" cy="808"/>
            </a:xfrm>
            <a:prstGeom prst="rect">
              <a:avLst/>
            </a:prstGeom>
            <a:noFill/>
            <a:ln w="12700">
              <a:solidFill>
                <a:srgbClr val="F2C4A5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DEBDD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2" name="矩形 111"/>
            <p:cNvSpPr/>
            <p:nvPr/>
          </p:nvSpPr>
          <p:spPr>
            <a:xfrm>
              <a:off x="10596" y="3749"/>
              <a:ext cx="3017" cy="4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F2C4A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孕妇生理情况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3" name="矩形 112"/>
            <p:cNvSpPr/>
            <p:nvPr/>
          </p:nvSpPr>
          <p:spPr>
            <a:xfrm>
              <a:off x="6223" y="4575"/>
              <a:ext cx="7307" cy="42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EAB38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相关性分析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4" name="矩形 113"/>
            <p:cNvSpPr/>
            <p:nvPr/>
          </p:nvSpPr>
          <p:spPr>
            <a:xfrm>
              <a:off x="6223" y="5396"/>
              <a:ext cx="7307" cy="46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EAB38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基于改进的混合效应模型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5" name="矩形 114"/>
            <p:cNvSpPr/>
            <p:nvPr/>
          </p:nvSpPr>
          <p:spPr>
            <a:xfrm>
              <a:off x="6209" y="3749"/>
              <a:ext cx="3017" cy="4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F2C4A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胎儿</a:t>
              </a:r>
              <a:r>
                <a:rPr kumimoji="0" lang="en-US" altLang="zh-CN" sz="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 Y </a:t>
              </a:r>
              <a:r>
                <a:rPr kumimoji="0" lang="zh-CN" altLang="en-US" sz="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染色体浓度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6" name="矩形: 圆角 18"/>
            <p:cNvSpPr/>
            <p:nvPr/>
          </p:nvSpPr>
          <p:spPr>
            <a:xfrm>
              <a:off x="6478" y="6069"/>
              <a:ext cx="1314" cy="663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E582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BMI</a:t>
              </a:r>
              <a:endParaRPr lang="en-US" altLang="zh-CN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矩形: 圆角 18"/>
            <p:cNvSpPr/>
            <p:nvPr/>
          </p:nvSpPr>
          <p:spPr>
            <a:xfrm>
              <a:off x="7908" y="6069"/>
              <a:ext cx="1314" cy="663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E582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孕周</a:t>
              </a:r>
              <a:endParaRPr lang="zh-CN" alt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" name="矩形: 圆角 18"/>
            <p:cNvSpPr/>
            <p:nvPr/>
          </p:nvSpPr>
          <p:spPr>
            <a:xfrm>
              <a:off x="9405" y="6069"/>
              <a:ext cx="1314" cy="663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E582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身高</a:t>
              </a:r>
              <a:endParaRPr lang="zh-CN" alt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矩形: 圆角 18"/>
            <p:cNvSpPr/>
            <p:nvPr/>
          </p:nvSpPr>
          <p:spPr>
            <a:xfrm>
              <a:off x="10866" y="6069"/>
              <a:ext cx="2333" cy="663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E5824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变更项</a:t>
              </a:r>
              <a:endParaRPr lang="zh-CN" altLang="en-US" sz="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7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高次项</a:t>
              </a:r>
              <a:endParaRPr lang="zh-CN" altLang="en-US" sz="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cxnSp>
          <p:nvCxnSpPr>
            <p:cNvPr id="120" name="直接连接符 119"/>
            <p:cNvCxnSpPr>
              <a:stCxn id="119" idx="1"/>
              <a:endCxn id="119" idx="3"/>
            </p:cNvCxnSpPr>
            <p:nvPr/>
          </p:nvCxnSpPr>
          <p:spPr>
            <a:xfrm>
              <a:off x="10866" y="6401"/>
              <a:ext cx="2333" cy="0"/>
            </a:xfrm>
            <a:prstGeom prst="line">
              <a:avLst/>
            </a:prstGeom>
            <a:ln>
              <a:solidFill>
                <a:srgbClr val="E5824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1" name="右箭头 120"/>
            <p:cNvSpPr/>
            <p:nvPr/>
          </p:nvSpPr>
          <p:spPr>
            <a:xfrm rot="5220000">
              <a:off x="9771" y="5031"/>
              <a:ext cx="295" cy="385"/>
            </a:xfrm>
            <a:prstGeom prst="rightArrow">
              <a:avLst/>
            </a:prstGeom>
            <a:noFill/>
            <a:ln w="12700">
              <a:solidFill>
                <a:srgbClr val="E5824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b="1" dirty="0"/>
            </a:p>
          </p:txBody>
        </p:sp>
        <p:cxnSp>
          <p:nvCxnSpPr>
            <p:cNvPr id="122" name="直接连接符 121"/>
            <p:cNvCxnSpPr>
              <a:stCxn id="115" idx="3"/>
              <a:endCxn id="112" idx="1"/>
            </p:cNvCxnSpPr>
            <p:nvPr/>
          </p:nvCxnSpPr>
          <p:spPr>
            <a:xfrm>
              <a:off x="9226" y="3998"/>
              <a:ext cx="1370" cy="0"/>
            </a:xfrm>
            <a:prstGeom prst="line">
              <a:avLst/>
            </a:prstGeom>
            <a:ln w="12700">
              <a:solidFill>
                <a:srgbClr val="EAB389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>
              <a:stCxn id="113" idx="0"/>
            </p:cNvCxnSpPr>
            <p:nvPr/>
          </p:nvCxnSpPr>
          <p:spPr>
            <a:xfrm flipH="1" flipV="1">
              <a:off x="9872" y="3983"/>
              <a:ext cx="5" cy="592"/>
            </a:xfrm>
            <a:prstGeom prst="line">
              <a:avLst/>
            </a:prstGeom>
            <a:ln w="12700">
              <a:solidFill>
                <a:srgbClr val="EAB389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4" name="矩形 123"/>
            <p:cNvSpPr/>
            <p:nvPr/>
          </p:nvSpPr>
          <p:spPr>
            <a:xfrm>
              <a:off x="5614" y="7345"/>
              <a:ext cx="3017" cy="497"/>
            </a:xfrm>
            <a:prstGeom prst="rect">
              <a:avLst/>
            </a:prstGeom>
            <a:solidFill>
              <a:srgbClr val="F1B488"/>
            </a:solidFill>
            <a:ln w="12700">
              <a:solidFill>
                <a:srgbClr val="F2C4A5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DEBDD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随机必要性检验</a:t>
              </a:r>
              <a:endPara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5" name="矩形 124"/>
            <p:cNvSpPr/>
            <p:nvPr/>
          </p:nvSpPr>
          <p:spPr>
            <a:xfrm>
              <a:off x="5709" y="8008"/>
              <a:ext cx="2837" cy="4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2C4A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方差对比评估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6" name="矩形 125"/>
            <p:cNvSpPr/>
            <p:nvPr/>
          </p:nvSpPr>
          <p:spPr>
            <a:xfrm>
              <a:off x="9154" y="7332"/>
              <a:ext cx="5422" cy="524"/>
            </a:xfrm>
            <a:prstGeom prst="rect">
              <a:avLst/>
            </a:prstGeom>
            <a:solidFill>
              <a:srgbClr val="F1B488"/>
            </a:solidFill>
            <a:ln w="12700">
              <a:solidFill>
                <a:srgbClr val="F2C4A5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DEBDD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900" b="1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sym typeface="+mn-ea"/>
                </a:rPr>
                <a:t>随机正态性检验</a:t>
              </a: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7" name="矩形 126"/>
            <p:cNvSpPr/>
            <p:nvPr/>
          </p:nvSpPr>
          <p:spPr>
            <a:xfrm>
              <a:off x="5709" y="8629"/>
              <a:ext cx="2837" cy="4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2C4A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组织比较检验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8" name="矩形 127"/>
            <p:cNvSpPr/>
            <p:nvPr/>
          </p:nvSpPr>
          <p:spPr>
            <a:xfrm>
              <a:off x="5709" y="9250"/>
              <a:ext cx="2837" cy="4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2C4A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方差成分分析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9" name="矩形 128"/>
            <p:cNvSpPr/>
            <p:nvPr/>
          </p:nvSpPr>
          <p:spPr>
            <a:xfrm>
              <a:off x="5585" y="7330"/>
              <a:ext cx="3046" cy="2492"/>
            </a:xfrm>
            <a:prstGeom prst="rect">
              <a:avLst/>
            </a:prstGeom>
            <a:noFill/>
            <a:ln w="12700">
              <a:solidFill>
                <a:srgbClr val="F2C4A5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DEBDD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0" name="矩形 129"/>
            <p:cNvSpPr/>
            <p:nvPr/>
          </p:nvSpPr>
          <p:spPr>
            <a:xfrm>
              <a:off x="9384" y="8008"/>
              <a:ext cx="2448" cy="4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2C4A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随机截距</a:t>
              </a:r>
              <a:r>
                <a:rPr kumimoji="0" lang="en-US" altLang="zh-CN" sz="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 Q-Q </a:t>
              </a:r>
              <a:r>
                <a:rPr kumimoji="0" lang="zh-CN" altLang="en-US" sz="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图</a:t>
              </a:r>
              <a:endParaRPr kumimoji="0" lang="zh-CN" altLang="en-US" sz="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1" name="矩形 130"/>
            <p:cNvSpPr/>
            <p:nvPr/>
          </p:nvSpPr>
          <p:spPr>
            <a:xfrm>
              <a:off x="12015" y="8008"/>
              <a:ext cx="2402" cy="4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2C4A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分布直方图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2" name="矩形 131"/>
            <p:cNvSpPr/>
            <p:nvPr/>
          </p:nvSpPr>
          <p:spPr>
            <a:xfrm>
              <a:off x="9161" y="8532"/>
              <a:ext cx="5422" cy="524"/>
            </a:xfrm>
            <a:prstGeom prst="rect">
              <a:avLst/>
            </a:prstGeom>
            <a:solidFill>
              <a:srgbClr val="F1B488"/>
            </a:solidFill>
            <a:ln w="12700">
              <a:solidFill>
                <a:srgbClr val="F2C4A5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DEBDD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同方差性检验</a:t>
              </a:r>
              <a:endPara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3" name="矩形 132"/>
            <p:cNvSpPr/>
            <p:nvPr/>
          </p:nvSpPr>
          <p:spPr>
            <a:xfrm>
              <a:off x="9405" y="9250"/>
              <a:ext cx="2448" cy="4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2C4A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残差分析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4" name="矩形 133"/>
            <p:cNvSpPr/>
            <p:nvPr/>
          </p:nvSpPr>
          <p:spPr>
            <a:xfrm>
              <a:off x="12036" y="9250"/>
              <a:ext cx="2402" cy="4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2C4A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LOWESS </a:t>
              </a:r>
              <a:r>
                <a:rPr kumimoji="0" lang="zh-CN" altLang="en-US" sz="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平滑分析</a:t>
              </a:r>
              <a:endParaRPr kumimoji="0" lang="zh-CN" altLang="en-US" sz="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5" name="矩形 134"/>
            <p:cNvSpPr/>
            <p:nvPr/>
          </p:nvSpPr>
          <p:spPr>
            <a:xfrm>
              <a:off x="9161" y="7857"/>
              <a:ext cx="5422" cy="675"/>
            </a:xfrm>
            <a:prstGeom prst="rect">
              <a:avLst/>
            </a:prstGeom>
            <a:noFill/>
            <a:ln w="12700">
              <a:solidFill>
                <a:srgbClr val="F2C4A5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DEBDD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6" name="矩形 135"/>
            <p:cNvSpPr/>
            <p:nvPr/>
          </p:nvSpPr>
          <p:spPr>
            <a:xfrm>
              <a:off x="9161" y="9147"/>
              <a:ext cx="5422" cy="675"/>
            </a:xfrm>
            <a:prstGeom prst="rect">
              <a:avLst/>
            </a:prstGeom>
            <a:noFill/>
            <a:ln w="12700">
              <a:solidFill>
                <a:srgbClr val="F2C4A5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DEBDD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7" name="文本框 136"/>
            <p:cNvSpPr txBox="1"/>
            <p:nvPr/>
          </p:nvSpPr>
          <p:spPr>
            <a:xfrm>
              <a:off x="4912" y="444"/>
              <a:ext cx="9324" cy="6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800" b="1"/>
                <a:t>问题一：基于混合效应模型的</a:t>
              </a:r>
              <a:r>
                <a:rPr lang="en-US" altLang="zh-CN" sz="800" b="1"/>
                <a:t> Y </a:t>
              </a:r>
              <a:r>
                <a:rPr lang="zh-CN" altLang="en-US" sz="800" b="1"/>
                <a:t>染色体浓度与多因素关系分析</a:t>
              </a:r>
              <a:endParaRPr lang="zh-CN" altLang="en-US" sz="800" b="1"/>
            </a:p>
          </p:txBody>
        </p:sp>
        <p:sp>
          <p:nvSpPr>
            <p:cNvPr id="138" name="文本框 137"/>
            <p:cNvSpPr txBox="1"/>
            <p:nvPr/>
          </p:nvSpPr>
          <p:spPr>
            <a:xfrm>
              <a:off x="4335" y="1107"/>
              <a:ext cx="580" cy="19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800" b="1">
                  <a:solidFill>
                    <a:schemeClr val="bg1"/>
                  </a:solidFill>
                </a:rPr>
                <a:t>数据预处理</a:t>
              </a:r>
              <a:endParaRPr lang="zh-CN" altLang="en-US" sz="800" b="1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>
          <a:solidFill>
            <a:schemeClr val="bg2">
              <a:lumMod val="50000"/>
            </a:schemeClr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7939</Words>
  <Application>WPS 演示</Application>
  <PresentationFormat>宽屏</PresentationFormat>
  <Paragraphs>1445</Paragraphs>
  <Slides>21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21</vt:i4>
      </vt:variant>
    </vt:vector>
  </HeadingPairs>
  <TitlesOfParts>
    <vt:vector size="39" baseType="lpstr">
      <vt:lpstr>Arial</vt:lpstr>
      <vt:lpstr>宋体</vt:lpstr>
      <vt:lpstr>Wingdings</vt:lpstr>
      <vt:lpstr>Times New Roman</vt:lpstr>
      <vt:lpstr>等线</vt:lpstr>
      <vt:lpstr>微软雅黑</vt:lpstr>
      <vt:lpstr>Arial Unicode MS</vt:lpstr>
      <vt:lpstr>等线 Light</vt:lpstr>
      <vt:lpstr>Calibri</vt:lpstr>
      <vt:lpstr>Office 主题​​</vt:lpstr>
      <vt:lpstr>Equation.AxMath</vt:lpstr>
      <vt:lpstr>Equation.AxMath</vt:lpstr>
      <vt:lpstr>Equation.AxMath</vt:lpstr>
      <vt:lpstr>Equation.AxMath</vt:lpstr>
      <vt:lpstr>Equation.AxMath</vt:lpstr>
      <vt:lpstr>Equation.AxMath</vt:lpstr>
      <vt:lpstr>Equation.AxMath</vt:lpstr>
      <vt:lpstr>Equation.AxMath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数学建模老哥团队</cp:lastModifiedBy>
  <cp:revision>50</cp:revision>
  <dcterms:created xsi:type="dcterms:W3CDTF">2024-02-03T03:27:00Z</dcterms:created>
  <dcterms:modified xsi:type="dcterms:W3CDTF">2026-07-15T18:21:14Z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C85DFC4AA3D3485AAEEA566C2049A033_13</vt:lpwstr>
  </property>
  <property fmtid="{D5CDD505-2E9C-101B-9397-08002B2CF9AE}" pid="3" name="KSOProductBuildVer">
    <vt:lpwstr>2052-12.1.0.26895</vt:lpwstr>
  </property>
</Properties>
</file>