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6"/>
    <p:sldId id="260" r:id="rId7"/>
    <p:sldId id="261" r:id="rId8"/>
    <p:sldId id="262" r:id="rId9"/>
    <p:sldId id="263" r:id="rId10"/>
    <p:sldId id="264"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207"/>
    <p:restoredTop sz="96405"/>
  </p:normalViewPr>
  <p:slideViewPr>
    <p:cSldViewPr snapToGrid="0">
      <p:cViewPr varScale="1">
        <p:scale>
          <a:sx n="118" d="100"/>
          <a:sy n="118" d="100"/>
        </p:scale>
        <p:origin x="224"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3B384D-3E02-E994-B051-E330DFA68D45}"/>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642D9F2-3624-4D8D-B664-09CF3BE404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B1D2ADEB-B89F-B255-2FAD-B4816872BA13}"/>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617799D2-608A-1BED-18DE-F27BFC7D56F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78BB09E-B8B4-100C-3A9C-10B6A9E78684}"/>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702417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AED10-FA44-4B79-1858-51911961743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3E1F65-FDE9-D9B9-D583-0B39451CA99B}"/>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A15B3C1-F6BE-5200-4857-D45FE83709C2}"/>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CD76FDB9-F11C-9F05-987B-4CE922EE744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019BAAE-01C3-AE31-545D-9C4BDE385E26}"/>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3070899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664EE-1582-654D-BC49-546A30FFFBF5}"/>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D0475A5-817A-4272-B36B-A2974CFD59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1444D34-E9A8-E1CA-4EC8-EE83946320FC}"/>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95B04E80-4E88-BA36-EC6F-0156024DDDF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32FFF4B-99ED-3023-D26D-249686E25DC0}"/>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3952713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EBC619-43F9-DE9A-582E-B142110C140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1A1046A-04E7-E2B5-6C23-060421ED4F51}"/>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6D7DFF6-A94E-8CFA-8B7B-CCD68DADABA2}"/>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41A8C82C-F0B4-150E-CC25-64912AE27CB5}"/>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6" name="页脚占位符 5">
            <a:extLst>
              <a:ext uri="{FF2B5EF4-FFF2-40B4-BE49-F238E27FC236}">
                <a16:creationId xmlns:a16="http://schemas.microsoft.com/office/drawing/2014/main" id="{C0DBEAD7-065D-781C-AFAD-690F6BCD2C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5D1EA27-ABC2-B2BF-A8E7-F315F90C53E9}"/>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722574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8CDE48-844A-87A3-D900-4CD6DB0ADFA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204350E-9307-4DE0-2916-DD98FE3BB2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C4FD1E1-A68A-24F6-8AC4-272C3657C307}"/>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0CC5D98A-B1CE-7508-CA00-B8D54E585D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28A2CE09-6E89-9C1F-1C3E-3C5FE870F36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C803779-95F1-E926-9504-DBBE09DD893E}"/>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8" name="页脚占位符 7">
            <a:extLst>
              <a:ext uri="{FF2B5EF4-FFF2-40B4-BE49-F238E27FC236}">
                <a16:creationId xmlns:a16="http://schemas.microsoft.com/office/drawing/2014/main" id="{CDF898B8-412A-56F3-5C5A-583A32D5BD2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37C8B352-84FD-CD4F-8314-E2296DB05641}"/>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1320865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01AA8A-B1CE-3E2D-EA63-AE60B0D40D0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C1E4142-460B-2ECE-466E-5CA150DD0F9A}"/>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4" name="页脚占位符 3">
            <a:extLst>
              <a:ext uri="{FF2B5EF4-FFF2-40B4-BE49-F238E27FC236}">
                <a16:creationId xmlns:a16="http://schemas.microsoft.com/office/drawing/2014/main" id="{0110E233-12D1-AD91-4F8C-F9EF73CD547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A3971320-421E-5B94-2FAA-BAC59982F828}"/>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2092361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B204629-AC0D-5EF0-54DF-F7239765894A}"/>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3" name="页脚占位符 2">
            <a:extLst>
              <a:ext uri="{FF2B5EF4-FFF2-40B4-BE49-F238E27FC236}">
                <a16:creationId xmlns:a16="http://schemas.microsoft.com/office/drawing/2014/main" id="{BA07462E-890B-2283-433C-80E2F0CB2B6D}"/>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C30CA904-0D2D-7946-BF1A-AEBCF058493E}"/>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45006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69A19C-07DF-19D0-F847-544FDD034112}"/>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1DAB823-8E6A-667B-9AE4-2D2B77B4AC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831AC44-F735-E20B-365A-BF19BDCDEA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FCBF0A4-E9B4-E9A6-701A-B1DAC0E8CB8E}"/>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6" name="页脚占位符 5">
            <a:extLst>
              <a:ext uri="{FF2B5EF4-FFF2-40B4-BE49-F238E27FC236}">
                <a16:creationId xmlns:a16="http://schemas.microsoft.com/office/drawing/2014/main" id="{E3468BE0-D9D4-3CC3-9764-3B4933F7DDC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57C6CD8-36BD-2234-F54C-B1495DBC6916}"/>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818401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52D848-2EF5-C3C4-C5DD-E7C4E476236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1AD3477-B566-8EA7-C3A4-62B515404E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AD04CFC-654F-3A2D-5E9B-6AD714A030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DE2C404-E0CA-A918-DF19-47CFC8D4D423}"/>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6" name="页脚占位符 5">
            <a:extLst>
              <a:ext uri="{FF2B5EF4-FFF2-40B4-BE49-F238E27FC236}">
                <a16:creationId xmlns:a16="http://schemas.microsoft.com/office/drawing/2014/main" id="{AAF2DAB8-667B-9B04-44D8-E3EBD060EDD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EF29828-5BEE-64D1-7287-1B29297406C5}"/>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422009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12D05-A4FD-4F35-68B6-2B4786407B00}"/>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13D66E87-94F1-32B5-0CAA-D0840E310DA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D25C159-6D06-5E94-2E97-B325CF722360}"/>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B563A5E8-CE17-5EFF-5B9F-0E8360E7353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C2907E-BF81-1D8B-7E97-348CBFE52E25}"/>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308747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45F8659-50FA-D8AC-8FC1-6E7D27A6A35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7BE9503-10C7-3648-914E-4FC3CC6B1A8A}"/>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476A1C9-A456-D9AA-85C7-0E71A8EB6F9F}"/>
              </a:ext>
            </a:extLst>
          </p:cNvPr>
          <p:cNvSpPr>
            <a:spLocks noGrp="1"/>
          </p:cNvSpPr>
          <p:nvPr>
            <p:ph type="dt" sz="half" idx="10"/>
          </p:nvPr>
        </p:nvSpPr>
        <p:spPr/>
        <p:txBody>
          <a:body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94CD5FE9-571D-496D-E07A-E261ED16ED7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BFA8822-726B-FE50-5B55-711E54B16CF6}"/>
              </a:ext>
            </a:extLst>
          </p:cNvPr>
          <p:cNvSpPr>
            <a:spLocks noGrp="1"/>
          </p:cNvSpPr>
          <p:nvPr>
            <p:ph type="sldNum" sz="quarter" idx="12"/>
          </p:nvPr>
        </p:nvSpPr>
        <p:spPr/>
        <p:txBody>
          <a:body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3581420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65ED938-F6CA-5919-817C-E2E61FCEE1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C02CB7F-2BBA-292E-CE08-A22232FAB1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13B5BC4-67D4-7D1B-259B-1658E41B10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74CECD-ABBF-9340-8066-578D043F3104}" type="datetimeFigureOut">
              <a:rPr kumimoji="1" lang="zh-CN" altLang="en-US" smtClean="0"/>
              <a:t>2026/9/3</a:t>
            </a:fld>
            <a:endParaRPr kumimoji="1" lang="zh-CN" altLang="en-US"/>
          </a:p>
        </p:txBody>
      </p:sp>
      <p:sp>
        <p:nvSpPr>
          <p:cNvPr id="5" name="页脚占位符 4">
            <a:extLst>
              <a:ext uri="{FF2B5EF4-FFF2-40B4-BE49-F238E27FC236}">
                <a16:creationId xmlns:a16="http://schemas.microsoft.com/office/drawing/2014/main" id="{A5CED955-6196-968A-14FF-7680AABE30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82806290-0EC6-8D98-30E9-ED24036BD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9650C4-4E0C-7D49-B7A4-47D56AB10331}" type="slidenum">
              <a:rPr kumimoji="1" lang="zh-CN" altLang="en-US" smtClean="0"/>
              <a:t>‹#›</a:t>
            </a:fld>
            <a:endParaRPr kumimoji="1" lang="zh-CN" altLang="en-US"/>
          </a:p>
        </p:txBody>
      </p:sp>
    </p:spTree>
    <p:extLst>
      <p:ext uri="{BB962C8B-B14F-4D97-AF65-F5344CB8AC3E}">
        <p14:creationId xmlns:p14="http://schemas.microsoft.com/office/powerpoint/2010/main" val="751802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cumcm.cnki.ne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cumcm.cnki.ne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mcm.edu.cn/" TargetMode="External"/><Relationship Id="rId2" Type="http://schemas.openxmlformats.org/officeDocument/2006/relationships/hyperlink" Target="http://cumcm.cnki.ne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cumcm_support@163.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282D58-1973-1945-AACC-4F1293E73202}"/>
              </a:ext>
            </a:extLst>
          </p:cNvPr>
          <p:cNvSpPr>
            <a:spLocks noGrp="1"/>
          </p:cNvSpPr>
          <p:nvPr>
            <p:ph type="ctrTitle"/>
          </p:nvPr>
        </p:nvSpPr>
        <p:spPr/>
        <p:txBody>
          <a:bodyPr/>
          <a:lstStyle/>
          <a:p>
            <a:r>
              <a:rPr kumimoji="1" lang="en-US" altLang="zh-CN" dirty="0"/>
              <a:t>2026</a:t>
            </a:r>
            <a:r>
              <a:rPr kumimoji="1" lang="zh-CN" altLang="en-US" dirty="0"/>
              <a:t>年北京赛区参赛学生注意事项</a:t>
            </a:r>
          </a:p>
        </p:txBody>
      </p:sp>
      <p:sp>
        <p:nvSpPr>
          <p:cNvPr id="3" name="副标题 2">
            <a:extLst>
              <a:ext uri="{FF2B5EF4-FFF2-40B4-BE49-F238E27FC236}">
                <a16:creationId xmlns:a16="http://schemas.microsoft.com/office/drawing/2014/main" id="{0CABEA2B-0C74-4D20-162E-7992E476E6C2}"/>
              </a:ext>
            </a:extLst>
          </p:cNvPr>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2490346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0FC72D-0206-D79D-EB46-615F0294A2EF}"/>
              </a:ext>
            </a:extLst>
          </p:cNvPr>
          <p:cNvSpPr>
            <a:spLocks noGrp="1"/>
          </p:cNvSpPr>
          <p:nvPr>
            <p:ph type="title"/>
          </p:nvPr>
        </p:nvSpPr>
        <p:spPr/>
        <p:txBody>
          <a:bodyPr/>
          <a:lstStyle/>
          <a:p>
            <a:r>
              <a:rPr lang="zh-CN" altLang="zh-CN" dirty="0"/>
              <a:t>全国大学生数学建模竞赛管理系统</a:t>
            </a:r>
            <a:r>
              <a:rPr lang="zh-CN" altLang="zh-CN" dirty="0">
                <a:effectLst/>
              </a:rPr>
              <a:t> </a:t>
            </a:r>
            <a:endParaRPr kumimoji="1" lang="zh-CN" altLang="en-US" dirty="0"/>
          </a:p>
        </p:txBody>
      </p:sp>
      <p:sp>
        <p:nvSpPr>
          <p:cNvPr id="3" name="内容占位符 2">
            <a:extLst>
              <a:ext uri="{FF2B5EF4-FFF2-40B4-BE49-F238E27FC236}">
                <a16:creationId xmlns:a16="http://schemas.microsoft.com/office/drawing/2014/main" id="{CC5271A3-2BA0-D5DE-4A0C-D99D54BE1677}"/>
              </a:ext>
            </a:extLst>
          </p:cNvPr>
          <p:cNvSpPr>
            <a:spLocks noGrp="1"/>
          </p:cNvSpPr>
          <p:nvPr>
            <p:ph idx="1"/>
          </p:nvPr>
        </p:nvSpPr>
        <p:spPr/>
        <p:txBody>
          <a:bodyPr/>
          <a:lstStyle/>
          <a:p>
            <a:r>
              <a:rPr lang="zh-CN" altLang="zh-CN" dirty="0"/>
              <a:t>今年参加北京大学生数学建模竞赛的师生必须使用全国大学生数学建模竞赛管理系统（简称：全国管理系统）网址：</a:t>
            </a:r>
            <a:r>
              <a:rPr lang="en-US" altLang="zh-CN" u="sng" dirty="0">
                <a:hlinkClick r:id="rId2"/>
              </a:rPr>
              <a:t>http://cumcm.cnki.net</a:t>
            </a:r>
            <a:endParaRPr lang="zh-CN" altLang="zh-CN" dirty="0"/>
          </a:p>
          <a:p>
            <a:r>
              <a:rPr lang="zh-CN" altLang="zh-CN" dirty="0"/>
              <a:t>北京赛区所有参赛学生需向本校负责数学建模竞赛的老师报名。由各校负责教师在全国管理系统中导入学生信息。</a:t>
            </a:r>
            <a:endParaRPr lang="en-US" altLang="zh-CN" dirty="0"/>
          </a:p>
          <a:p>
            <a:r>
              <a:rPr lang="zh-CN" altLang="zh-CN" dirty="0"/>
              <a:t>学生的注册信息必须规范完整，主要有下列要求</a:t>
            </a:r>
            <a:r>
              <a:rPr lang="zh-CN" altLang="zh-CN" dirty="0">
                <a:effectLst/>
              </a:rPr>
              <a:t>  </a:t>
            </a:r>
            <a:endParaRPr lang="en-US" altLang="zh-CN" dirty="0">
              <a:effectLst/>
            </a:endParaRPr>
          </a:p>
          <a:p>
            <a:endParaRPr kumimoji="1" lang="zh-CN" altLang="en-US" dirty="0"/>
          </a:p>
        </p:txBody>
      </p:sp>
    </p:spTree>
    <p:extLst>
      <p:ext uri="{BB962C8B-B14F-4D97-AF65-F5344CB8AC3E}">
        <p14:creationId xmlns:p14="http://schemas.microsoft.com/office/powerpoint/2010/main" val="2892444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6377D-CC26-09EB-3E05-CDEE8522177B}"/>
              </a:ext>
            </a:extLst>
          </p:cNvPr>
          <p:cNvSpPr>
            <a:spLocks noGrp="1"/>
          </p:cNvSpPr>
          <p:nvPr>
            <p:ph type="title"/>
          </p:nvPr>
        </p:nvSpPr>
        <p:spPr/>
        <p:txBody>
          <a:bodyPr/>
          <a:lstStyle/>
          <a:p>
            <a:r>
              <a:rPr kumimoji="1" lang="zh-CN" altLang="en-US" dirty="0"/>
              <a:t>学生注册信息规范性要求</a:t>
            </a:r>
          </a:p>
        </p:txBody>
      </p:sp>
      <p:sp>
        <p:nvSpPr>
          <p:cNvPr id="3" name="内容占位符 2">
            <a:extLst>
              <a:ext uri="{FF2B5EF4-FFF2-40B4-BE49-F238E27FC236}">
                <a16:creationId xmlns:a16="http://schemas.microsoft.com/office/drawing/2014/main" id="{110DBEA4-D3E3-13C5-012F-2771D4A7AD0B}"/>
              </a:ext>
            </a:extLst>
          </p:cNvPr>
          <p:cNvSpPr>
            <a:spLocks noGrp="1"/>
          </p:cNvSpPr>
          <p:nvPr>
            <p:ph idx="1"/>
          </p:nvPr>
        </p:nvSpPr>
        <p:spPr/>
        <p:txBody>
          <a:bodyPr>
            <a:normAutofit lnSpcReduction="10000"/>
          </a:bodyPr>
          <a:lstStyle/>
          <a:p>
            <a:r>
              <a:rPr lang="zh-CN" altLang="zh-CN" dirty="0"/>
              <a:t>每个小组</a:t>
            </a:r>
            <a:r>
              <a:rPr lang="zh-CN" altLang="en-US" dirty="0"/>
              <a:t>由</a:t>
            </a:r>
            <a:r>
              <a:rPr lang="en-US" altLang="zh-CN" dirty="0"/>
              <a:t>3</a:t>
            </a:r>
            <a:r>
              <a:rPr lang="zh-CN" altLang="en-US" dirty="0"/>
              <a:t>名大</a:t>
            </a:r>
            <a:r>
              <a:rPr lang="zh-CN" altLang="zh-CN" dirty="0"/>
              <a:t>学生报名参赛，排名</a:t>
            </a:r>
            <a:r>
              <a:rPr lang="zh-CN" altLang="en-US" dirty="0"/>
              <a:t>不分先后</a:t>
            </a:r>
            <a:r>
              <a:rPr lang="zh-CN" altLang="zh-CN" dirty="0"/>
              <a:t>。</a:t>
            </a:r>
          </a:p>
          <a:p>
            <a:r>
              <a:rPr lang="zh-CN" altLang="zh-CN" dirty="0"/>
              <a:t>每个学生必须输入</a:t>
            </a:r>
            <a:r>
              <a:rPr lang="en-US" altLang="zh-CN" dirty="0"/>
              <a:t>11</a:t>
            </a:r>
            <a:r>
              <a:rPr lang="zh-CN" altLang="zh-CN" dirty="0"/>
              <a:t>位手机号码。</a:t>
            </a:r>
          </a:p>
          <a:p>
            <a:r>
              <a:rPr lang="zh-CN" altLang="zh-CN" dirty="0"/>
              <a:t>每个学生必须输入合法的</a:t>
            </a:r>
            <a:r>
              <a:rPr lang="en-US" altLang="zh-CN" dirty="0"/>
              <a:t>Email</a:t>
            </a:r>
            <a:r>
              <a:rPr lang="zh-CN" altLang="zh-CN" dirty="0"/>
              <a:t>账号。</a:t>
            </a:r>
            <a:r>
              <a:rPr lang="en-US" altLang="zh-CN" dirty="0"/>
              <a:t>Email</a:t>
            </a:r>
            <a:r>
              <a:rPr lang="zh-CN" altLang="zh-CN" dirty="0"/>
              <a:t>账号的用户名部分（</a:t>
            </a:r>
            <a:r>
              <a:rPr lang="en-US" altLang="zh-CN" dirty="0"/>
              <a:t>@</a:t>
            </a:r>
            <a:r>
              <a:rPr lang="zh-CN" altLang="zh-CN" dirty="0"/>
              <a:t>以前）不能包含“</a:t>
            </a:r>
            <a:r>
              <a:rPr lang="en-US" altLang="zh-CN" dirty="0"/>
              <a:t>.</a:t>
            </a:r>
            <a:r>
              <a:rPr lang="zh-CN" altLang="zh-CN" dirty="0"/>
              <a:t>”</a:t>
            </a:r>
          </a:p>
          <a:p>
            <a:r>
              <a:rPr lang="zh-CN" altLang="zh-CN" dirty="0"/>
              <a:t>每个小组可以不填写指导教师信息，如果填写指导教师，必须输入完整的指导教师信息。包括：姓名、性别、职称、</a:t>
            </a:r>
            <a:r>
              <a:rPr lang="en-US" altLang="zh-CN" dirty="0"/>
              <a:t>11</a:t>
            </a:r>
            <a:r>
              <a:rPr lang="zh-CN" altLang="zh-CN" dirty="0"/>
              <a:t>位手机号、合法的</a:t>
            </a:r>
            <a:r>
              <a:rPr lang="en-US" altLang="zh-CN" dirty="0"/>
              <a:t>Email</a:t>
            </a:r>
            <a:r>
              <a:rPr lang="zh-CN" altLang="zh-CN" dirty="0"/>
              <a:t>账号。</a:t>
            </a:r>
          </a:p>
          <a:p>
            <a:r>
              <a:rPr lang="zh-CN" altLang="zh-CN" dirty="0"/>
              <a:t>在竞赛开始前，每个学生必须用自己的手机号作为用户名登陆全国管理系统</a:t>
            </a:r>
            <a:r>
              <a:rPr lang="en-US" altLang="zh-CN" u="sng" dirty="0">
                <a:hlinkClick r:id="rId2"/>
              </a:rPr>
              <a:t>http://cumcm.cnki.net</a:t>
            </a:r>
            <a:r>
              <a:rPr lang="en-US" altLang="zh-CN" dirty="0"/>
              <a:t> </a:t>
            </a:r>
            <a:r>
              <a:rPr lang="zh-CN" altLang="zh-CN" dirty="0"/>
              <a:t>。</a:t>
            </a:r>
            <a:endParaRPr lang="en-US" altLang="zh-CN" dirty="0"/>
          </a:p>
          <a:p>
            <a:r>
              <a:rPr lang="zh-CN" altLang="zh-CN" dirty="0"/>
              <a:t>对于知网新用户，系统会自动激活账号。 </a:t>
            </a:r>
          </a:p>
          <a:p>
            <a:endParaRPr kumimoji="1" lang="zh-CN" altLang="en-US" dirty="0"/>
          </a:p>
        </p:txBody>
      </p:sp>
    </p:spTree>
    <p:extLst>
      <p:ext uri="{BB962C8B-B14F-4D97-AF65-F5344CB8AC3E}">
        <p14:creationId xmlns:p14="http://schemas.microsoft.com/office/powerpoint/2010/main" val="2711995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B6436B-4776-4826-B30B-5548AA7CD74A}"/>
              </a:ext>
            </a:extLst>
          </p:cNvPr>
          <p:cNvSpPr>
            <a:spLocks noGrp="1"/>
          </p:cNvSpPr>
          <p:nvPr>
            <p:ph type="title"/>
          </p:nvPr>
        </p:nvSpPr>
        <p:spPr/>
        <p:txBody>
          <a:bodyPr/>
          <a:lstStyle/>
          <a:p>
            <a:r>
              <a:rPr kumimoji="1" lang="zh-CN" altLang="en-US" dirty="0"/>
              <a:t>数学建模竞赛时间</a:t>
            </a:r>
          </a:p>
        </p:txBody>
      </p:sp>
      <p:sp>
        <p:nvSpPr>
          <p:cNvPr id="3" name="内容占位符 2">
            <a:extLst>
              <a:ext uri="{FF2B5EF4-FFF2-40B4-BE49-F238E27FC236}">
                <a16:creationId xmlns:a16="http://schemas.microsoft.com/office/drawing/2014/main" id="{74E998F4-D6B6-8185-ED8F-1178A00EA49F}"/>
              </a:ext>
            </a:extLst>
          </p:cNvPr>
          <p:cNvSpPr>
            <a:spLocks noGrp="1"/>
          </p:cNvSpPr>
          <p:nvPr>
            <p:ph idx="1"/>
          </p:nvPr>
        </p:nvSpPr>
        <p:spPr/>
        <p:txBody>
          <a:bodyPr/>
          <a:lstStyle/>
          <a:p>
            <a:r>
              <a:rPr lang="zh-CN" altLang="zh-CN" dirty="0"/>
              <a:t>全国大学生数学建模竞赛的开始时间是：</a:t>
            </a:r>
            <a:r>
              <a:rPr lang="en-US" altLang="zh-CN" dirty="0">
                <a:solidFill>
                  <a:srgbClr val="FF0000"/>
                </a:solidFill>
              </a:rPr>
              <a:t>2026</a:t>
            </a:r>
            <a:r>
              <a:rPr lang="zh-CN" altLang="zh-CN" dirty="0">
                <a:solidFill>
                  <a:srgbClr val="FF0000"/>
                </a:solidFill>
              </a:rPr>
              <a:t>年</a:t>
            </a:r>
            <a:r>
              <a:rPr lang="en-US" altLang="zh-CN" dirty="0">
                <a:solidFill>
                  <a:srgbClr val="FF0000"/>
                </a:solidFill>
              </a:rPr>
              <a:t>9</a:t>
            </a:r>
            <a:r>
              <a:rPr lang="zh-CN" altLang="zh-CN" dirty="0">
                <a:solidFill>
                  <a:srgbClr val="FF0000"/>
                </a:solidFill>
              </a:rPr>
              <a:t>月</a:t>
            </a:r>
            <a:r>
              <a:rPr lang="en-US" altLang="zh-CN" dirty="0">
                <a:solidFill>
                  <a:srgbClr val="FF0000"/>
                </a:solidFill>
              </a:rPr>
              <a:t>10</a:t>
            </a:r>
            <a:r>
              <a:rPr lang="zh-CN" altLang="zh-CN" dirty="0">
                <a:solidFill>
                  <a:srgbClr val="FF0000"/>
                </a:solidFill>
              </a:rPr>
              <a:t>日</a:t>
            </a:r>
            <a:r>
              <a:rPr lang="en-US" altLang="zh-CN" dirty="0">
                <a:solidFill>
                  <a:srgbClr val="FF0000"/>
                </a:solidFill>
              </a:rPr>
              <a:t>18:00 </a:t>
            </a:r>
            <a:r>
              <a:rPr lang="zh-CN" altLang="zh-CN" dirty="0"/>
              <a:t>。赛题可以从下列网址： </a:t>
            </a:r>
            <a:r>
              <a:rPr lang="en-US" altLang="zh-CN" u="sng" dirty="0">
                <a:hlinkClick r:id="rId2"/>
              </a:rPr>
              <a:t>http://cumcm.cnki.net</a:t>
            </a:r>
            <a:r>
              <a:rPr lang="en-US" altLang="zh-CN" u="sng" dirty="0"/>
              <a:t> </a:t>
            </a:r>
            <a:r>
              <a:rPr lang="zh-CN" altLang="zh-CN" dirty="0"/>
              <a:t>和</a:t>
            </a:r>
            <a:r>
              <a:rPr lang="en-US" altLang="zh-CN" u="sng" dirty="0">
                <a:hlinkClick r:id="rId3"/>
              </a:rPr>
              <a:t>http://www.mcm.edu.cn</a:t>
            </a:r>
            <a:r>
              <a:rPr lang="zh-CN" altLang="zh-CN" dirty="0"/>
              <a:t>获取。</a:t>
            </a:r>
          </a:p>
          <a:p>
            <a:r>
              <a:rPr lang="en-US" altLang="zh-CN" dirty="0"/>
              <a:t>2026</a:t>
            </a:r>
            <a:r>
              <a:rPr lang="zh-CN" altLang="zh-CN" dirty="0"/>
              <a:t>年竞赛，本科组三道题（</a:t>
            </a:r>
            <a:r>
              <a:rPr lang="en-US" altLang="zh-CN" dirty="0"/>
              <a:t>A</a:t>
            </a:r>
            <a:r>
              <a:rPr lang="zh-CN" altLang="zh-CN" dirty="0"/>
              <a:t>、</a:t>
            </a:r>
            <a:r>
              <a:rPr lang="en-US" altLang="zh-CN" dirty="0"/>
              <a:t>B</a:t>
            </a:r>
            <a:r>
              <a:rPr lang="zh-CN" altLang="zh-CN" dirty="0"/>
              <a:t>、</a:t>
            </a:r>
            <a:r>
              <a:rPr lang="en-US" altLang="zh-CN" dirty="0"/>
              <a:t>C</a:t>
            </a:r>
            <a:r>
              <a:rPr lang="zh-CN" altLang="zh-CN" dirty="0"/>
              <a:t>）</a:t>
            </a:r>
            <a:r>
              <a:rPr lang="zh-CN" altLang="en-US" dirty="0"/>
              <a:t>，高职高专组二道题（</a:t>
            </a:r>
            <a:r>
              <a:rPr lang="en-US" altLang="zh-CN" dirty="0"/>
              <a:t>D</a:t>
            </a:r>
            <a:r>
              <a:rPr lang="zh-CN" altLang="en-US" dirty="0"/>
              <a:t>、</a:t>
            </a:r>
            <a:r>
              <a:rPr lang="en-US" altLang="zh-CN" dirty="0"/>
              <a:t>E</a:t>
            </a:r>
            <a:r>
              <a:rPr lang="zh-CN" altLang="en-US" dirty="0"/>
              <a:t>）。</a:t>
            </a:r>
            <a:r>
              <a:rPr lang="zh-CN" altLang="zh-CN" dirty="0">
                <a:effectLst/>
              </a:rPr>
              <a:t> </a:t>
            </a:r>
            <a:endParaRPr lang="en-US" altLang="zh-CN" dirty="0">
              <a:effectLst/>
            </a:endParaRPr>
          </a:p>
          <a:p>
            <a:r>
              <a:rPr lang="en-US" altLang="zh-CN" dirty="0"/>
              <a:t>9</a:t>
            </a:r>
            <a:r>
              <a:rPr lang="zh-CN" altLang="en-US" dirty="0"/>
              <a:t>月</a:t>
            </a:r>
            <a:r>
              <a:rPr lang="en-US" altLang="zh-CN" dirty="0"/>
              <a:t>8</a:t>
            </a:r>
            <a:r>
              <a:rPr lang="zh-CN" altLang="en-US" dirty="0"/>
              <a:t>日以后</a:t>
            </a:r>
            <a:r>
              <a:rPr lang="zh-CN" altLang="zh-CN" dirty="0"/>
              <a:t>，</a:t>
            </a:r>
            <a:r>
              <a:rPr lang="zh-CN" altLang="en-US" dirty="0"/>
              <a:t>报名顺序排在第一位的学生</a:t>
            </a:r>
            <a:r>
              <a:rPr lang="zh-CN" altLang="zh-CN" dirty="0"/>
              <a:t>可以从全国管理系统 </a:t>
            </a:r>
            <a:r>
              <a:rPr lang="en-US" altLang="zh-CN" u="sng" dirty="0">
                <a:hlinkClick r:id="rId2"/>
              </a:rPr>
              <a:t>http://cumcm.cnki.net</a:t>
            </a:r>
            <a:r>
              <a:rPr lang="en-US" altLang="zh-CN" dirty="0"/>
              <a:t> </a:t>
            </a:r>
            <a:r>
              <a:rPr lang="zh-CN" altLang="zh-CN" dirty="0"/>
              <a:t>下载生成</a:t>
            </a:r>
            <a:r>
              <a:rPr lang="en-US" altLang="zh-CN" dirty="0"/>
              <a:t>MD5</a:t>
            </a:r>
            <a:r>
              <a:rPr lang="zh-CN" altLang="zh-CN" dirty="0"/>
              <a:t>码的客户端软件。客户端软件只能从全国系统下载，不要从任何第三方网站下载</a:t>
            </a:r>
            <a:r>
              <a:rPr lang="zh-CN" altLang="en-US" dirty="0"/>
              <a:t>。</a:t>
            </a:r>
            <a:endParaRPr lang="en-US" altLang="zh-CN" dirty="0"/>
          </a:p>
          <a:p>
            <a:r>
              <a:rPr lang="zh-CN" altLang="en-US" dirty="0">
                <a:effectLst/>
              </a:rPr>
              <a:t>竞赛结束时间：</a:t>
            </a:r>
            <a:r>
              <a:rPr lang="en-US" altLang="zh-CN" dirty="0">
                <a:solidFill>
                  <a:srgbClr val="FF0000"/>
                </a:solidFill>
                <a:effectLst/>
              </a:rPr>
              <a:t>2026</a:t>
            </a:r>
            <a:r>
              <a:rPr lang="zh-CN" altLang="en-US" dirty="0">
                <a:solidFill>
                  <a:srgbClr val="FF0000"/>
                </a:solidFill>
                <a:effectLst/>
              </a:rPr>
              <a:t>年</a:t>
            </a:r>
            <a:r>
              <a:rPr lang="en-US" altLang="zh-CN" dirty="0">
                <a:solidFill>
                  <a:srgbClr val="FF0000"/>
                </a:solidFill>
                <a:effectLst/>
              </a:rPr>
              <a:t>9</a:t>
            </a:r>
            <a:r>
              <a:rPr lang="zh-CN" altLang="en-US" dirty="0">
                <a:solidFill>
                  <a:srgbClr val="FF0000"/>
                </a:solidFill>
                <a:effectLst/>
              </a:rPr>
              <a:t>月</a:t>
            </a:r>
            <a:r>
              <a:rPr lang="en-US" altLang="zh-CN" dirty="0">
                <a:solidFill>
                  <a:srgbClr val="FF0000"/>
                </a:solidFill>
              </a:rPr>
              <a:t>13</a:t>
            </a:r>
            <a:r>
              <a:rPr lang="zh-CN" altLang="en-US" dirty="0">
                <a:solidFill>
                  <a:srgbClr val="FF0000"/>
                </a:solidFill>
                <a:effectLst/>
              </a:rPr>
              <a:t>日</a:t>
            </a:r>
            <a:r>
              <a:rPr lang="en-US" altLang="zh-CN" dirty="0">
                <a:solidFill>
                  <a:srgbClr val="FF0000"/>
                </a:solidFill>
                <a:effectLst/>
              </a:rPr>
              <a:t>20:00</a:t>
            </a:r>
            <a:r>
              <a:rPr lang="zh-CN" altLang="zh-CN" dirty="0">
                <a:solidFill>
                  <a:srgbClr val="FF0000"/>
                </a:solidFill>
                <a:effectLst/>
              </a:rPr>
              <a:t> </a:t>
            </a:r>
            <a:endParaRPr kumimoji="1" lang="zh-CN" altLang="en-US" dirty="0">
              <a:solidFill>
                <a:srgbClr val="FF0000"/>
              </a:solidFill>
            </a:endParaRPr>
          </a:p>
        </p:txBody>
      </p:sp>
    </p:spTree>
    <p:extLst>
      <p:ext uri="{BB962C8B-B14F-4D97-AF65-F5344CB8AC3E}">
        <p14:creationId xmlns:p14="http://schemas.microsoft.com/office/powerpoint/2010/main" val="4073841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3BBBE-863A-8437-BF2C-E2B717AA4A36}"/>
              </a:ext>
            </a:extLst>
          </p:cNvPr>
          <p:cNvSpPr>
            <a:spLocks noGrp="1"/>
          </p:cNvSpPr>
          <p:nvPr>
            <p:ph type="title"/>
          </p:nvPr>
        </p:nvSpPr>
        <p:spPr/>
        <p:txBody>
          <a:bodyPr/>
          <a:lstStyle/>
          <a:p>
            <a:r>
              <a:rPr kumimoji="1" lang="zh-CN" altLang="en-US" dirty="0"/>
              <a:t>全国大学生数学建模竞赛论文格式规范</a:t>
            </a:r>
          </a:p>
        </p:txBody>
      </p:sp>
      <p:sp>
        <p:nvSpPr>
          <p:cNvPr id="3" name="内容占位符 2">
            <a:extLst>
              <a:ext uri="{FF2B5EF4-FFF2-40B4-BE49-F238E27FC236}">
                <a16:creationId xmlns:a16="http://schemas.microsoft.com/office/drawing/2014/main" id="{91C50E0A-EBC1-CA85-6263-74448F4EF8E8}"/>
              </a:ext>
            </a:extLst>
          </p:cNvPr>
          <p:cNvSpPr>
            <a:spLocks noGrp="1"/>
          </p:cNvSpPr>
          <p:nvPr>
            <p:ph idx="1"/>
          </p:nvPr>
        </p:nvSpPr>
        <p:spPr/>
        <p:txBody>
          <a:bodyPr/>
          <a:lstStyle/>
          <a:p>
            <a:r>
              <a:rPr kumimoji="1" lang="zh-CN" altLang="en-US" dirty="0"/>
              <a:t>学生在全国系统中提交的电子版论文第一页为摘要专用页。摘要内容（含标题和关键词，无需翻译成英文）原则上不能超过一页。</a:t>
            </a:r>
            <a:endParaRPr kumimoji="1" lang="en-US" altLang="zh-CN" dirty="0"/>
          </a:p>
          <a:p>
            <a:r>
              <a:rPr kumimoji="1" lang="zh-CN" altLang="en-US" dirty="0"/>
              <a:t>论文正文内容</a:t>
            </a:r>
            <a:r>
              <a:rPr kumimoji="1" lang="zh-CN" altLang="en-US" dirty="0">
                <a:solidFill>
                  <a:srgbClr val="FF0000"/>
                </a:solidFill>
              </a:rPr>
              <a:t>不要目录，不超过</a:t>
            </a:r>
            <a:r>
              <a:rPr kumimoji="1" lang="en-US" altLang="zh-CN" dirty="0">
                <a:solidFill>
                  <a:srgbClr val="FF0000"/>
                </a:solidFill>
              </a:rPr>
              <a:t>30</a:t>
            </a:r>
            <a:r>
              <a:rPr kumimoji="1" lang="zh-CN" altLang="en-US" dirty="0">
                <a:solidFill>
                  <a:srgbClr val="FF0000"/>
                </a:solidFill>
              </a:rPr>
              <a:t>页</a:t>
            </a:r>
            <a:r>
              <a:rPr kumimoji="1" lang="zh-CN" altLang="en-US" dirty="0"/>
              <a:t>。</a:t>
            </a:r>
            <a:endParaRPr kumimoji="1" lang="en-US" altLang="zh-CN" dirty="0"/>
          </a:p>
          <a:p>
            <a:r>
              <a:rPr kumimoji="1" lang="zh-CN" altLang="en-US" dirty="0"/>
              <a:t>特别注意：</a:t>
            </a:r>
            <a:r>
              <a:rPr kumimoji="1" lang="zh-CN" altLang="en-US" dirty="0">
                <a:solidFill>
                  <a:srgbClr val="FF0000"/>
                </a:solidFill>
              </a:rPr>
              <a:t>论文正文包括正文主体、</a:t>
            </a:r>
            <a:r>
              <a:rPr kumimoji="1" lang="en-US" altLang="zh-CN" dirty="0">
                <a:solidFill>
                  <a:srgbClr val="FF0000"/>
                </a:solidFill>
              </a:rPr>
              <a:t>AI</a:t>
            </a:r>
            <a:r>
              <a:rPr kumimoji="1" lang="zh-CN" altLang="en-US" dirty="0">
                <a:solidFill>
                  <a:srgbClr val="FF0000"/>
                </a:solidFill>
              </a:rPr>
              <a:t>工具使用声明和参考文献。</a:t>
            </a:r>
            <a:endParaRPr kumimoji="1" lang="en-US" altLang="zh-CN" dirty="0">
              <a:solidFill>
                <a:srgbClr val="FF0000"/>
              </a:solidFill>
            </a:endParaRPr>
          </a:p>
          <a:p>
            <a:r>
              <a:rPr kumimoji="1" lang="zh-CN" altLang="en-US" dirty="0"/>
              <a:t>正文之后是论文附录，页码不限。</a:t>
            </a:r>
            <a:endParaRPr kumimoji="1" lang="en-US" altLang="zh-CN" dirty="0"/>
          </a:p>
          <a:p>
            <a:r>
              <a:rPr kumimoji="1" lang="zh-CN" altLang="en-US" dirty="0"/>
              <a:t>论文附录内容应包括支撑材料的文件列表，建模所用到的全部完整、可运行的源程序代码（含</a:t>
            </a:r>
            <a:r>
              <a:rPr kumimoji="1" lang="en-US" altLang="zh-CN" dirty="0"/>
              <a:t>EXCEL</a:t>
            </a:r>
            <a:r>
              <a:rPr kumimoji="1" lang="zh-CN" altLang="en-US" dirty="0"/>
              <a:t>、</a:t>
            </a:r>
            <a:r>
              <a:rPr kumimoji="1" lang="en-US" altLang="zh-CN" dirty="0"/>
              <a:t>SPSS</a:t>
            </a:r>
            <a:r>
              <a:rPr kumimoji="1" lang="zh-CN" altLang="en-US" dirty="0"/>
              <a:t>等软件的交互命令）等。</a:t>
            </a:r>
            <a:endParaRPr kumimoji="1" lang="en-US" altLang="zh-CN" dirty="0"/>
          </a:p>
          <a:p>
            <a:pPr marL="0" indent="0">
              <a:buNone/>
            </a:pPr>
            <a:endParaRPr kumimoji="1" lang="zh-CN" altLang="en-US" dirty="0">
              <a:solidFill>
                <a:srgbClr val="FF0000"/>
              </a:solidFill>
            </a:endParaRPr>
          </a:p>
        </p:txBody>
      </p:sp>
    </p:spTree>
    <p:extLst>
      <p:ext uri="{BB962C8B-B14F-4D97-AF65-F5344CB8AC3E}">
        <p14:creationId xmlns:p14="http://schemas.microsoft.com/office/powerpoint/2010/main" val="282675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7F9209-662E-9BD4-D6FF-178D4A2B59AF}"/>
              </a:ext>
            </a:extLst>
          </p:cNvPr>
          <p:cNvSpPr>
            <a:spLocks noGrp="1"/>
          </p:cNvSpPr>
          <p:nvPr>
            <p:ph type="title"/>
          </p:nvPr>
        </p:nvSpPr>
        <p:spPr/>
        <p:txBody>
          <a:bodyPr/>
          <a:lstStyle/>
          <a:p>
            <a:r>
              <a:rPr lang="zh-CN" altLang="en-US" dirty="0"/>
              <a:t>论文写作注意事项</a:t>
            </a:r>
            <a:endParaRPr kumimoji="1" lang="zh-CN" altLang="en-US" dirty="0"/>
          </a:p>
        </p:txBody>
      </p:sp>
      <p:sp>
        <p:nvSpPr>
          <p:cNvPr id="3" name="内容占位符 2">
            <a:extLst>
              <a:ext uri="{FF2B5EF4-FFF2-40B4-BE49-F238E27FC236}">
                <a16:creationId xmlns:a16="http://schemas.microsoft.com/office/drawing/2014/main" id="{1A6744F4-DA1F-2422-4F08-486B2FC20A1E}"/>
              </a:ext>
            </a:extLst>
          </p:cNvPr>
          <p:cNvSpPr>
            <a:spLocks noGrp="1"/>
          </p:cNvSpPr>
          <p:nvPr>
            <p:ph idx="1"/>
          </p:nvPr>
        </p:nvSpPr>
        <p:spPr/>
        <p:txBody>
          <a:bodyPr>
            <a:normAutofit fontScale="92500"/>
          </a:bodyPr>
          <a:lstStyle/>
          <a:p>
            <a:r>
              <a:rPr lang="zh-CN" altLang="en-US" dirty="0"/>
              <a:t>在参赛论文电子版及支撑材料压缩包内任何位置（包括文件夹名、文件名和文档属性等）均不得出现与参赛队有关的信息。</a:t>
            </a:r>
            <a:endParaRPr lang="en-US" altLang="zh-CN" dirty="0"/>
          </a:p>
          <a:p>
            <a:r>
              <a:rPr lang="zh-CN" altLang="en-US" dirty="0"/>
              <a:t>参赛学生可将需要上传的支撑材料放置在一个文件夹内，然后使用压缩工具对该文件夹进行压缩得到支撑材料压缩文件。</a:t>
            </a:r>
            <a:r>
              <a:rPr lang="zh-CN" altLang="en-US" dirty="0">
                <a:solidFill>
                  <a:srgbClr val="FF0000"/>
                </a:solidFill>
              </a:rPr>
              <a:t>压缩文件大小不超过</a:t>
            </a:r>
            <a:r>
              <a:rPr lang="en-US" altLang="zh-CN" dirty="0">
                <a:solidFill>
                  <a:srgbClr val="FF0000"/>
                </a:solidFill>
              </a:rPr>
              <a:t>20MB</a:t>
            </a:r>
          </a:p>
          <a:p>
            <a:r>
              <a:rPr lang="zh-CN" altLang="en-US" dirty="0"/>
              <a:t>竞赛管理系统对参赛论文和支撑材料的文件名不做要求，参赛队在提交参赛论文和支撑材料后，系统将根据报名信息对文件重新命名。</a:t>
            </a:r>
            <a:endParaRPr lang="en-US" altLang="zh-CN" dirty="0"/>
          </a:p>
          <a:p>
            <a:r>
              <a:rPr lang="zh-CN" altLang="en-US" dirty="0"/>
              <a:t>源程序应作为附录放入参赛论文之后，并与论文一并编辑在同一个文件中。</a:t>
            </a:r>
            <a:endParaRPr lang="en-US" altLang="zh-CN" dirty="0"/>
          </a:p>
          <a:p>
            <a:r>
              <a:rPr lang="zh-CN" altLang="en-US" dirty="0"/>
              <a:t>源文件除应作为附录放入参赛论文中之外，还应放入支撑材料中。</a:t>
            </a:r>
            <a:endParaRPr lang="en-US" altLang="zh-CN" dirty="0"/>
          </a:p>
          <a:p>
            <a:pPr marL="0" indent="0">
              <a:buNone/>
            </a:pPr>
            <a:endParaRPr lang="en-US" altLang="zh-CN" dirty="0"/>
          </a:p>
          <a:p>
            <a:endParaRPr lang="zh-CN" altLang="en-US" dirty="0"/>
          </a:p>
          <a:p>
            <a:pPr marL="0" indent="0">
              <a:buNone/>
            </a:pPr>
            <a:endParaRPr kumimoji="1" lang="zh-CN" altLang="en-US" dirty="0"/>
          </a:p>
        </p:txBody>
      </p:sp>
    </p:spTree>
    <p:extLst>
      <p:ext uri="{BB962C8B-B14F-4D97-AF65-F5344CB8AC3E}">
        <p14:creationId xmlns:p14="http://schemas.microsoft.com/office/powerpoint/2010/main" val="525681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9D6FC-E019-E779-E58C-8F5DB44B7675}"/>
              </a:ext>
            </a:extLst>
          </p:cNvPr>
          <p:cNvSpPr>
            <a:spLocks noGrp="1"/>
          </p:cNvSpPr>
          <p:nvPr>
            <p:ph type="title"/>
          </p:nvPr>
        </p:nvSpPr>
        <p:spPr/>
        <p:txBody>
          <a:bodyPr/>
          <a:lstStyle/>
          <a:p>
            <a:r>
              <a:rPr lang="zh-CN" altLang="en-US" dirty="0"/>
              <a:t>交卷注意事项</a:t>
            </a:r>
            <a:endParaRPr kumimoji="1" lang="zh-CN" altLang="en-US" dirty="0"/>
          </a:p>
        </p:txBody>
      </p:sp>
      <p:sp>
        <p:nvSpPr>
          <p:cNvPr id="3" name="内容占位符 2">
            <a:extLst>
              <a:ext uri="{FF2B5EF4-FFF2-40B4-BE49-F238E27FC236}">
                <a16:creationId xmlns:a16="http://schemas.microsoft.com/office/drawing/2014/main" id="{CA40E92F-B503-36C2-B24D-28B46EFEEC7A}"/>
              </a:ext>
            </a:extLst>
          </p:cNvPr>
          <p:cNvSpPr>
            <a:spLocks noGrp="1"/>
          </p:cNvSpPr>
          <p:nvPr>
            <p:ph idx="1"/>
          </p:nvPr>
        </p:nvSpPr>
        <p:spPr/>
        <p:txBody>
          <a:bodyPr/>
          <a:lstStyle/>
          <a:p>
            <a:r>
              <a:rPr lang="zh-CN" altLang="en-US" dirty="0"/>
              <a:t>报名顺序排在第一位的学生负责</a:t>
            </a:r>
            <a:r>
              <a:rPr lang="zh-CN" altLang="zh-CN" dirty="0"/>
              <a:t>使用客户端软件分别生成论文和支撑材料的两个</a:t>
            </a:r>
            <a:r>
              <a:rPr lang="en-US" altLang="zh-CN" dirty="0"/>
              <a:t>MD5</a:t>
            </a:r>
            <a:r>
              <a:rPr lang="zh-CN" altLang="zh-CN" dirty="0"/>
              <a:t>码并在</a:t>
            </a:r>
            <a:r>
              <a:rPr lang="en-US" altLang="zh-CN" dirty="0"/>
              <a:t>2026</a:t>
            </a:r>
            <a:r>
              <a:rPr lang="zh-CN" altLang="zh-CN" dirty="0"/>
              <a:t>年</a:t>
            </a:r>
            <a:r>
              <a:rPr lang="en-US" altLang="zh-CN" dirty="0"/>
              <a:t>9</a:t>
            </a:r>
            <a:r>
              <a:rPr lang="zh-CN" altLang="zh-CN" dirty="0"/>
              <a:t>月</a:t>
            </a:r>
            <a:r>
              <a:rPr lang="en-US" altLang="zh-CN" dirty="0"/>
              <a:t>13</a:t>
            </a:r>
            <a:r>
              <a:rPr lang="zh-CN" altLang="zh-CN" dirty="0"/>
              <a:t>日</a:t>
            </a:r>
            <a:r>
              <a:rPr lang="en-US" altLang="zh-CN" dirty="0"/>
              <a:t>20:00</a:t>
            </a:r>
            <a:r>
              <a:rPr lang="zh-CN" altLang="zh-CN" dirty="0"/>
              <a:t>以前提交。</a:t>
            </a:r>
            <a:r>
              <a:rPr lang="zh-CN" altLang="zh-CN" dirty="0">
                <a:effectLst/>
              </a:rPr>
              <a:t> </a:t>
            </a:r>
            <a:endParaRPr lang="en-US" altLang="zh-CN" dirty="0">
              <a:effectLst/>
            </a:endParaRPr>
          </a:p>
          <a:p>
            <a:r>
              <a:rPr lang="zh-CN" altLang="zh-CN" dirty="0"/>
              <a:t>生成</a:t>
            </a:r>
            <a:r>
              <a:rPr lang="en-US" altLang="zh-CN" dirty="0"/>
              <a:t>MD5</a:t>
            </a:r>
            <a:r>
              <a:rPr lang="zh-CN" altLang="zh-CN" dirty="0"/>
              <a:t>码后，只要对电子文件进行了打开保存操作（含自动保存），</a:t>
            </a:r>
            <a:r>
              <a:rPr lang="en-US" altLang="zh-CN" dirty="0"/>
              <a:t>MD5</a:t>
            </a:r>
            <a:r>
              <a:rPr lang="zh-CN" altLang="zh-CN" dirty="0"/>
              <a:t>码都将发生改变，需重新生成上传</a:t>
            </a:r>
            <a:r>
              <a:rPr lang="en-US" altLang="zh-CN" dirty="0"/>
              <a:t>MD5</a:t>
            </a:r>
            <a:r>
              <a:rPr lang="zh-CN" altLang="zh-CN" dirty="0"/>
              <a:t>码，否则影响最后的论文上传。</a:t>
            </a:r>
            <a:r>
              <a:rPr lang="zh-CN" altLang="zh-CN" dirty="0">
                <a:effectLst/>
              </a:rPr>
              <a:t> </a:t>
            </a:r>
            <a:endParaRPr lang="en-US" altLang="zh-CN" dirty="0">
              <a:effectLst/>
            </a:endParaRPr>
          </a:p>
          <a:p>
            <a:r>
              <a:rPr lang="zh-CN" altLang="zh-CN" dirty="0"/>
              <a:t>注意：</a:t>
            </a:r>
            <a:r>
              <a:rPr lang="en-US" altLang="zh-CN" dirty="0">
                <a:solidFill>
                  <a:srgbClr val="FF0000"/>
                </a:solidFill>
              </a:rPr>
              <a:t>9</a:t>
            </a:r>
            <a:r>
              <a:rPr lang="zh-CN" altLang="en-US" dirty="0">
                <a:solidFill>
                  <a:srgbClr val="FF0000"/>
                </a:solidFill>
              </a:rPr>
              <a:t>月</a:t>
            </a:r>
            <a:r>
              <a:rPr lang="en-US" altLang="zh-CN" dirty="0">
                <a:solidFill>
                  <a:srgbClr val="FF0000"/>
                </a:solidFill>
              </a:rPr>
              <a:t>10</a:t>
            </a:r>
            <a:r>
              <a:rPr lang="zh-CN" altLang="zh-CN" dirty="0">
                <a:solidFill>
                  <a:srgbClr val="FF0000"/>
                </a:solidFill>
              </a:rPr>
              <a:t>日</a:t>
            </a:r>
            <a:r>
              <a:rPr lang="en-US" altLang="zh-CN" dirty="0">
                <a:solidFill>
                  <a:srgbClr val="FF0000"/>
                </a:solidFill>
              </a:rPr>
              <a:t>18:00</a:t>
            </a:r>
            <a:r>
              <a:rPr lang="zh-CN" altLang="zh-CN" dirty="0">
                <a:solidFill>
                  <a:srgbClr val="FF0000"/>
                </a:solidFill>
              </a:rPr>
              <a:t>至</a:t>
            </a:r>
            <a:r>
              <a:rPr lang="en-US" altLang="zh-CN" dirty="0">
                <a:solidFill>
                  <a:srgbClr val="FF0000"/>
                </a:solidFill>
              </a:rPr>
              <a:t>9</a:t>
            </a:r>
            <a:r>
              <a:rPr lang="zh-CN" altLang="en-US" dirty="0">
                <a:solidFill>
                  <a:srgbClr val="FF0000"/>
                </a:solidFill>
              </a:rPr>
              <a:t>月</a:t>
            </a:r>
            <a:r>
              <a:rPr lang="en-US" altLang="zh-CN" dirty="0">
                <a:solidFill>
                  <a:srgbClr val="FF0000"/>
                </a:solidFill>
              </a:rPr>
              <a:t>13</a:t>
            </a:r>
            <a:r>
              <a:rPr lang="zh-CN" altLang="zh-CN" dirty="0">
                <a:solidFill>
                  <a:srgbClr val="FF0000"/>
                </a:solidFill>
              </a:rPr>
              <a:t>日</a:t>
            </a:r>
            <a:r>
              <a:rPr lang="en-US" altLang="zh-CN" dirty="0">
                <a:solidFill>
                  <a:srgbClr val="FF0000"/>
                </a:solidFill>
              </a:rPr>
              <a:t>20:00</a:t>
            </a:r>
            <a:r>
              <a:rPr lang="zh-CN" altLang="zh-CN" dirty="0">
                <a:solidFill>
                  <a:srgbClr val="FF0000"/>
                </a:solidFill>
              </a:rPr>
              <a:t>之间可多次上传</a:t>
            </a:r>
            <a:r>
              <a:rPr lang="en-US" altLang="zh-CN" dirty="0">
                <a:solidFill>
                  <a:srgbClr val="FF0000"/>
                </a:solidFill>
              </a:rPr>
              <a:t>MD5</a:t>
            </a:r>
            <a:r>
              <a:rPr lang="zh-CN" altLang="zh-CN" dirty="0">
                <a:solidFill>
                  <a:srgbClr val="FF0000"/>
                </a:solidFill>
              </a:rPr>
              <a:t>码。</a:t>
            </a:r>
            <a:r>
              <a:rPr lang="zh-CN" altLang="zh-CN" dirty="0">
                <a:solidFill>
                  <a:srgbClr val="FF0000"/>
                </a:solidFill>
                <a:effectLst/>
              </a:rPr>
              <a:t> </a:t>
            </a:r>
            <a:r>
              <a:rPr lang="zh-CN" altLang="en-US" dirty="0">
                <a:solidFill>
                  <a:srgbClr val="FF0000"/>
                </a:solidFill>
                <a:effectLst/>
              </a:rPr>
              <a:t> </a:t>
            </a:r>
            <a:endParaRPr lang="en-US" altLang="zh-CN" dirty="0">
              <a:solidFill>
                <a:srgbClr val="FF0000"/>
              </a:solidFill>
              <a:effectLst/>
            </a:endParaRPr>
          </a:p>
          <a:p>
            <a:r>
              <a:rPr lang="zh-CN" altLang="en-US" dirty="0"/>
              <a:t>参赛论文：参赛论文不能包含承诺书；论文文件格式只能用</a:t>
            </a:r>
            <a:r>
              <a:rPr lang="en-US" altLang="zh-CN" dirty="0"/>
              <a:t>PDF</a:t>
            </a:r>
            <a:r>
              <a:rPr lang="zh-CN" altLang="en-US" dirty="0"/>
              <a:t>或</a:t>
            </a:r>
            <a:r>
              <a:rPr lang="en-US" altLang="zh-CN" dirty="0"/>
              <a:t>Word</a:t>
            </a:r>
            <a:r>
              <a:rPr lang="zh-CN" altLang="en-US" dirty="0"/>
              <a:t>格式之一（建议用</a:t>
            </a:r>
            <a:r>
              <a:rPr lang="en-US" altLang="zh-CN" dirty="0"/>
              <a:t>PDF</a:t>
            </a:r>
            <a:r>
              <a:rPr lang="zh-CN" altLang="en-US" dirty="0"/>
              <a:t>格式），不要压缩。</a:t>
            </a:r>
            <a:r>
              <a:rPr lang="zh-CN" altLang="en-US" dirty="0">
                <a:solidFill>
                  <a:srgbClr val="FF0000"/>
                </a:solidFill>
              </a:rPr>
              <a:t>文件大小不超过</a:t>
            </a:r>
            <a:r>
              <a:rPr lang="en-US" altLang="zh-CN" dirty="0">
                <a:solidFill>
                  <a:srgbClr val="FF0000"/>
                </a:solidFill>
              </a:rPr>
              <a:t>20MB</a:t>
            </a:r>
            <a:r>
              <a:rPr lang="zh-CN" altLang="en-US" dirty="0">
                <a:solidFill>
                  <a:srgbClr val="FF0000"/>
                </a:solidFill>
              </a:rPr>
              <a:t>。</a:t>
            </a:r>
            <a:endParaRPr lang="en-US" altLang="zh-CN" dirty="0">
              <a:solidFill>
                <a:srgbClr val="FF0000"/>
              </a:solidFill>
            </a:endParaRPr>
          </a:p>
          <a:p>
            <a:pPr marL="0" indent="0">
              <a:buNone/>
            </a:pPr>
            <a:endParaRPr lang="en-US" altLang="zh-CN" dirty="0">
              <a:solidFill>
                <a:srgbClr val="FF0000"/>
              </a:solidFill>
              <a:effectLst/>
            </a:endParaRPr>
          </a:p>
          <a:p>
            <a:pPr marL="0" indent="0">
              <a:buNone/>
            </a:pPr>
            <a:endParaRPr kumimoji="1" lang="zh-CN" altLang="en-US" dirty="0">
              <a:solidFill>
                <a:srgbClr val="FF0000"/>
              </a:solidFill>
            </a:endParaRPr>
          </a:p>
        </p:txBody>
      </p:sp>
    </p:spTree>
    <p:extLst>
      <p:ext uri="{BB962C8B-B14F-4D97-AF65-F5344CB8AC3E}">
        <p14:creationId xmlns:p14="http://schemas.microsoft.com/office/powerpoint/2010/main" val="286582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21C889-AF36-6E6E-BC65-3D841716A03C}"/>
              </a:ext>
            </a:extLst>
          </p:cNvPr>
          <p:cNvSpPr>
            <a:spLocks noGrp="1"/>
          </p:cNvSpPr>
          <p:nvPr>
            <p:ph type="title"/>
          </p:nvPr>
        </p:nvSpPr>
        <p:spPr/>
        <p:txBody>
          <a:bodyPr/>
          <a:lstStyle/>
          <a:p>
            <a:r>
              <a:rPr lang="zh-CN" altLang="en-US" dirty="0"/>
              <a:t>交卷注意事项</a:t>
            </a:r>
            <a:endParaRPr kumimoji="1" lang="zh-CN" altLang="en-US" dirty="0"/>
          </a:p>
        </p:txBody>
      </p:sp>
      <p:sp>
        <p:nvSpPr>
          <p:cNvPr id="3" name="内容占位符 2">
            <a:extLst>
              <a:ext uri="{FF2B5EF4-FFF2-40B4-BE49-F238E27FC236}">
                <a16:creationId xmlns:a16="http://schemas.microsoft.com/office/drawing/2014/main" id="{22830B23-BCA4-E511-E888-B3C38A0938D4}"/>
              </a:ext>
            </a:extLst>
          </p:cNvPr>
          <p:cNvSpPr>
            <a:spLocks noGrp="1"/>
          </p:cNvSpPr>
          <p:nvPr>
            <p:ph idx="1"/>
          </p:nvPr>
        </p:nvSpPr>
        <p:spPr/>
        <p:txBody>
          <a:bodyPr/>
          <a:lstStyle/>
          <a:p>
            <a:r>
              <a:rPr lang="en-US" altLang="zh-CN" dirty="0">
                <a:solidFill>
                  <a:srgbClr val="FF0000"/>
                </a:solidFill>
              </a:rPr>
              <a:t>2026</a:t>
            </a:r>
            <a:r>
              <a:rPr lang="zh-CN" altLang="zh-CN" dirty="0">
                <a:solidFill>
                  <a:srgbClr val="FF0000"/>
                </a:solidFill>
              </a:rPr>
              <a:t>年</a:t>
            </a:r>
            <a:r>
              <a:rPr lang="en-US" altLang="zh-CN" dirty="0">
                <a:solidFill>
                  <a:srgbClr val="FF0000"/>
                </a:solidFill>
              </a:rPr>
              <a:t>9</a:t>
            </a:r>
            <a:r>
              <a:rPr lang="zh-CN" altLang="zh-CN" dirty="0">
                <a:solidFill>
                  <a:srgbClr val="FF0000"/>
                </a:solidFill>
              </a:rPr>
              <a:t>月</a:t>
            </a:r>
            <a:r>
              <a:rPr lang="en-US" altLang="zh-CN" dirty="0">
                <a:solidFill>
                  <a:srgbClr val="FF0000"/>
                </a:solidFill>
              </a:rPr>
              <a:t>13</a:t>
            </a:r>
            <a:r>
              <a:rPr lang="zh-CN" altLang="zh-CN" dirty="0">
                <a:solidFill>
                  <a:srgbClr val="FF0000"/>
                </a:solidFill>
              </a:rPr>
              <a:t>日</a:t>
            </a:r>
            <a:r>
              <a:rPr lang="en-US" altLang="zh-CN" dirty="0">
                <a:solidFill>
                  <a:srgbClr val="FF0000"/>
                </a:solidFill>
              </a:rPr>
              <a:t>20:30-9</a:t>
            </a:r>
            <a:r>
              <a:rPr lang="zh-CN" altLang="zh-CN" dirty="0">
                <a:solidFill>
                  <a:srgbClr val="FF0000"/>
                </a:solidFill>
              </a:rPr>
              <a:t>月</a:t>
            </a:r>
            <a:r>
              <a:rPr lang="en-US" altLang="zh-CN" dirty="0">
                <a:solidFill>
                  <a:srgbClr val="FF0000"/>
                </a:solidFill>
              </a:rPr>
              <a:t>14</a:t>
            </a:r>
            <a:r>
              <a:rPr lang="zh-CN" altLang="zh-CN" dirty="0">
                <a:solidFill>
                  <a:srgbClr val="FF0000"/>
                </a:solidFill>
              </a:rPr>
              <a:t>日</a:t>
            </a:r>
            <a:r>
              <a:rPr lang="en-US" altLang="zh-CN" dirty="0">
                <a:solidFill>
                  <a:srgbClr val="FF0000"/>
                </a:solidFill>
              </a:rPr>
              <a:t>14:00 </a:t>
            </a:r>
            <a:r>
              <a:rPr lang="zh-CN" altLang="zh-CN" dirty="0">
                <a:solidFill>
                  <a:srgbClr val="FF0000"/>
                </a:solidFill>
              </a:rPr>
              <a:t>参赛队使用客户端完成论文和支撑材料的电子版上传。</a:t>
            </a:r>
          </a:p>
          <a:p>
            <a:r>
              <a:rPr lang="zh-CN" altLang="zh-CN" dirty="0"/>
              <a:t>各参赛队还需将电子版论文发给本校负责教师，用以刻光盘。同时将承诺书（在下载的题目压缩包中，文档模板的第一页）打印下来签字并交给本校组织竞赛的老师。</a:t>
            </a:r>
          </a:p>
          <a:p>
            <a:r>
              <a:rPr lang="zh-CN" altLang="zh-CN" dirty="0"/>
              <a:t>完成</a:t>
            </a:r>
            <a:r>
              <a:rPr lang="en-US" altLang="zh-CN" dirty="0"/>
              <a:t>MD5</a:t>
            </a:r>
            <a:r>
              <a:rPr lang="zh-CN" altLang="zh-CN" dirty="0"/>
              <a:t>码上传和论文上传时，客户端软件会提示用户保存页面。请各小组务必保存，以免系统出现问题时查证。</a:t>
            </a:r>
          </a:p>
          <a:p>
            <a:r>
              <a:rPr lang="zh-CN" altLang="zh-CN" dirty="0"/>
              <a:t>在使用全国系统中出现任何问题，请联系全国组委会设立的支持邮箱：</a:t>
            </a:r>
            <a:r>
              <a:rPr lang="en-US" altLang="zh-CN" u="sng" dirty="0">
                <a:hlinkClick r:id="rId2"/>
              </a:rPr>
              <a:t>cumcm_support@163.com</a:t>
            </a:r>
            <a:r>
              <a:rPr lang="zh-CN" altLang="zh-CN" dirty="0">
                <a:effectLst/>
              </a:rPr>
              <a:t> </a:t>
            </a:r>
            <a:endParaRPr kumimoji="1" lang="zh-CN" altLang="en-US" dirty="0"/>
          </a:p>
        </p:txBody>
      </p:sp>
    </p:spTree>
    <p:extLst>
      <p:ext uri="{BB962C8B-B14F-4D97-AF65-F5344CB8AC3E}">
        <p14:creationId xmlns:p14="http://schemas.microsoft.com/office/powerpoint/2010/main" val="3019696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EE724-5690-D614-6027-647CA8B20E44}"/>
              </a:ext>
            </a:extLst>
          </p:cNvPr>
          <p:cNvSpPr>
            <a:spLocks noGrp="1"/>
          </p:cNvSpPr>
          <p:nvPr>
            <p:ph type="title"/>
          </p:nvPr>
        </p:nvSpPr>
        <p:spPr/>
        <p:txBody>
          <a:bodyPr/>
          <a:lstStyle/>
          <a:p>
            <a:r>
              <a:rPr lang="zh-CN" altLang="en-US" dirty="0"/>
              <a:t>竞赛特别注意事项</a:t>
            </a:r>
            <a:endParaRPr kumimoji="1" lang="zh-CN" altLang="en-US" dirty="0"/>
          </a:p>
        </p:txBody>
      </p:sp>
      <p:sp>
        <p:nvSpPr>
          <p:cNvPr id="3" name="内容占位符 2">
            <a:extLst>
              <a:ext uri="{FF2B5EF4-FFF2-40B4-BE49-F238E27FC236}">
                <a16:creationId xmlns:a16="http://schemas.microsoft.com/office/drawing/2014/main" id="{CC4D22AC-C688-C329-BBEC-B4104FFE000C}"/>
              </a:ext>
            </a:extLst>
          </p:cNvPr>
          <p:cNvSpPr>
            <a:spLocks noGrp="1"/>
          </p:cNvSpPr>
          <p:nvPr>
            <p:ph idx="1"/>
          </p:nvPr>
        </p:nvSpPr>
        <p:spPr/>
        <p:txBody>
          <a:bodyPr>
            <a:normAutofit fontScale="92500" lnSpcReduction="10000"/>
          </a:bodyPr>
          <a:lstStyle/>
          <a:p>
            <a:r>
              <a:rPr lang="zh-CN" altLang="zh-CN" dirty="0"/>
              <a:t>按照《全国大学生数学建模竞赛参赛规则》，指导教师在竞赛期间不得通过任何方式对参赛学生进行任何形式的指导（包括向学生解释赛题或提供选题、解题建议，提供参考资料，修改论文或提供修改建议等）否则一律按违纪处理。</a:t>
            </a:r>
            <a:endParaRPr lang="zh-CN" altLang="en-US" dirty="0"/>
          </a:p>
          <a:p>
            <a:r>
              <a:rPr lang="zh-CN" altLang="en-US" dirty="0"/>
              <a:t>参赛学校可以建立本校的竞赛交流平台（含“贴吧”、</a:t>
            </a:r>
            <a:r>
              <a:rPr lang="en-US" altLang="zh-CN" dirty="0"/>
              <a:t>QQ</a:t>
            </a:r>
            <a:r>
              <a:rPr lang="zh-CN" altLang="en-US" dirty="0"/>
              <a:t>群和微信群等），但这些交流平台在竞赛期间仅可用于竞赛的组织和管理工作（如发布赛题和竞赛通知等），不得交流及讨论与赛题有关的问题。</a:t>
            </a:r>
            <a:endParaRPr lang="en-US" altLang="zh-CN" dirty="0"/>
          </a:p>
          <a:p>
            <a:r>
              <a:rPr lang="zh-CN" altLang="en-US" dirty="0"/>
              <a:t>其他网上交流平台一律不许参加。</a:t>
            </a:r>
            <a:endParaRPr lang="en-US" altLang="zh-CN" dirty="0"/>
          </a:p>
          <a:p>
            <a:r>
              <a:rPr lang="zh-CN" altLang="zh-CN" dirty="0"/>
              <a:t>竞赛期间不要将自己的论文上网查重，以免论文成为其他队抄袭的范本。导致全国管理系统自建库查重超标。</a:t>
            </a:r>
          </a:p>
          <a:p>
            <a:r>
              <a:rPr lang="zh-CN" altLang="en-US">
                <a:solidFill>
                  <a:srgbClr val="FF0000"/>
                </a:solidFill>
              </a:rPr>
              <a:t>竞赛期间从各种网络平台获得“解题思路”的行为也属于违纪行为。</a:t>
            </a:r>
            <a:endParaRPr lang="zh-CN" altLang="zh-CN">
              <a:solidFill>
                <a:srgbClr val="FF0000"/>
              </a:solidFill>
            </a:endParaRPr>
          </a:p>
          <a:p>
            <a:pPr marL="0" indent="0">
              <a:buNone/>
            </a:pPr>
            <a:endParaRPr kumimoji="1" lang="zh-CN" altLang="en-US"/>
          </a:p>
        </p:txBody>
      </p:sp>
    </p:spTree>
    <p:extLst>
      <p:ext uri="{BB962C8B-B14F-4D97-AF65-F5344CB8AC3E}">
        <p14:creationId xmlns:p14="http://schemas.microsoft.com/office/powerpoint/2010/main" val="874700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16C443-51B5-B1AB-C4C5-7CC5017BA826}"/>
              </a:ext>
            </a:extLst>
          </p:cNvPr>
          <p:cNvSpPr>
            <a:spLocks noGrp="1"/>
          </p:cNvSpPr>
          <p:nvPr>
            <p:ph type="title"/>
          </p:nvPr>
        </p:nvSpPr>
        <p:spPr/>
        <p:txBody>
          <a:bodyPr/>
          <a:lstStyle/>
          <a:p>
            <a:r>
              <a:rPr kumimoji="1" lang="zh-CN" altLang="en-US" dirty="0"/>
              <a:t>全国大学生数学建模竞赛人工智能工具使用规定</a:t>
            </a:r>
          </a:p>
        </p:txBody>
      </p:sp>
      <p:sp>
        <p:nvSpPr>
          <p:cNvPr id="3" name="内容占位符 2">
            <a:extLst>
              <a:ext uri="{FF2B5EF4-FFF2-40B4-BE49-F238E27FC236}">
                <a16:creationId xmlns:a16="http://schemas.microsoft.com/office/drawing/2014/main" id="{1131DEEC-D6D8-EA55-DD06-AA50AC01C1EA}"/>
              </a:ext>
            </a:extLst>
          </p:cNvPr>
          <p:cNvSpPr>
            <a:spLocks noGrp="1"/>
          </p:cNvSpPr>
          <p:nvPr>
            <p:ph idx="1"/>
          </p:nvPr>
        </p:nvSpPr>
        <p:spPr>
          <a:xfrm>
            <a:off x="838200" y="1825625"/>
            <a:ext cx="10515600" cy="4594630"/>
          </a:xfrm>
        </p:spPr>
        <p:txBody>
          <a:bodyPr>
            <a:normAutofit fontScale="92500" lnSpcReduction="10000"/>
          </a:bodyPr>
          <a:lstStyle/>
          <a:p>
            <a:r>
              <a:rPr lang="zh-CN" altLang="en-US" dirty="0">
                <a:effectLst/>
                <a:latin typeface="SimSun" panose="02010600030101010101" pitchFamily="2" charset="-122"/>
                <a:ea typeface="SimSun" panose="02010600030101010101" pitchFamily="2" charset="-122"/>
              </a:rPr>
              <a:t>本规定适用于全国大学生数学建模竞赛中人工智能</a:t>
            </a:r>
            <a:r>
              <a:rPr lang="en-US" altLang="zh-CN" dirty="0">
                <a:effectLst/>
                <a:latin typeface="SimSun" panose="02010600030101010101" pitchFamily="2" charset="-122"/>
                <a:ea typeface="SimSun" panose="02010600030101010101" pitchFamily="2" charset="-122"/>
              </a:rPr>
              <a:t>(</a:t>
            </a:r>
            <a:r>
              <a:rPr lang="zh-CN" altLang="en-US" dirty="0">
                <a:effectLst/>
                <a:latin typeface="SimSun" panose="02010600030101010101" pitchFamily="2" charset="-122"/>
                <a:ea typeface="SimSun" panose="02010600030101010101" pitchFamily="2" charset="-122"/>
              </a:rPr>
              <a:t>以下简称</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工具的使用，包括但不限于大语言模型、生成式 </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、代码辅助工具和</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智能体等。 </a:t>
            </a:r>
          </a:p>
          <a:p>
            <a:r>
              <a:rPr lang="zh-CN" altLang="en-US" dirty="0">
                <a:effectLst/>
                <a:latin typeface="SimSun" panose="02010600030101010101" pitchFamily="2" charset="-122"/>
                <a:ea typeface="SimSun" panose="02010600030101010101" pitchFamily="2" charset="-122"/>
              </a:rPr>
              <a:t>解决竞赛问题不要求必须使用</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工具。参赛队可在竞赛期间使用</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工具，</a:t>
            </a:r>
            <a:r>
              <a:rPr lang="zh-CN" altLang="en-US" dirty="0">
                <a:solidFill>
                  <a:srgbClr val="FF0000"/>
                </a:solidFill>
                <a:effectLst/>
                <a:latin typeface="SimSun" panose="02010600030101010101" pitchFamily="2" charset="-122"/>
                <a:ea typeface="SimSun" panose="02010600030101010101" pitchFamily="2" charset="-122"/>
              </a:rPr>
              <a:t>但应遵循公开透明原则，确保参赛作品的核心建模与分析由参赛队主导，并对</a:t>
            </a:r>
            <a:r>
              <a:rPr lang="en-US" altLang="zh-CN" dirty="0">
                <a:solidFill>
                  <a:srgbClr val="FF0000"/>
                </a:solidFill>
                <a:effectLst/>
                <a:latin typeface="SimSun" panose="02010600030101010101" pitchFamily="2" charset="-122"/>
                <a:ea typeface="SimSun" panose="02010600030101010101" pitchFamily="2" charset="-122"/>
              </a:rPr>
              <a:t>AI</a:t>
            </a:r>
            <a:r>
              <a:rPr lang="zh-CN" altLang="en-US" dirty="0">
                <a:solidFill>
                  <a:srgbClr val="FF0000"/>
                </a:solidFill>
                <a:effectLst/>
                <a:latin typeface="SimSun" panose="02010600030101010101" pitchFamily="2" charset="-122"/>
                <a:ea typeface="SimSun" panose="02010600030101010101" pitchFamily="2" charset="-122"/>
              </a:rPr>
              <a:t>参与完成的内容逐项人工审查与核实。</a:t>
            </a:r>
            <a:endParaRPr lang="en-US" altLang="zh-CN" dirty="0">
              <a:solidFill>
                <a:srgbClr val="FF0000"/>
              </a:solidFill>
              <a:effectLst/>
              <a:latin typeface="SimSun" panose="02010600030101010101" pitchFamily="2" charset="-122"/>
              <a:ea typeface="SimSun" panose="02010600030101010101" pitchFamily="2" charset="-122"/>
            </a:endParaRPr>
          </a:p>
          <a:p>
            <a:r>
              <a:rPr lang="zh-CN" altLang="en-US" dirty="0">
                <a:effectLst/>
                <a:latin typeface="SimSun" panose="02010600030101010101" pitchFamily="2" charset="-122"/>
                <a:ea typeface="SimSun" panose="02010600030101010101" pitchFamily="2" charset="-122"/>
              </a:rPr>
              <a:t>参赛队应在</a:t>
            </a:r>
            <a:r>
              <a:rPr lang="zh-CN" altLang="en-US" dirty="0">
                <a:solidFill>
                  <a:srgbClr val="FF0000"/>
                </a:solidFill>
                <a:effectLst/>
                <a:latin typeface="SimSun" panose="02010600030101010101" pitchFamily="2" charset="-122"/>
                <a:ea typeface="SimSun" panose="02010600030101010101" pitchFamily="2" charset="-122"/>
              </a:rPr>
              <a:t>论文参考文献之前设置</a:t>
            </a:r>
            <a:r>
              <a:rPr lang="zh-CN" altLang="en-US" dirty="0">
                <a:effectLst/>
                <a:latin typeface="SimSun" panose="02010600030101010101" pitchFamily="2" charset="-122"/>
                <a:ea typeface="SimSun" panose="02010600030101010101" pitchFamily="2" charset="-122"/>
              </a:rPr>
              <a:t>“</a:t>
            </a:r>
            <a:r>
              <a:rPr lang="en-US" altLang="zh-CN" dirty="0">
                <a:effectLst/>
                <a:latin typeface="SimSun" panose="02010600030101010101" pitchFamily="2" charset="-122"/>
                <a:ea typeface="SimSun" panose="02010600030101010101" pitchFamily="2" charset="-122"/>
              </a:rPr>
              <a:t>AI</a:t>
            </a:r>
            <a:r>
              <a:rPr lang="zh-CN" altLang="en-US" dirty="0">
                <a:effectLst/>
                <a:latin typeface="SimSun" panose="02010600030101010101" pitchFamily="2" charset="-122"/>
                <a:ea typeface="SimSun" panose="02010600030101010101" pitchFamily="2" charset="-122"/>
              </a:rPr>
              <a:t>工具使用声明”，内容如下，二者择一：</a:t>
            </a:r>
            <a:endParaRPr lang="en-US" altLang="zh-CN" dirty="0">
              <a:effectLst/>
              <a:latin typeface="SimSun" panose="02010600030101010101" pitchFamily="2" charset="-122"/>
              <a:ea typeface="SimSun" panose="02010600030101010101" pitchFamily="2" charset="-122"/>
            </a:endParaRPr>
          </a:p>
          <a:p>
            <a:pPr lvl="1"/>
            <a:r>
              <a:rPr lang="zh-CN" altLang="en-US" sz="2600" dirty="0">
                <a:effectLst/>
                <a:latin typeface="SimSun" panose="02010600030101010101" pitchFamily="2" charset="-122"/>
                <a:ea typeface="SimSun" panose="02010600030101010101" pitchFamily="2" charset="-122"/>
              </a:rPr>
              <a:t>未使用</a:t>
            </a:r>
            <a:r>
              <a:rPr lang="en-US" altLang="zh-CN" sz="2600" dirty="0">
                <a:effectLst/>
                <a:latin typeface="SimSun" panose="02010600030101010101" pitchFamily="2" charset="-122"/>
                <a:ea typeface="SimSun" panose="02010600030101010101" pitchFamily="2" charset="-122"/>
              </a:rPr>
              <a:t>AI</a:t>
            </a:r>
            <a:r>
              <a:rPr lang="zh-CN" altLang="en-US" sz="2600" dirty="0">
                <a:effectLst/>
                <a:latin typeface="SimSun" panose="02010600030101010101" pitchFamily="2" charset="-122"/>
                <a:ea typeface="SimSun" panose="02010600030101010101" pitchFamily="2" charset="-122"/>
              </a:rPr>
              <a:t>工具的，声明</a:t>
            </a:r>
            <a:r>
              <a:rPr lang="en-US" altLang="zh-CN" sz="2600" dirty="0">
                <a:effectLst/>
                <a:latin typeface="SimSun" panose="02010600030101010101" pitchFamily="2" charset="-122"/>
                <a:ea typeface="SimSun" panose="02010600030101010101" pitchFamily="2" charset="-122"/>
              </a:rPr>
              <a:t>:“</a:t>
            </a:r>
            <a:r>
              <a:rPr lang="zh-CN" altLang="en-US" sz="2600" dirty="0">
                <a:effectLst/>
                <a:latin typeface="SimSun" panose="02010600030101010101" pitchFamily="2" charset="-122"/>
                <a:ea typeface="SimSun" panose="02010600030101010101" pitchFamily="2" charset="-122"/>
              </a:rPr>
              <a:t>本参赛队在竞赛过程中未使用任何 </a:t>
            </a:r>
            <a:r>
              <a:rPr lang="en-US" altLang="zh-CN" sz="2600" dirty="0">
                <a:effectLst/>
                <a:latin typeface="SimSun" panose="02010600030101010101" pitchFamily="2" charset="-122"/>
                <a:ea typeface="SimSun" panose="02010600030101010101" pitchFamily="2" charset="-122"/>
              </a:rPr>
              <a:t>AI </a:t>
            </a:r>
            <a:r>
              <a:rPr lang="zh-CN" altLang="en-US" sz="2600" dirty="0">
                <a:effectLst/>
                <a:latin typeface="SimSun" panose="02010600030101010101" pitchFamily="2" charset="-122"/>
                <a:ea typeface="SimSun" panose="02010600030101010101" pitchFamily="2" charset="-122"/>
              </a:rPr>
              <a:t>工具”。 </a:t>
            </a:r>
            <a:endParaRPr lang="en-US" altLang="zh-CN" sz="2600" dirty="0">
              <a:effectLst/>
              <a:latin typeface="SimSun" panose="02010600030101010101" pitchFamily="2" charset="-122"/>
              <a:ea typeface="SimSun" panose="02010600030101010101" pitchFamily="2" charset="-122"/>
            </a:endParaRPr>
          </a:p>
          <a:p>
            <a:pPr lvl="1"/>
            <a:r>
              <a:rPr lang="zh-CN" altLang="en-US" sz="2600" dirty="0">
                <a:latin typeface="SimSun" panose="02010600030101010101" pitchFamily="2" charset="-122"/>
                <a:ea typeface="SimSun" panose="02010600030101010101" pitchFamily="2" charset="-122"/>
              </a:rPr>
              <a:t>使用 </a:t>
            </a:r>
            <a:r>
              <a:rPr lang="en-US" altLang="zh-CN" sz="2600" dirty="0">
                <a:latin typeface="SimSun" panose="02010600030101010101" pitchFamily="2" charset="-122"/>
                <a:ea typeface="SimSun" panose="02010600030101010101" pitchFamily="2" charset="-122"/>
              </a:rPr>
              <a:t>AI </a:t>
            </a:r>
            <a:r>
              <a:rPr lang="zh-CN" altLang="en-US" sz="2600" dirty="0">
                <a:latin typeface="SimSun" panose="02010600030101010101" pitchFamily="2" charset="-122"/>
                <a:ea typeface="SimSun" panose="02010600030101010101" pitchFamily="2" charset="-122"/>
              </a:rPr>
              <a:t>工具的，声明：“本参赛队在竞赛过程中使用了</a:t>
            </a:r>
            <a:r>
              <a:rPr lang="en-US" altLang="zh-CN" sz="2600" dirty="0">
                <a:latin typeface="SimSun" panose="02010600030101010101" pitchFamily="2" charset="-122"/>
                <a:ea typeface="SimSun" panose="02010600030101010101" pitchFamily="2" charset="-122"/>
              </a:rPr>
              <a:t>AI</a:t>
            </a:r>
            <a:r>
              <a:rPr lang="zh-CN" altLang="en-US" sz="2600" dirty="0">
                <a:latin typeface="SimSun" panose="02010600030101010101" pitchFamily="2" charset="-122"/>
                <a:ea typeface="SimSun" panose="02010600030101010101" pitchFamily="2" charset="-122"/>
              </a:rPr>
              <a:t>工具，主要用于</a:t>
            </a:r>
            <a:r>
              <a:rPr lang="en-US" altLang="zh-CN" sz="2600" dirty="0">
                <a:latin typeface="SimSun" panose="02010600030101010101" pitchFamily="2" charset="-122"/>
                <a:ea typeface="SimSun" panose="02010600030101010101" pitchFamily="2" charset="-122"/>
              </a:rPr>
              <a:t>【</a:t>
            </a:r>
            <a:r>
              <a:rPr lang="zh-CN" altLang="en-US" sz="2600" dirty="0">
                <a:latin typeface="SimSun" panose="02010600030101010101" pitchFamily="2" charset="-122"/>
                <a:ea typeface="SimSun" panose="02010600030101010101" pitchFamily="2" charset="-122"/>
              </a:rPr>
              <a:t>简要用途，如语言润色、代码调试等</a:t>
            </a:r>
            <a:r>
              <a:rPr lang="en-US" altLang="zh-CN" sz="2600" dirty="0">
                <a:latin typeface="SimSun" panose="02010600030101010101" pitchFamily="2" charset="-122"/>
                <a:ea typeface="SimSun" panose="02010600030101010101" pitchFamily="2" charset="-122"/>
              </a:rPr>
              <a:t>】</a:t>
            </a:r>
            <a:r>
              <a:rPr lang="zh-CN" altLang="en-US" sz="2600" dirty="0">
                <a:latin typeface="SimSun" panose="02010600030101010101" pitchFamily="2" charset="-122"/>
                <a:ea typeface="SimSun" panose="02010600030101010101" pitchFamily="2" charset="-122"/>
              </a:rPr>
              <a:t>，详细使用情况 见支撑材料。” </a:t>
            </a:r>
          </a:p>
          <a:p>
            <a:pPr marL="457200" lvl="1" indent="0">
              <a:buNone/>
            </a:pPr>
            <a:endParaRPr lang="zh-CN" altLang="en-US" sz="2800" dirty="0">
              <a:latin typeface="SimSun" panose="02010600030101010101" pitchFamily="2" charset="-122"/>
              <a:ea typeface="SimSun" panose="02010600030101010101" pitchFamily="2" charset="-122"/>
            </a:endParaRPr>
          </a:p>
          <a:p>
            <a:pPr marL="0" indent="0">
              <a:buNone/>
            </a:pPr>
            <a:endParaRPr kumimoji="1" lang="zh-CN" altLang="en-US" dirty="0"/>
          </a:p>
        </p:txBody>
      </p:sp>
    </p:spTree>
    <p:extLst>
      <p:ext uri="{BB962C8B-B14F-4D97-AF65-F5344CB8AC3E}">
        <p14:creationId xmlns:p14="http://schemas.microsoft.com/office/powerpoint/2010/main" val="2089930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5B5FF-0601-D0D4-77D1-44A6190B5A51}"/>
              </a:ext>
            </a:extLst>
          </p:cNvPr>
          <p:cNvSpPr>
            <a:spLocks noGrp="1"/>
          </p:cNvSpPr>
          <p:nvPr>
            <p:ph type="title"/>
          </p:nvPr>
        </p:nvSpPr>
        <p:spPr/>
        <p:txBody>
          <a:bodyPr/>
          <a:lstStyle/>
          <a:p>
            <a:r>
              <a:rPr kumimoji="1" lang="zh-CN" altLang="en-US" dirty="0"/>
              <a:t>全国大学生数学建模竞赛人工智能工具使用规定</a:t>
            </a:r>
          </a:p>
        </p:txBody>
      </p:sp>
      <p:sp>
        <p:nvSpPr>
          <p:cNvPr id="3" name="内容占位符 2">
            <a:extLst>
              <a:ext uri="{FF2B5EF4-FFF2-40B4-BE49-F238E27FC236}">
                <a16:creationId xmlns:a16="http://schemas.microsoft.com/office/drawing/2014/main" id="{5CA6EF0F-3232-3342-FEE0-04AEF2B9AF53}"/>
              </a:ext>
            </a:extLst>
          </p:cNvPr>
          <p:cNvSpPr>
            <a:spLocks noGrp="1"/>
          </p:cNvSpPr>
          <p:nvPr>
            <p:ph idx="1"/>
          </p:nvPr>
        </p:nvSpPr>
        <p:spPr/>
        <p:txBody>
          <a:bodyPr/>
          <a:lstStyle/>
          <a:p>
            <a:r>
              <a:rPr kumimoji="1" lang="zh-CN" altLang="en-US" dirty="0"/>
              <a:t>使用</a:t>
            </a:r>
            <a:r>
              <a:rPr kumimoji="1" lang="en-US" altLang="zh-CN" dirty="0"/>
              <a:t>AI</a:t>
            </a:r>
            <a:r>
              <a:rPr kumimoji="1" lang="zh-CN" altLang="en-US" dirty="0"/>
              <a:t>工具的参赛作品，应在支撑材料中包含</a:t>
            </a:r>
            <a:r>
              <a:rPr kumimoji="1" lang="en-US" altLang="zh-CN" dirty="0"/>
              <a:t>AI</a:t>
            </a:r>
            <a:r>
              <a:rPr kumimoji="1" lang="zh-CN" altLang="en-US" dirty="0"/>
              <a:t>工具使用详细说明（</a:t>
            </a:r>
            <a:r>
              <a:rPr kumimoji="1" lang="en-US" altLang="zh-CN" dirty="0"/>
              <a:t>PDF</a:t>
            </a:r>
            <a:r>
              <a:rPr kumimoji="1" lang="zh-CN" altLang="en-US" dirty="0"/>
              <a:t>格式，文件名为“</a:t>
            </a:r>
            <a:r>
              <a:rPr kumimoji="1" lang="en-US" altLang="zh-CN" dirty="0"/>
              <a:t>AI</a:t>
            </a:r>
            <a:r>
              <a:rPr kumimoji="1" lang="zh-CN" altLang="en-US" dirty="0"/>
              <a:t>工具使用详情</a:t>
            </a:r>
            <a:r>
              <a:rPr kumimoji="1" lang="en-US" altLang="zh-CN" dirty="0"/>
              <a:t>.pdf</a:t>
            </a:r>
            <a:r>
              <a:rPr kumimoji="1" lang="zh-CN" altLang="en-US" dirty="0"/>
              <a:t>”）。内容包括：</a:t>
            </a:r>
            <a:endParaRPr kumimoji="1" lang="en-US" altLang="zh-CN" dirty="0"/>
          </a:p>
          <a:p>
            <a:pPr lvl="1"/>
            <a:r>
              <a:rPr kumimoji="1" lang="zh-CN" altLang="en-US" dirty="0"/>
              <a:t>所用</a:t>
            </a:r>
            <a:r>
              <a:rPr kumimoji="1" lang="en-US" altLang="zh-CN" dirty="0"/>
              <a:t>AI</a:t>
            </a:r>
            <a:r>
              <a:rPr kumimoji="1" lang="zh-CN" altLang="en-US" dirty="0"/>
              <a:t>工具名称、版本或型号；</a:t>
            </a:r>
            <a:endParaRPr kumimoji="1" lang="en-US" altLang="zh-CN" dirty="0"/>
          </a:p>
          <a:p>
            <a:pPr lvl="1"/>
            <a:r>
              <a:rPr kumimoji="1" lang="zh-CN" altLang="en-US" dirty="0"/>
              <a:t>具体使用目的和环节；</a:t>
            </a:r>
            <a:endParaRPr kumimoji="1" lang="en-US" altLang="zh-CN" dirty="0"/>
          </a:p>
          <a:p>
            <a:pPr lvl="1"/>
            <a:r>
              <a:rPr kumimoji="1" lang="zh-CN" altLang="en-US" dirty="0"/>
              <a:t>主要提示方式与使用过程说明（可附典型交互示例）；</a:t>
            </a:r>
            <a:endParaRPr kumimoji="1" lang="en-US" altLang="zh-CN" dirty="0"/>
          </a:p>
          <a:p>
            <a:pPr lvl="1"/>
            <a:r>
              <a:rPr kumimoji="1" lang="zh-CN" altLang="en-US" dirty="0"/>
              <a:t>对</a:t>
            </a:r>
            <a:r>
              <a:rPr kumimoji="1" lang="en-US" altLang="zh-CN" dirty="0"/>
              <a:t>AI</a:t>
            </a:r>
            <a:r>
              <a:rPr kumimoji="1" lang="zh-CN" altLang="en-US" dirty="0"/>
              <a:t>输出的采纳、人工修改和核验的主要情况（语言润色除外）。</a:t>
            </a:r>
            <a:endParaRPr kumimoji="1" lang="en-US" altLang="zh-CN" dirty="0"/>
          </a:p>
          <a:p>
            <a:r>
              <a:rPr kumimoji="1" lang="zh-CN" altLang="en-US" dirty="0">
                <a:solidFill>
                  <a:srgbClr val="FF0000"/>
                </a:solidFill>
              </a:rPr>
              <a:t>不符合上述规定的参赛作品，视为违反竞赛规则，将根据情节轻重予以处理。故意隐瞒</a:t>
            </a:r>
            <a:r>
              <a:rPr kumimoji="1" lang="en-US" altLang="zh-CN" dirty="0">
                <a:solidFill>
                  <a:srgbClr val="FF0000"/>
                </a:solidFill>
              </a:rPr>
              <a:t>AI</a:t>
            </a:r>
            <a:r>
              <a:rPr kumimoji="1" lang="zh-CN" altLang="en-US" dirty="0">
                <a:solidFill>
                  <a:srgbClr val="FF0000"/>
                </a:solidFill>
              </a:rPr>
              <a:t>使用情况、作出虚假声明，或者将未经必要人工审查与核实的</a:t>
            </a:r>
            <a:r>
              <a:rPr kumimoji="1" lang="en-US" altLang="zh-CN" dirty="0">
                <a:solidFill>
                  <a:srgbClr val="FF0000"/>
                </a:solidFill>
              </a:rPr>
              <a:t>AI</a:t>
            </a:r>
            <a:r>
              <a:rPr kumimoji="1" lang="zh-CN" altLang="en-US" dirty="0">
                <a:solidFill>
                  <a:srgbClr val="FF0000"/>
                </a:solidFill>
              </a:rPr>
              <a:t>生成内容直接作为核心建模与分析成果提交的，取消其评奖资格。</a:t>
            </a:r>
          </a:p>
        </p:txBody>
      </p:sp>
    </p:spTree>
    <p:extLst>
      <p:ext uri="{BB962C8B-B14F-4D97-AF65-F5344CB8AC3E}">
        <p14:creationId xmlns:p14="http://schemas.microsoft.com/office/powerpoint/2010/main" val="1014611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TotalTime>
  <Words>1415</Words>
  <Application>Microsoft Macintosh PowerPoint</Application>
  <PresentationFormat>宽屏</PresentationFormat>
  <Paragraphs>59</Paragraphs>
  <Slides>11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等线</vt:lpstr>
      <vt:lpstr>等线 Light</vt:lpstr>
      <vt:lpstr>SimSun</vt:lpstr>
      <vt:lpstr>Arial</vt:lpstr>
      <vt:lpstr>Office 主题​​</vt:lpstr>
      <vt:lpstr>2026年北京赛区参赛学生注意事项</vt:lpstr>
      <vt:lpstr>全国大学生数学建模竞赛管理系统 </vt:lpstr>
      <vt:lpstr>学生注册信息规范性要求</vt:lpstr>
      <vt:lpstr>数学建模竞赛时间</vt:lpstr>
      <vt:lpstr>全国大学生数学建模竞赛论文格式规范</vt:lpstr>
      <vt:lpstr>论文写作注意事项</vt:lpstr>
      <vt:lpstr>交卷注意事项</vt:lpstr>
      <vt:lpstr>交卷注意事项</vt:lpstr>
      <vt:lpstr>竞赛特别注意事项</vt:lpstr>
      <vt:lpstr>全国大学生数学建模竞赛人工智能工具使用规定</vt:lpstr>
      <vt:lpstr>全国大学生数学建模竞赛人工智能工具使用规定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2022年北京赛区参赛学生注意事项</dc:title>
  <dc:creator>Microsoft Office User</dc:creator>
  <cp:lastModifiedBy>Microsoft Office User</cp:lastModifiedBy>
  <cp:revision>9</cp:revision>
  <dcterms:created xsi:type="dcterms:W3CDTF">2022-09-08T06:06:23Z</dcterms:created>
  <dcterms:modified xsi:type="dcterms:W3CDTF">2026-09-03T07:36:52Z</dcterms:modified>
</cp:coreProperties>
</file>